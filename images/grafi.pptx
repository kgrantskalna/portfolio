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74" r:id="rId5"/>
    <p:sldId id="257" r:id="rId6"/>
    <p:sldId id="258" r:id="rId7"/>
    <p:sldId id="283" r:id="rId8"/>
    <p:sldId id="262" r:id="rId9"/>
    <p:sldId id="281" r:id="rId10"/>
    <p:sldId id="280" r:id="rId11"/>
    <p:sldId id="282" r:id="rId12"/>
    <p:sldId id="288" r:id="rId13"/>
    <p:sldId id="276" r:id="rId14"/>
    <p:sldId id="277" r:id="rId15"/>
    <p:sldId id="260" r:id="rId16"/>
    <p:sldId id="263" r:id="rId17"/>
    <p:sldId id="264" r:id="rId18"/>
    <p:sldId id="265" r:id="rId19"/>
    <p:sldId id="261" r:id="rId20"/>
    <p:sldId id="275" r:id="rId21"/>
    <p:sldId id="266" r:id="rId22"/>
    <p:sldId id="284" r:id="rId23"/>
    <p:sldId id="285" r:id="rId24"/>
    <p:sldId id="278" r:id="rId25"/>
    <p:sldId id="286" r:id="rId26"/>
    <p:sldId id="287" r:id="rId27"/>
    <p:sldId id="269" r:id="rId28"/>
    <p:sldId id="267" r:id="rId29"/>
    <p:sldId id="268" r:id="rId30"/>
    <p:sldId id="271" r:id="rId31"/>
    <p:sldId id="259" r:id="rId3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47E5AF-7B8E-4B41-AD99-8A531648191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lv-LV"/>
          </a:p>
        </p:txBody>
      </p:sp>
      <p:sp>
        <p:nvSpPr>
          <p:cNvPr id="3" name="Date Placeholder 2">
            <a:extLst>
              <a:ext uri="{FF2B5EF4-FFF2-40B4-BE49-F238E27FC236}">
                <a16:creationId xmlns:a16="http://schemas.microsoft.com/office/drawing/2014/main" id="{0CC50661-B37F-4BA6-889C-0899145DEDC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5A8FD891-07DE-44B9-A436-2A9A83D2CC53}" type="datetimeFigureOut">
              <a:rPr lang="lv-LV"/>
              <a:pPr>
                <a:defRPr/>
              </a:pPr>
              <a:t>10.02.2026</a:t>
            </a:fld>
            <a:endParaRPr lang="lv-LV"/>
          </a:p>
        </p:txBody>
      </p:sp>
      <p:sp>
        <p:nvSpPr>
          <p:cNvPr id="4" name="Slide Image Placeholder 3">
            <a:extLst>
              <a:ext uri="{FF2B5EF4-FFF2-40B4-BE49-F238E27FC236}">
                <a16:creationId xmlns:a16="http://schemas.microsoft.com/office/drawing/2014/main" id="{3D5E35C9-7C99-44AB-A764-BD85532FF4F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lv-LV" noProof="0"/>
          </a:p>
        </p:txBody>
      </p:sp>
      <p:sp>
        <p:nvSpPr>
          <p:cNvPr id="5" name="Notes Placeholder 4">
            <a:extLst>
              <a:ext uri="{FF2B5EF4-FFF2-40B4-BE49-F238E27FC236}">
                <a16:creationId xmlns:a16="http://schemas.microsoft.com/office/drawing/2014/main" id="{066409DD-3090-44BF-8308-9642C9B4EBD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lv-LV" noProof="0"/>
          </a:p>
        </p:txBody>
      </p:sp>
      <p:sp>
        <p:nvSpPr>
          <p:cNvPr id="6" name="Footer Placeholder 5">
            <a:extLst>
              <a:ext uri="{FF2B5EF4-FFF2-40B4-BE49-F238E27FC236}">
                <a16:creationId xmlns:a16="http://schemas.microsoft.com/office/drawing/2014/main" id="{0DE620DA-6C70-4344-AA34-BC4BD95BDCE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lv-LV"/>
          </a:p>
        </p:txBody>
      </p:sp>
      <p:sp>
        <p:nvSpPr>
          <p:cNvPr id="7" name="Slide Number Placeholder 6">
            <a:extLst>
              <a:ext uri="{FF2B5EF4-FFF2-40B4-BE49-F238E27FC236}">
                <a16:creationId xmlns:a16="http://schemas.microsoft.com/office/drawing/2014/main" id="{ECA04D13-C01C-472C-90E0-4D96BB637426}"/>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DDFE4BC8-8DF7-4B4C-88C4-0A56455D0CEF}" type="slidenum">
              <a:rPr lang="lv-LV" altLang="lv-LV"/>
              <a:pPr>
                <a:defRPr/>
              </a:pPr>
              <a:t>‹#›</a:t>
            </a:fld>
            <a:endParaRPr lang="lv-LV" altLang="lv-LV"/>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1</a:t>
            </a:fld>
            <a:endParaRPr lang="lv-LV" altLang="lv-LV">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6</a:t>
            </a:fld>
            <a:endParaRPr lang="lv-LV" altLang="lv-LV">
              <a:latin typeface="Arial" panose="020B0604020202020204" pitchFamily="34" charset="0"/>
            </a:endParaRPr>
          </a:p>
        </p:txBody>
      </p:sp>
    </p:spTree>
    <p:extLst>
      <p:ext uri="{BB962C8B-B14F-4D97-AF65-F5344CB8AC3E}">
        <p14:creationId xmlns:p14="http://schemas.microsoft.com/office/powerpoint/2010/main" val="184066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7</a:t>
            </a:fld>
            <a:endParaRPr lang="lv-LV" altLang="lv-LV">
              <a:latin typeface="Arial" panose="020B0604020202020204" pitchFamily="34" charset="0"/>
            </a:endParaRPr>
          </a:p>
        </p:txBody>
      </p:sp>
    </p:spTree>
    <p:extLst>
      <p:ext uri="{BB962C8B-B14F-4D97-AF65-F5344CB8AC3E}">
        <p14:creationId xmlns:p14="http://schemas.microsoft.com/office/powerpoint/2010/main" val="1015643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8</a:t>
            </a:fld>
            <a:endParaRPr lang="lv-LV" altLang="lv-LV">
              <a:latin typeface="Arial" panose="020B0604020202020204" pitchFamily="34" charset="0"/>
            </a:endParaRPr>
          </a:p>
        </p:txBody>
      </p:sp>
    </p:spTree>
    <p:extLst>
      <p:ext uri="{BB962C8B-B14F-4D97-AF65-F5344CB8AC3E}">
        <p14:creationId xmlns:p14="http://schemas.microsoft.com/office/powerpoint/2010/main" val="2493598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9</a:t>
            </a:fld>
            <a:endParaRPr lang="lv-LV" altLang="lv-LV">
              <a:latin typeface="Arial" panose="020B0604020202020204" pitchFamily="34" charset="0"/>
            </a:endParaRPr>
          </a:p>
        </p:txBody>
      </p:sp>
    </p:spTree>
    <p:extLst>
      <p:ext uri="{BB962C8B-B14F-4D97-AF65-F5344CB8AC3E}">
        <p14:creationId xmlns:p14="http://schemas.microsoft.com/office/powerpoint/2010/main" val="1781842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DFE4BC8-8DF7-4B4C-88C4-0A56455D0CEF}" type="slidenum">
              <a:rPr lang="lv-LV" altLang="lv-LV" smtClean="0"/>
              <a:pPr>
                <a:defRPr/>
              </a:pPr>
              <a:t>17</a:t>
            </a:fld>
            <a:endParaRPr lang="lv-LV" altLang="lv-LV"/>
          </a:p>
        </p:txBody>
      </p:sp>
    </p:spTree>
    <p:extLst>
      <p:ext uri="{BB962C8B-B14F-4D97-AF65-F5344CB8AC3E}">
        <p14:creationId xmlns:p14="http://schemas.microsoft.com/office/powerpoint/2010/main" val="2658398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788E13-916F-4426-A05C-EB5A21C2E9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62D27CB1-1458-4E29-AE3C-1E9E33D9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lv-LV" altLang="lv-LV"/>
          </a:p>
        </p:txBody>
      </p:sp>
      <p:sp>
        <p:nvSpPr>
          <p:cNvPr id="5124" name="Slide Number Placeholder 3">
            <a:extLst>
              <a:ext uri="{FF2B5EF4-FFF2-40B4-BE49-F238E27FC236}">
                <a16:creationId xmlns:a16="http://schemas.microsoft.com/office/drawing/2014/main" id="{815AA61C-E368-4DC4-8EA1-B59B2B9DF4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080DBCF-6489-4AAE-880E-E1988511BA9E}" type="slidenum">
              <a:rPr lang="lv-LV" altLang="lv-LV">
                <a:latin typeface="Arial" panose="020B0604020202020204" pitchFamily="34" charset="0"/>
              </a:rPr>
              <a:pPr>
                <a:spcBef>
                  <a:spcPct val="0"/>
                </a:spcBef>
              </a:pPr>
              <a:t>21</a:t>
            </a:fld>
            <a:endParaRPr lang="lv-LV" altLang="lv-LV">
              <a:latin typeface="Arial" panose="020B0604020202020204" pitchFamily="34" charset="0"/>
            </a:endParaRPr>
          </a:p>
        </p:txBody>
      </p:sp>
    </p:spTree>
    <p:extLst>
      <p:ext uri="{BB962C8B-B14F-4D97-AF65-F5344CB8AC3E}">
        <p14:creationId xmlns:p14="http://schemas.microsoft.com/office/powerpoint/2010/main" val="1797729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lv-LV"/>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lv-LV"/>
          </a:p>
        </p:txBody>
      </p:sp>
      <p:sp>
        <p:nvSpPr>
          <p:cNvPr id="4" name="Rectangle 4">
            <a:extLst>
              <a:ext uri="{FF2B5EF4-FFF2-40B4-BE49-F238E27FC236}">
                <a16:creationId xmlns:a16="http://schemas.microsoft.com/office/drawing/2014/main" id="{C8F6CDFA-25CD-4ECE-BBA6-D64C3C97E79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2009117-DE05-4361-A8B4-8DF0CE3FB6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256EEB6-9720-40D0-A96F-687733083051}"/>
              </a:ext>
            </a:extLst>
          </p:cNvPr>
          <p:cNvSpPr>
            <a:spLocks noGrp="1" noChangeArrowheads="1"/>
          </p:cNvSpPr>
          <p:nvPr>
            <p:ph type="sldNum" sz="quarter" idx="12"/>
          </p:nvPr>
        </p:nvSpPr>
        <p:spPr>
          <a:ln/>
        </p:spPr>
        <p:txBody>
          <a:bodyPr/>
          <a:lstStyle>
            <a:lvl1pPr>
              <a:defRPr/>
            </a:lvl1pPr>
          </a:lstStyle>
          <a:p>
            <a:pPr>
              <a:defRPr/>
            </a:pPr>
            <a:fld id="{79DA5428-49D9-402D-81E9-08D4CBE3AAC9}" type="slidenum">
              <a:rPr lang="en-US" altLang="lv-LV"/>
              <a:pPr>
                <a:defRPr/>
              </a:pPr>
              <a:t>‹#›</a:t>
            </a:fld>
            <a:endParaRPr lang="en-US" altLang="lv-LV"/>
          </a:p>
        </p:txBody>
      </p:sp>
    </p:spTree>
    <p:extLst>
      <p:ext uri="{BB962C8B-B14F-4D97-AF65-F5344CB8AC3E}">
        <p14:creationId xmlns:p14="http://schemas.microsoft.com/office/powerpoint/2010/main" val="2790198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7DEEFD61-5351-4C3D-9CD2-321DB693AF1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2ACE3D1-FFE4-4367-B8FB-29426396946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28FD0D7-5DF9-43E8-A51C-2918708D6932}"/>
              </a:ext>
            </a:extLst>
          </p:cNvPr>
          <p:cNvSpPr>
            <a:spLocks noGrp="1" noChangeArrowheads="1"/>
          </p:cNvSpPr>
          <p:nvPr>
            <p:ph type="sldNum" sz="quarter" idx="12"/>
          </p:nvPr>
        </p:nvSpPr>
        <p:spPr>
          <a:ln/>
        </p:spPr>
        <p:txBody>
          <a:bodyPr/>
          <a:lstStyle>
            <a:lvl1pPr>
              <a:defRPr/>
            </a:lvl1pPr>
          </a:lstStyle>
          <a:p>
            <a:pPr>
              <a:defRPr/>
            </a:pPr>
            <a:fld id="{965617EB-3CFF-4559-AF8A-F31AAFB36B8C}" type="slidenum">
              <a:rPr lang="en-US" altLang="lv-LV"/>
              <a:pPr>
                <a:defRPr/>
              </a:pPr>
              <a:t>‹#›</a:t>
            </a:fld>
            <a:endParaRPr lang="en-US" altLang="lv-LV"/>
          </a:p>
        </p:txBody>
      </p:sp>
    </p:spTree>
    <p:extLst>
      <p:ext uri="{BB962C8B-B14F-4D97-AF65-F5344CB8AC3E}">
        <p14:creationId xmlns:p14="http://schemas.microsoft.com/office/powerpoint/2010/main" val="3639624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lv-LV"/>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087BDEA-B8C1-4818-B93B-34198E17361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D8A3D2C-4A3D-432E-95A1-6B620C776C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65685DF-65C2-4A0A-B633-DD95EE39EBE4}"/>
              </a:ext>
            </a:extLst>
          </p:cNvPr>
          <p:cNvSpPr>
            <a:spLocks noGrp="1" noChangeArrowheads="1"/>
          </p:cNvSpPr>
          <p:nvPr>
            <p:ph type="sldNum" sz="quarter" idx="12"/>
          </p:nvPr>
        </p:nvSpPr>
        <p:spPr>
          <a:ln/>
        </p:spPr>
        <p:txBody>
          <a:bodyPr/>
          <a:lstStyle>
            <a:lvl1pPr>
              <a:defRPr/>
            </a:lvl1pPr>
          </a:lstStyle>
          <a:p>
            <a:pPr>
              <a:defRPr/>
            </a:pPr>
            <a:fld id="{62A4C5FC-5CF2-4A8E-AA97-4C47A8808D64}" type="slidenum">
              <a:rPr lang="en-US" altLang="lv-LV"/>
              <a:pPr>
                <a:defRPr/>
              </a:pPr>
              <a:t>‹#›</a:t>
            </a:fld>
            <a:endParaRPr lang="en-US" altLang="lv-LV"/>
          </a:p>
        </p:txBody>
      </p:sp>
    </p:spTree>
    <p:extLst>
      <p:ext uri="{BB962C8B-B14F-4D97-AF65-F5344CB8AC3E}">
        <p14:creationId xmlns:p14="http://schemas.microsoft.com/office/powerpoint/2010/main" val="4229144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5" name="Rectangle 4">
            <a:extLst>
              <a:ext uri="{FF2B5EF4-FFF2-40B4-BE49-F238E27FC236}">
                <a16:creationId xmlns:a16="http://schemas.microsoft.com/office/drawing/2014/main" id="{07903B36-E56C-451B-87ED-5EA3A52272F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3B85123-0689-4113-8DAE-815A9BEC898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71A4E71-49A0-45B4-9B08-125FBD8830CE}"/>
              </a:ext>
            </a:extLst>
          </p:cNvPr>
          <p:cNvSpPr>
            <a:spLocks noGrp="1" noChangeArrowheads="1"/>
          </p:cNvSpPr>
          <p:nvPr>
            <p:ph type="sldNum" sz="quarter" idx="12"/>
          </p:nvPr>
        </p:nvSpPr>
        <p:spPr>
          <a:ln/>
        </p:spPr>
        <p:txBody>
          <a:bodyPr/>
          <a:lstStyle>
            <a:lvl1pPr>
              <a:defRPr/>
            </a:lvl1pPr>
          </a:lstStyle>
          <a:p>
            <a:pPr>
              <a:defRPr/>
            </a:pPr>
            <a:fld id="{24EE98CF-54A3-42C4-AD18-187F84E61B4C}" type="slidenum">
              <a:rPr lang="en-US" altLang="lv-LV"/>
              <a:pPr>
                <a:defRPr/>
              </a:pPr>
              <a:t>‹#›</a:t>
            </a:fld>
            <a:endParaRPr lang="en-US" altLang="lv-LV"/>
          </a:p>
        </p:txBody>
      </p:sp>
    </p:spTree>
    <p:extLst>
      <p:ext uri="{BB962C8B-B14F-4D97-AF65-F5344CB8AC3E}">
        <p14:creationId xmlns:p14="http://schemas.microsoft.com/office/powerpoint/2010/main" val="3217608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lv-LV"/>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7" name="Rectangle 4">
            <a:extLst>
              <a:ext uri="{FF2B5EF4-FFF2-40B4-BE49-F238E27FC236}">
                <a16:creationId xmlns:a16="http://schemas.microsoft.com/office/drawing/2014/main" id="{661BF075-0737-404A-8A30-C02C54C3FBB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FEC7D28A-5825-4751-8C2B-CAAE593C7B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A6EA020-6D92-4E82-A40F-DD4CBD1D4D82}"/>
              </a:ext>
            </a:extLst>
          </p:cNvPr>
          <p:cNvSpPr>
            <a:spLocks noGrp="1" noChangeArrowheads="1"/>
          </p:cNvSpPr>
          <p:nvPr>
            <p:ph type="sldNum" sz="quarter" idx="12"/>
          </p:nvPr>
        </p:nvSpPr>
        <p:spPr>
          <a:ln/>
        </p:spPr>
        <p:txBody>
          <a:bodyPr/>
          <a:lstStyle>
            <a:lvl1pPr>
              <a:defRPr/>
            </a:lvl1pPr>
          </a:lstStyle>
          <a:p>
            <a:pPr>
              <a:defRPr/>
            </a:pPr>
            <a:fld id="{E9FC7F25-C7FB-4E52-AB0A-8CE4B1FDA413}" type="slidenum">
              <a:rPr lang="en-US" altLang="lv-LV"/>
              <a:pPr>
                <a:defRPr/>
              </a:pPr>
              <a:t>‹#›</a:t>
            </a:fld>
            <a:endParaRPr lang="en-US" altLang="lv-LV"/>
          </a:p>
        </p:txBody>
      </p:sp>
    </p:spTree>
    <p:extLst>
      <p:ext uri="{BB962C8B-B14F-4D97-AF65-F5344CB8AC3E}">
        <p14:creationId xmlns:p14="http://schemas.microsoft.com/office/powerpoint/2010/main" val="2619893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Rectangle 4">
            <a:extLst>
              <a:ext uri="{FF2B5EF4-FFF2-40B4-BE49-F238E27FC236}">
                <a16:creationId xmlns:a16="http://schemas.microsoft.com/office/drawing/2014/main" id="{989E9B2E-EBD1-4483-8D0C-AFC5E01E32B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F5EC5AC-ED39-45E7-85EF-E1E3FCE5FE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FC96228-CADC-4890-AFF1-EF1520FE8202}"/>
              </a:ext>
            </a:extLst>
          </p:cNvPr>
          <p:cNvSpPr>
            <a:spLocks noGrp="1" noChangeArrowheads="1"/>
          </p:cNvSpPr>
          <p:nvPr>
            <p:ph type="sldNum" sz="quarter" idx="12"/>
          </p:nvPr>
        </p:nvSpPr>
        <p:spPr>
          <a:ln/>
        </p:spPr>
        <p:txBody>
          <a:bodyPr/>
          <a:lstStyle>
            <a:lvl1pPr>
              <a:defRPr/>
            </a:lvl1pPr>
          </a:lstStyle>
          <a:p>
            <a:pPr>
              <a:defRPr/>
            </a:pPr>
            <a:fld id="{537C186A-4422-471C-84F8-63A2CF826B8E}" type="slidenum">
              <a:rPr lang="en-US" altLang="lv-LV"/>
              <a:pPr>
                <a:defRPr/>
              </a:pPr>
              <a:t>‹#›</a:t>
            </a:fld>
            <a:endParaRPr lang="en-US" altLang="lv-LV"/>
          </a:p>
        </p:txBody>
      </p:sp>
    </p:spTree>
    <p:extLst>
      <p:ext uri="{BB962C8B-B14F-4D97-AF65-F5344CB8AC3E}">
        <p14:creationId xmlns:p14="http://schemas.microsoft.com/office/powerpoint/2010/main" val="1919965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81A683A-B869-4FA7-B647-0A6C9166EAD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4FB2AEC-3B76-4826-952B-C290182F75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ED212F8-A864-4BCB-A59F-9A58D3AFDF0F}"/>
              </a:ext>
            </a:extLst>
          </p:cNvPr>
          <p:cNvSpPr>
            <a:spLocks noGrp="1" noChangeArrowheads="1"/>
          </p:cNvSpPr>
          <p:nvPr>
            <p:ph type="sldNum" sz="quarter" idx="12"/>
          </p:nvPr>
        </p:nvSpPr>
        <p:spPr>
          <a:ln/>
        </p:spPr>
        <p:txBody>
          <a:bodyPr/>
          <a:lstStyle>
            <a:lvl1pPr>
              <a:defRPr/>
            </a:lvl1pPr>
          </a:lstStyle>
          <a:p>
            <a:pPr>
              <a:defRPr/>
            </a:pPr>
            <a:fld id="{0F7CB1AB-480E-4DD6-92C4-25B9549FE96B}" type="slidenum">
              <a:rPr lang="en-US" altLang="lv-LV"/>
              <a:pPr>
                <a:defRPr/>
              </a:pPr>
              <a:t>‹#›</a:t>
            </a:fld>
            <a:endParaRPr lang="en-US" altLang="lv-LV"/>
          </a:p>
        </p:txBody>
      </p:sp>
    </p:spTree>
    <p:extLst>
      <p:ext uri="{BB962C8B-B14F-4D97-AF65-F5344CB8AC3E}">
        <p14:creationId xmlns:p14="http://schemas.microsoft.com/office/powerpoint/2010/main" val="4071934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lv-LV"/>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5CC33BD-7DC3-4E14-B30A-749CCB1CBEB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4AF7B5D-1492-4B97-A657-46A86F27A3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7F31E6B-23CB-434D-8EA8-56910C84CA2C}"/>
              </a:ext>
            </a:extLst>
          </p:cNvPr>
          <p:cNvSpPr>
            <a:spLocks noGrp="1" noChangeArrowheads="1"/>
          </p:cNvSpPr>
          <p:nvPr>
            <p:ph type="sldNum" sz="quarter" idx="12"/>
          </p:nvPr>
        </p:nvSpPr>
        <p:spPr>
          <a:ln/>
        </p:spPr>
        <p:txBody>
          <a:bodyPr/>
          <a:lstStyle>
            <a:lvl1pPr>
              <a:defRPr/>
            </a:lvl1pPr>
          </a:lstStyle>
          <a:p>
            <a:pPr>
              <a:defRPr/>
            </a:pPr>
            <a:fld id="{417FE7F3-0B37-4BDE-B1DC-ECAD55803B80}" type="slidenum">
              <a:rPr lang="en-US" altLang="lv-LV"/>
              <a:pPr>
                <a:defRPr/>
              </a:pPr>
              <a:t>‹#›</a:t>
            </a:fld>
            <a:endParaRPr lang="en-US" altLang="lv-LV"/>
          </a:p>
        </p:txBody>
      </p:sp>
    </p:spTree>
    <p:extLst>
      <p:ext uri="{BB962C8B-B14F-4D97-AF65-F5344CB8AC3E}">
        <p14:creationId xmlns:p14="http://schemas.microsoft.com/office/powerpoint/2010/main" val="3783352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lv-LV"/>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lv-LV"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3460A7F-5AF4-4B4D-9B8D-9006905741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877F6A2-3653-4E83-9BF2-362BCA3ED8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5081A32-C43F-4B0D-A90C-42F408A5E62A}"/>
              </a:ext>
            </a:extLst>
          </p:cNvPr>
          <p:cNvSpPr>
            <a:spLocks noGrp="1" noChangeArrowheads="1"/>
          </p:cNvSpPr>
          <p:nvPr>
            <p:ph type="sldNum" sz="quarter" idx="12"/>
          </p:nvPr>
        </p:nvSpPr>
        <p:spPr>
          <a:ln/>
        </p:spPr>
        <p:txBody>
          <a:bodyPr/>
          <a:lstStyle>
            <a:lvl1pPr>
              <a:defRPr/>
            </a:lvl1pPr>
          </a:lstStyle>
          <a:p>
            <a:pPr>
              <a:defRPr/>
            </a:pPr>
            <a:fld id="{C34C206B-692B-4471-93AA-EAA9E54069A3}" type="slidenum">
              <a:rPr lang="en-US" altLang="lv-LV"/>
              <a:pPr>
                <a:defRPr/>
              </a:pPr>
              <a:t>‹#›</a:t>
            </a:fld>
            <a:endParaRPr lang="en-US" altLang="lv-LV"/>
          </a:p>
        </p:txBody>
      </p:sp>
    </p:spTree>
    <p:extLst>
      <p:ext uri="{BB962C8B-B14F-4D97-AF65-F5344CB8AC3E}">
        <p14:creationId xmlns:p14="http://schemas.microsoft.com/office/powerpoint/2010/main" val="215578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30132353-8D04-4D2A-B3BD-0230EA97588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830FA0B-CE29-409E-902A-0A88B4A5876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91A1E48-5B24-44A5-9E6C-44AE25DA8181}"/>
              </a:ext>
            </a:extLst>
          </p:cNvPr>
          <p:cNvSpPr>
            <a:spLocks noGrp="1" noChangeArrowheads="1"/>
          </p:cNvSpPr>
          <p:nvPr>
            <p:ph type="sldNum" sz="quarter" idx="12"/>
          </p:nvPr>
        </p:nvSpPr>
        <p:spPr>
          <a:ln/>
        </p:spPr>
        <p:txBody>
          <a:bodyPr/>
          <a:lstStyle>
            <a:lvl1pPr>
              <a:defRPr/>
            </a:lvl1pPr>
          </a:lstStyle>
          <a:p>
            <a:pPr>
              <a:defRPr/>
            </a:pPr>
            <a:fld id="{0215A2C0-33C7-4DA0-B7B1-60481E778262}" type="slidenum">
              <a:rPr lang="en-US" altLang="lv-LV"/>
              <a:pPr>
                <a:defRPr/>
              </a:pPr>
              <a:t>‹#›</a:t>
            </a:fld>
            <a:endParaRPr lang="en-US" altLang="lv-LV"/>
          </a:p>
        </p:txBody>
      </p:sp>
    </p:spTree>
    <p:extLst>
      <p:ext uri="{BB962C8B-B14F-4D97-AF65-F5344CB8AC3E}">
        <p14:creationId xmlns:p14="http://schemas.microsoft.com/office/powerpoint/2010/main" val="534251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lv-LV"/>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5B398CE9-65A3-4373-A327-9ECD768841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759129-747A-4E8E-B020-0820E98F4D3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7D6D290-3CDE-4787-A258-C704350ECF5C}"/>
              </a:ext>
            </a:extLst>
          </p:cNvPr>
          <p:cNvSpPr>
            <a:spLocks noGrp="1" noChangeArrowheads="1"/>
          </p:cNvSpPr>
          <p:nvPr>
            <p:ph type="sldNum" sz="quarter" idx="12"/>
          </p:nvPr>
        </p:nvSpPr>
        <p:spPr>
          <a:ln/>
        </p:spPr>
        <p:txBody>
          <a:bodyPr/>
          <a:lstStyle>
            <a:lvl1pPr>
              <a:defRPr/>
            </a:lvl1pPr>
          </a:lstStyle>
          <a:p>
            <a:pPr>
              <a:defRPr/>
            </a:pPr>
            <a:fld id="{51DF6750-4B7D-417E-9386-D727F4430E51}" type="slidenum">
              <a:rPr lang="en-US" altLang="lv-LV"/>
              <a:pPr>
                <a:defRPr/>
              </a:pPr>
              <a:t>‹#›</a:t>
            </a:fld>
            <a:endParaRPr lang="en-US" altLang="lv-LV"/>
          </a:p>
        </p:txBody>
      </p:sp>
    </p:spTree>
    <p:extLst>
      <p:ext uri="{BB962C8B-B14F-4D97-AF65-F5344CB8AC3E}">
        <p14:creationId xmlns:p14="http://schemas.microsoft.com/office/powerpoint/2010/main" val="903504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lv-LV"/>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5" name="Rectangle 4">
            <a:extLst>
              <a:ext uri="{FF2B5EF4-FFF2-40B4-BE49-F238E27FC236}">
                <a16:creationId xmlns:a16="http://schemas.microsoft.com/office/drawing/2014/main" id="{997A281E-E441-448A-9E63-AD2317E7580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9692C85-9F6C-45FC-8CE0-65DA546CD20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4C1408E-26E2-4B08-B99D-6B42B1C5DFCD}"/>
              </a:ext>
            </a:extLst>
          </p:cNvPr>
          <p:cNvSpPr>
            <a:spLocks noGrp="1" noChangeArrowheads="1"/>
          </p:cNvSpPr>
          <p:nvPr>
            <p:ph type="sldNum" sz="quarter" idx="12"/>
          </p:nvPr>
        </p:nvSpPr>
        <p:spPr>
          <a:ln/>
        </p:spPr>
        <p:txBody>
          <a:bodyPr/>
          <a:lstStyle>
            <a:lvl1pPr>
              <a:defRPr/>
            </a:lvl1pPr>
          </a:lstStyle>
          <a:p>
            <a:pPr>
              <a:defRPr/>
            </a:pPr>
            <a:fld id="{0B61A950-B5B8-4955-895B-86FB1F932FF5}" type="slidenum">
              <a:rPr lang="en-US" altLang="lv-LV"/>
              <a:pPr>
                <a:defRPr/>
              </a:pPr>
              <a:t>‹#›</a:t>
            </a:fld>
            <a:endParaRPr lang="en-US" altLang="lv-LV"/>
          </a:p>
        </p:txBody>
      </p:sp>
    </p:spTree>
    <p:extLst>
      <p:ext uri="{BB962C8B-B14F-4D97-AF65-F5344CB8AC3E}">
        <p14:creationId xmlns:p14="http://schemas.microsoft.com/office/powerpoint/2010/main" val="32975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9BA10C-D15B-486C-B311-A6C50E86E9D9}"/>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lv-LV"/>
              <a:t>Click to edit Master title style</a:t>
            </a:r>
          </a:p>
        </p:txBody>
      </p:sp>
      <p:sp>
        <p:nvSpPr>
          <p:cNvPr id="1027" name="Rectangle 3">
            <a:extLst>
              <a:ext uri="{FF2B5EF4-FFF2-40B4-BE49-F238E27FC236}">
                <a16:creationId xmlns:a16="http://schemas.microsoft.com/office/drawing/2014/main" id="{DD03AE2F-65F3-45D7-9B30-17469AB9E334}"/>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lv-LV"/>
              <a:t>Click to edit Master text styles</a:t>
            </a:r>
          </a:p>
          <a:p>
            <a:pPr lvl="1"/>
            <a:r>
              <a:rPr lang="en-US" altLang="lv-LV"/>
              <a:t>Second level</a:t>
            </a:r>
          </a:p>
          <a:p>
            <a:pPr lvl="2"/>
            <a:r>
              <a:rPr lang="en-US" altLang="lv-LV"/>
              <a:t>Third level</a:t>
            </a:r>
          </a:p>
          <a:p>
            <a:pPr lvl="3"/>
            <a:r>
              <a:rPr lang="en-US" altLang="lv-LV"/>
              <a:t>Fourth level</a:t>
            </a:r>
          </a:p>
          <a:p>
            <a:pPr lvl="4"/>
            <a:r>
              <a:rPr lang="en-US" altLang="lv-LV"/>
              <a:t>Fifth level</a:t>
            </a:r>
          </a:p>
        </p:txBody>
      </p:sp>
      <p:sp>
        <p:nvSpPr>
          <p:cNvPr id="1028" name="Rectangle 4">
            <a:extLst>
              <a:ext uri="{FF2B5EF4-FFF2-40B4-BE49-F238E27FC236}">
                <a16:creationId xmlns:a16="http://schemas.microsoft.com/office/drawing/2014/main" id="{88854993-83FD-4EF1-8980-A0DF81950F4C}"/>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61CC5802-7CDD-4B59-B2AB-DA798429D3A5}"/>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F0E671EC-D48F-439A-8E1D-4CF9CF98BA5D}"/>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637B7302-0E27-4E37-934D-E0EF41E6C99E}" type="slidenum">
              <a:rPr lang="en-US" altLang="lv-LV"/>
              <a:pPr>
                <a:defRPr/>
              </a:pPr>
              <a:t>‹#›</a:t>
            </a:fld>
            <a:endParaRPr lang="en-US" altLang="lv-LV"/>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yumpu.com/lv/document/read/36941367/grafu-teorija-un-tas-pielietojumi-lu-nms-latvijas-universitat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tmp"/><Relationship Id="rId4" Type="http://schemas.openxmlformats.org/officeDocument/2006/relationships/image" Target="../media/image6.tmp"/></Relationships>
</file>

<file path=ppt/slides/_rels/slide8.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tmp"/><Relationship Id="rId4" Type="http://schemas.openxmlformats.org/officeDocument/2006/relationships/image" Target="../media/image9.tmp"/></Relationships>
</file>

<file path=ppt/slides/_rels/slide20.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en.wikipedia.org/wiki/Dijkstra's_algorithm" TargetMode="External"/><Relationship Id="rId2" Type="http://schemas.openxmlformats.org/officeDocument/2006/relationships/hyperlink" Target="http://www.de.dau.lv/matematika/daugulis/du_13_2005.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Sasniedzamie rezultāti</a:t>
            </a:r>
            <a:endParaRPr lang="en-US" altLang="lv-LV" sz="4000" dirty="0"/>
          </a:p>
        </p:txBody>
      </p:sp>
      <p:sp>
        <p:nvSpPr>
          <p:cNvPr id="4099" name="Rectangle 3">
            <a:extLst>
              <a:ext uri="{FF2B5EF4-FFF2-40B4-BE49-F238E27FC236}">
                <a16:creationId xmlns:a16="http://schemas.microsoft.com/office/drawing/2014/main" id="{49D6090E-6879-4FC2-99EB-95EDDE23E1E9}"/>
              </a:ext>
            </a:extLst>
          </p:cNvPr>
          <p:cNvSpPr>
            <a:spLocks noGrp="1" noChangeArrowheads="1"/>
          </p:cNvSpPr>
          <p:nvPr>
            <p:ph type="body" idx="1"/>
          </p:nvPr>
        </p:nvSpPr>
        <p:spPr>
          <a:xfrm>
            <a:off x="207963" y="1600200"/>
            <a:ext cx="6092825" cy="3701008"/>
          </a:xfrm>
        </p:spPr>
        <p:txBody>
          <a:bodyPr/>
          <a:lstStyle/>
          <a:p>
            <a:pPr marL="457200" indent="-457200" eaLnBrk="1" hangingPunct="1">
              <a:buFont typeface="+mj-lt"/>
              <a:buAutoNum type="arabicPeriod"/>
            </a:pPr>
            <a:r>
              <a:rPr lang="lv-LV" altLang="lv-LV" sz="2000" dirty="0"/>
              <a:t>Programma </a:t>
            </a:r>
            <a:r>
              <a:rPr lang="lv-LV" altLang="lv-LV" sz="2000" i="1" dirty="0"/>
              <a:t>Labirints, </a:t>
            </a:r>
            <a:r>
              <a:rPr lang="lv-LV" altLang="lv-LV" sz="2000" dirty="0"/>
              <a:t>kas</a:t>
            </a:r>
            <a:r>
              <a:rPr lang="lv-LV" altLang="lv-LV" sz="2000" i="1" dirty="0"/>
              <a:t>: </a:t>
            </a:r>
          </a:p>
          <a:p>
            <a:pPr marL="857250" lvl="1" indent="-457200" eaLnBrk="1" hangingPunct="1">
              <a:buFont typeface="+mj-lt"/>
              <a:buAutoNum type="arabicPeriod"/>
            </a:pPr>
            <a:r>
              <a:rPr lang="lv-LV" altLang="lv-LV" sz="1600" dirty="0"/>
              <a:t>Prot</a:t>
            </a:r>
            <a:r>
              <a:rPr lang="lv-LV" altLang="lv-LV" sz="1600" i="1" dirty="0"/>
              <a:t> </a:t>
            </a:r>
            <a:r>
              <a:rPr lang="lv-LV" altLang="lv-LV" sz="1600" dirty="0">
                <a:sym typeface="Symbol" panose="05050102010706020507" pitchFamily="18" charset="2"/>
              </a:rPr>
              <a:t>nolasīt no </a:t>
            </a:r>
            <a:r>
              <a:rPr lang="lv-LV" altLang="lv-LV" sz="1600" dirty="0" err="1">
                <a:sym typeface="Symbol" panose="05050102010706020507" pitchFamily="18" charset="2"/>
              </a:rPr>
              <a:t>txt</a:t>
            </a:r>
            <a:r>
              <a:rPr lang="lv-LV" altLang="lv-LV" sz="1600" dirty="0">
                <a:sym typeface="Symbol" panose="05050102010706020507" pitchFamily="18" charset="2"/>
              </a:rPr>
              <a:t> datnes datus par </a:t>
            </a:r>
            <a:r>
              <a:rPr lang="lv-LV" altLang="lv-LV" sz="1600" dirty="0" err="1"/>
              <a:t>n</a:t>
            </a:r>
            <a:r>
              <a:rPr lang="lv-LV" altLang="lv-LV" sz="1600" dirty="0" err="1">
                <a:sym typeface="Symbol" panose="05050102010706020507" pitchFamily="18" charset="2"/>
              </a:rPr>
              <a:t>m</a:t>
            </a:r>
            <a:r>
              <a:rPr lang="lv-LV" altLang="lv-LV" sz="1600" dirty="0">
                <a:sym typeface="Symbol" panose="05050102010706020507" pitchFamily="18" charset="2"/>
              </a:rPr>
              <a:t> rūtiņu lielu labirintu un to uzzīmēt </a:t>
            </a:r>
          </a:p>
          <a:p>
            <a:pPr marL="857250" lvl="1" indent="-457200" eaLnBrk="1" hangingPunct="1">
              <a:buFont typeface="+mj-lt"/>
              <a:buAutoNum type="arabicPeriod"/>
            </a:pPr>
            <a:r>
              <a:rPr lang="lv-LV" altLang="lv-LV" sz="1600" dirty="0">
                <a:sym typeface="Symbol" panose="05050102010706020507" pitchFamily="18" charset="2"/>
              </a:rPr>
              <a:t>Lietotājam ļauj izvēlēties 2 labirinta rūtiņu numurus un atrast un uzzīmēt ceļu starp šīm rūtiņām</a:t>
            </a:r>
          </a:p>
          <a:p>
            <a:pPr marL="857250" lvl="1" indent="-457200" eaLnBrk="1" hangingPunct="1">
              <a:buFont typeface="+mj-lt"/>
              <a:buAutoNum type="arabicPeriod"/>
            </a:pPr>
            <a:r>
              <a:rPr lang="lv-LV" altLang="lv-LV" sz="1600" dirty="0">
                <a:sym typeface="Symbol" panose="05050102010706020507" pitchFamily="18" charset="2"/>
              </a:rPr>
              <a:t>*Programmas </a:t>
            </a:r>
            <a:r>
              <a:rPr lang="lv-LV" altLang="lv-LV" sz="1600" dirty="0" err="1">
                <a:sym typeface="Symbol" panose="05050102010706020507" pitchFamily="18" charset="2"/>
              </a:rPr>
              <a:t>papildiespēja</a:t>
            </a:r>
            <a:r>
              <a:rPr lang="lv-LV" altLang="lv-LV" sz="1600" dirty="0">
                <a:sym typeface="Symbol" panose="05050102010706020507" pitchFamily="18" charset="2"/>
              </a:rPr>
              <a:t> – izejama </a:t>
            </a:r>
            <a:r>
              <a:rPr lang="lv-LV" altLang="lv-LV" sz="1600" dirty="0" err="1"/>
              <a:t>n</a:t>
            </a:r>
            <a:r>
              <a:rPr lang="lv-LV" altLang="lv-LV" sz="1600" dirty="0" err="1">
                <a:sym typeface="Symbol" panose="05050102010706020507" pitchFamily="18" charset="2"/>
              </a:rPr>
              <a:t>m</a:t>
            </a:r>
            <a:r>
              <a:rPr lang="lv-LV" altLang="lv-LV" sz="1600" dirty="0">
                <a:sym typeface="Symbol" panose="05050102010706020507" pitchFamily="18" charset="2"/>
              </a:rPr>
              <a:t> rūtiņu labirinta automātiska ģenerēšana.</a:t>
            </a:r>
          </a:p>
          <a:p>
            <a:pPr marL="457200" indent="-457200" eaLnBrk="1" hangingPunct="1">
              <a:buFont typeface="+mj-lt"/>
              <a:buAutoNum type="arabicPeriod"/>
            </a:pPr>
            <a:r>
              <a:rPr lang="lv-LV" altLang="lv-LV" sz="2000" dirty="0">
                <a:sym typeface="Symbol" panose="05050102010706020507" pitchFamily="18" charset="2"/>
              </a:rPr>
              <a:t>Apgūts veids kā dinamiskā datu struktūrā saglabāt informāciju par grafu.</a:t>
            </a:r>
          </a:p>
          <a:p>
            <a:pPr marL="457200" indent="-457200" eaLnBrk="1" hangingPunct="1">
              <a:buFont typeface="+mj-lt"/>
              <a:buAutoNum type="arabicPeriod"/>
            </a:pPr>
            <a:r>
              <a:rPr lang="lv-LV" altLang="lv-LV" sz="2000" dirty="0">
                <a:sym typeface="Symbol" panose="05050102010706020507" pitchFamily="18" charset="2"/>
              </a:rPr>
              <a:t>Apgūti BFS, DFS un ceļa meklēšanas algoritmi.</a:t>
            </a:r>
          </a:p>
          <a:p>
            <a:pPr marL="457200" indent="-457200" eaLnBrk="1" hangingPunct="1">
              <a:buFont typeface="+mj-lt"/>
              <a:buAutoNum type="arabicPeriod"/>
            </a:pPr>
            <a:r>
              <a:rPr lang="lv-LV" altLang="lv-LV" sz="2000" dirty="0">
                <a:sym typeface="Symbol" panose="05050102010706020507" pitchFamily="18" charset="2"/>
              </a:rPr>
              <a:t>Priekšstats par citiem grafu teorijas algoritmiem un problēmām.</a:t>
            </a:r>
          </a:p>
          <a:p>
            <a:pPr marL="457200" indent="-457200" eaLnBrk="1" hangingPunct="1">
              <a:buFont typeface="+mj-lt"/>
              <a:buAutoNum type="arabicPeriod"/>
            </a:pPr>
            <a:endParaRPr lang="lv-LV" altLang="lv-LV" sz="2000" dirty="0">
              <a:sym typeface="Symbol" panose="05050102010706020507" pitchFamily="18" charset="2"/>
            </a:endParaRPr>
          </a:p>
          <a:p>
            <a:pPr marL="0" indent="0" eaLnBrk="1" hangingPunct="1">
              <a:buNone/>
            </a:pPr>
            <a:endParaRPr lang="lv-LV" altLang="lv-LV" sz="2000" dirty="0"/>
          </a:p>
        </p:txBody>
      </p:sp>
      <p:pic>
        <p:nvPicPr>
          <p:cNvPr id="4102" name="Picture 6">
            <a:extLst>
              <a:ext uri="{FF2B5EF4-FFF2-40B4-BE49-F238E27FC236}">
                <a16:creationId xmlns:a16="http://schemas.microsoft.com/office/drawing/2014/main" id="{C7094C8E-B7FD-4AA8-8234-26E6B556A3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9" t="4139" r="38209" b="29622"/>
          <a:stretch/>
        </p:blipFill>
        <p:spPr bwMode="auto">
          <a:xfrm>
            <a:off x="6390387" y="1579130"/>
            <a:ext cx="2646109" cy="229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reeform: Shape 2">
            <a:extLst>
              <a:ext uri="{FF2B5EF4-FFF2-40B4-BE49-F238E27FC236}">
                <a16:creationId xmlns:a16="http://schemas.microsoft.com/office/drawing/2014/main" id="{DF4CC24E-FD1E-44D4-8C3B-6DFED361E6AA}"/>
              </a:ext>
            </a:extLst>
          </p:cNvPr>
          <p:cNvSpPr/>
          <p:nvPr/>
        </p:nvSpPr>
        <p:spPr>
          <a:xfrm>
            <a:off x="7308304" y="2566657"/>
            <a:ext cx="576064" cy="502303"/>
          </a:xfrm>
          <a:custGeom>
            <a:avLst/>
            <a:gdLst>
              <a:gd name="connsiteX0" fmla="*/ 0 w 329938"/>
              <a:gd name="connsiteY0" fmla="*/ 0 h 320511"/>
              <a:gd name="connsiteX1" fmla="*/ 0 w 329938"/>
              <a:gd name="connsiteY1" fmla="*/ 235670 h 320511"/>
              <a:gd name="connsiteX2" fmla="*/ 329938 w 329938"/>
              <a:gd name="connsiteY2" fmla="*/ 235670 h 320511"/>
              <a:gd name="connsiteX3" fmla="*/ 311084 w 329938"/>
              <a:gd name="connsiteY3" fmla="*/ 320511 h 320511"/>
              <a:gd name="connsiteX4" fmla="*/ 311084 w 329938"/>
              <a:gd name="connsiteY4" fmla="*/ 320511 h 320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938" h="320511">
                <a:moveTo>
                  <a:pt x="0" y="0"/>
                </a:moveTo>
                <a:lnTo>
                  <a:pt x="0" y="235670"/>
                </a:lnTo>
                <a:lnTo>
                  <a:pt x="329938" y="235670"/>
                </a:lnTo>
                <a:lnTo>
                  <a:pt x="311084" y="320511"/>
                </a:lnTo>
                <a:lnTo>
                  <a:pt x="311084" y="320511"/>
                </a:lnTo>
              </a:path>
            </a:pathLst>
          </a:custGeom>
        </p:spPr>
        <p:style>
          <a:lnRef idx="3">
            <a:schemeClr val="accent6"/>
          </a:lnRef>
          <a:fillRef idx="0">
            <a:schemeClr val="accent6"/>
          </a:fillRef>
          <a:effectRef idx="2">
            <a:schemeClr val="accent6"/>
          </a:effectRef>
          <a:fontRef idx="minor">
            <a:schemeClr val="tx1"/>
          </a:fontRef>
        </p:style>
        <p:txBody>
          <a:bodyPr anchor="ctr"/>
          <a:lstStyle/>
          <a:p>
            <a:pPr algn="ctr" eaLnBrk="1" hangingPunct="1">
              <a:defRPr/>
            </a:pPr>
            <a:endParaRPr lang="lv-LV"/>
          </a:p>
        </p:txBody>
      </p:sp>
      <p:sp>
        <p:nvSpPr>
          <p:cNvPr id="4" name="Rectangle 3">
            <a:extLst>
              <a:ext uri="{FF2B5EF4-FFF2-40B4-BE49-F238E27FC236}">
                <a16:creationId xmlns:a16="http://schemas.microsoft.com/office/drawing/2014/main" id="{3905456B-FC5C-480C-9F13-B31AE9DE2B32}"/>
              </a:ext>
            </a:extLst>
          </p:cNvPr>
          <p:cNvSpPr/>
          <p:nvPr/>
        </p:nvSpPr>
        <p:spPr>
          <a:xfrm>
            <a:off x="176832" y="5483770"/>
            <a:ext cx="8509968" cy="1077218"/>
          </a:xfrm>
          <a:prstGeom prst="rect">
            <a:avLst/>
          </a:prstGeom>
        </p:spPr>
        <p:txBody>
          <a:bodyPr wrap="square">
            <a:spAutoFit/>
          </a:bodyPr>
          <a:lstStyle/>
          <a:p>
            <a:r>
              <a:rPr lang="lv-LV" sz="2400" dirty="0"/>
              <a:t>Vērtēšana: </a:t>
            </a:r>
          </a:p>
          <a:p>
            <a:pPr marL="342900" indent="-342900">
              <a:buFont typeface="Arial" panose="020B0604020202020204" pitchFamily="34" charset="0"/>
              <a:buChar char="•"/>
            </a:pPr>
            <a:r>
              <a:rPr lang="lv-LV" sz="2000" dirty="0"/>
              <a:t>Vērtējums par programmu (1. un 2. funkcionalitāte);</a:t>
            </a:r>
          </a:p>
          <a:p>
            <a:pPr marL="342900" indent="-342900">
              <a:buFont typeface="Arial" panose="020B0604020202020204" pitchFamily="34" charset="0"/>
              <a:buChar char="•"/>
            </a:pPr>
            <a:r>
              <a:rPr lang="lv-LV" sz="2000" dirty="0"/>
              <a:t>Kontroldarbs par grafu teorijas algoritmiem un datu struktūrām.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8F292E3-AD84-4330-AD3D-41830632AF8C}"/>
              </a:ext>
            </a:extLst>
          </p:cNvPr>
          <p:cNvSpPr>
            <a:spLocks noGrp="1" noChangeArrowheads="1"/>
          </p:cNvSpPr>
          <p:nvPr>
            <p:ph type="title"/>
          </p:nvPr>
        </p:nvSpPr>
        <p:spPr/>
        <p:txBody>
          <a:bodyPr/>
          <a:lstStyle/>
          <a:p>
            <a:pPr eaLnBrk="1" hangingPunct="1"/>
            <a:r>
              <a:rPr lang="lv-LV" altLang="lv-LV" dirty="0"/>
              <a:t>Grafs un tā elementi</a:t>
            </a:r>
            <a:endParaRPr lang="en-US" altLang="lv-LV" dirty="0"/>
          </a:p>
        </p:txBody>
      </p:sp>
      <p:sp>
        <p:nvSpPr>
          <p:cNvPr id="6147" name="Rectangle 3">
            <a:extLst>
              <a:ext uri="{FF2B5EF4-FFF2-40B4-BE49-F238E27FC236}">
                <a16:creationId xmlns:a16="http://schemas.microsoft.com/office/drawing/2014/main" id="{2AECDF14-D4D4-4CD9-BFF5-7726841AC1CD}"/>
              </a:ext>
            </a:extLst>
          </p:cNvPr>
          <p:cNvSpPr>
            <a:spLocks noGrp="1" noChangeArrowheads="1"/>
          </p:cNvSpPr>
          <p:nvPr>
            <p:ph type="body" idx="1"/>
          </p:nvPr>
        </p:nvSpPr>
        <p:spPr>
          <a:xfrm>
            <a:off x="457200" y="1600200"/>
            <a:ext cx="8229600" cy="1108075"/>
          </a:xfrm>
        </p:spPr>
        <p:txBody>
          <a:bodyPr/>
          <a:lstStyle/>
          <a:p>
            <a:pPr marL="0" indent="0" eaLnBrk="1" hangingPunct="1">
              <a:lnSpc>
                <a:spcPct val="80000"/>
              </a:lnSpc>
              <a:buNone/>
            </a:pPr>
            <a:r>
              <a:rPr lang="lv-LV" altLang="lv-LV" sz="2400" dirty="0"/>
              <a:t>Grafs G ir to veidojošo virsotņu V (</a:t>
            </a:r>
            <a:r>
              <a:rPr lang="lv-LV" altLang="lv-LV" sz="2400" dirty="0" err="1"/>
              <a:t>vertex</a:t>
            </a:r>
            <a:r>
              <a:rPr lang="lv-LV" altLang="lv-LV" sz="2400" dirty="0"/>
              <a:t>) un šķautņu E (</a:t>
            </a:r>
            <a:r>
              <a:rPr lang="lv-LV" altLang="lv-LV" sz="2400" dirty="0" err="1"/>
              <a:t>edge</a:t>
            </a:r>
            <a:r>
              <a:rPr lang="lv-LV" altLang="lv-LV" sz="2400" dirty="0"/>
              <a:t>) kopa G = &lt;V,E&gt;</a:t>
            </a:r>
          </a:p>
          <a:p>
            <a:pPr marL="0" indent="0" eaLnBrk="1" hangingPunct="1">
              <a:lnSpc>
                <a:spcPct val="80000"/>
              </a:lnSpc>
              <a:buNone/>
            </a:pPr>
            <a:r>
              <a:rPr lang="lv-LV" altLang="lv-LV" sz="2400" dirty="0"/>
              <a:t>Grafa piemērs ar V = 13 un E = 18</a:t>
            </a:r>
          </a:p>
          <a:p>
            <a:pPr eaLnBrk="1" hangingPunct="1">
              <a:lnSpc>
                <a:spcPct val="80000"/>
              </a:lnSpc>
              <a:buFontTx/>
              <a:buNone/>
            </a:pPr>
            <a:endParaRPr lang="en-US" altLang="lv-LV" sz="2400" dirty="0"/>
          </a:p>
        </p:txBody>
      </p:sp>
      <p:grpSp>
        <p:nvGrpSpPr>
          <p:cNvPr id="6148" name="Group 36">
            <a:extLst>
              <a:ext uri="{FF2B5EF4-FFF2-40B4-BE49-F238E27FC236}">
                <a16:creationId xmlns:a16="http://schemas.microsoft.com/office/drawing/2014/main" id="{C45D9C51-03A2-4504-B9F5-463001B4A9A5}"/>
              </a:ext>
            </a:extLst>
          </p:cNvPr>
          <p:cNvGrpSpPr>
            <a:grpSpLocks/>
          </p:cNvGrpSpPr>
          <p:nvPr/>
        </p:nvGrpSpPr>
        <p:grpSpPr bwMode="auto">
          <a:xfrm>
            <a:off x="1908175" y="2997200"/>
            <a:ext cx="5686425" cy="3328988"/>
            <a:chOff x="295" y="1888"/>
            <a:chExt cx="3582" cy="2097"/>
          </a:xfrm>
        </p:grpSpPr>
        <p:sp>
          <p:nvSpPr>
            <p:cNvPr id="6149" name="Text Box 4">
              <a:extLst>
                <a:ext uri="{FF2B5EF4-FFF2-40B4-BE49-F238E27FC236}">
                  <a16:creationId xmlns:a16="http://schemas.microsoft.com/office/drawing/2014/main" id="{0B3CCE79-1F7D-43BD-B57F-2DCC3B9DA587}"/>
                </a:ext>
              </a:extLst>
            </p:cNvPr>
            <p:cNvSpPr txBox="1">
              <a:spLocks noChangeArrowheads="1"/>
            </p:cNvSpPr>
            <p:nvPr/>
          </p:nvSpPr>
          <p:spPr bwMode="auto">
            <a:xfrm>
              <a:off x="295" y="3158"/>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a:t>
              </a:r>
              <a:endParaRPr lang="en-US" altLang="lv-LV" sz="1800"/>
            </a:p>
          </p:txBody>
        </p:sp>
        <p:sp>
          <p:nvSpPr>
            <p:cNvPr id="6150" name="Text Box 5">
              <a:extLst>
                <a:ext uri="{FF2B5EF4-FFF2-40B4-BE49-F238E27FC236}">
                  <a16:creationId xmlns:a16="http://schemas.microsoft.com/office/drawing/2014/main" id="{AB0CBE13-8DDF-458D-80CB-E573F8EC67BA}"/>
                </a:ext>
              </a:extLst>
            </p:cNvPr>
            <p:cNvSpPr txBox="1">
              <a:spLocks noChangeArrowheads="1"/>
            </p:cNvSpPr>
            <p:nvPr/>
          </p:nvSpPr>
          <p:spPr bwMode="auto">
            <a:xfrm>
              <a:off x="839" y="3294"/>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12</a:t>
              </a:r>
              <a:endParaRPr lang="en-US" altLang="lv-LV" sz="1800"/>
            </a:p>
          </p:txBody>
        </p:sp>
        <p:sp>
          <p:nvSpPr>
            <p:cNvPr id="6151" name="Text Box 6">
              <a:extLst>
                <a:ext uri="{FF2B5EF4-FFF2-40B4-BE49-F238E27FC236}">
                  <a16:creationId xmlns:a16="http://schemas.microsoft.com/office/drawing/2014/main" id="{1FEEBABE-BB13-4DF7-8C0A-B3587A4B7ADA}"/>
                </a:ext>
              </a:extLst>
            </p:cNvPr>
            <p:cNvSpPr txBox="1">
              <a:spLocks noChangeArrowheads="1"/>
            </p:cNvSpPr>
            <p:nvPr/>
          </p:nvSpPr>
          <p:spPr bwMode="auto">
            <a:xfrm>
              <a:off x="1292" y="2840"/>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4</a:t>
              </a:r>
              <a:endParaRPr lang="en-US" altLang="lv-LV" sz="1800"/>
            </a:p>
          </p:txBody>
        </p:sp>
        <p:sp>
          <p:nvSpPr>
            <p:cNvPr id="6152" name="Text Box 7">
              <a:extLst>
                <a:ext uri="{FF2B5EF4-FFF2-40B4-BE49-F238E27FC236}">
                  <a16:creationId xmlns:a16="http://schemas.microsoft.com/office/drawing/2014/main" id="{46D342D0-2127-4F2E-B50B-E041D942D1C9}"/>
                </a:ext>
              </a:extLst>
            </p:cNvPr>
            <p:cNvSpPr txBox="1">
              <a:spLocks noChangeArrowheads="1"/>
            </p:cNvSpPr>
            <p:nvPr/>
          </p:nvSpPr>
          <p:spPr bwMode="auto">
            <a:xfrm>
              <a:off x="793" y="2704"/>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2</a:t>
              </a:r>
              <a:endParaRPr lang="en-US" altLang="lv-LV" sz="1800"/>
            </a:p>
          </p:txBody>
        </p:sp>
        <p:sp>
          <p:nvSpPr>
            <p:cNvPr id="6153" name="Text Box 8">
              <a:extLst>
                <a:ext uri="{FF2B5EF4-FFF2-40B4-BE49-F238E27FC236}">
                  <a16:creationId xmlns:a16="http://schemas.microsoft.com/office/drawing/2014/main" id="{FF497942-F960-491F-8DB8-83A0EF20837F}"/>
                </a:ext>
              </a:extLst>
            </p:cNvPr>
            <p:cNvSpPr txBox="1">
              <a:spLocks noChangeArrowheads="1"/>
            </p:cNvSpPr>
            <p:nvPr/>
          </p:nvSpPr>
          <p:spPr bwMode="auto">
            <a:xfrm>
              <a:off x="2064" y="1888"/>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3</a:t>
              </a:r>
              <a:endParaRPr lang="en-US" altLang="lv-LV" sz="1800"/>
            </a:p>
          </p:txBody>
        </p:sp>
        <p:sp>
          <p:nvSpPr>
            <p:cNvPr id="6154" name="Text Box 9">
              <a:extLst>
                <a:ext uri="{FF2B5EF4-FFF2-40B4-BE49-F238E27FC236}">
                  <a16:creationId xmlns:a16="http://schemas.microsoft.com/office/drawing/2014/main" id="{CB63415D-69C5-4340-B67D-04009E27FC23}"/>
                </a:ext>
              </a:extLst>
            </p:cNvPr>
            <p:cNvSpPr txBox="1">
              <a:spLocks noChangeArrowheads="1"/>
            </p:cNvSpPr>
            <p:nvPr/>
          </p:nvSpPr>
          <p:spPr bwMode="auto">
            <a:xfrm>
              <a:off x="2109" y="2432"/>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7</a:t>
              </a:r>
              <a:endParaRPr lang="en-US" altLang="lv-LV" sz="1800"/>
            </a:p>
          </p:txBody>
        </p:sp>
        <p:sp>
          <p:nvSpPr>
            <p:cNvPr id="6155" name="Text Box 10">
              <a:extLst>
                <a:ext uri="{FF2B5EF4-FFF2-40B4-BE49-F238E27FC236}">
                  <a16:creationId xmlns:a16="http://schemas.microsoft.com/office/drawing/2014/main" id="{C213A679-E377-431E-9543-975D8FAA2539}"/>
                </a:ext>
              </a:extLst>
            </p:cNvPr>
            <p:cNvSpPr txBox="1">
              <a:spLocks noChangeArrowheads="1"/>
            </p:cNvSpPr>
            <p:nvPr/>
          </p:nvSpPr>
          <p:spPr bwMode="auto">
            <a:xfrm>
              <a:off x="3061" y="2069"/>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5</a:t>
              </a:r>
              <a:endParaRPr lang="en-US" altLang="lv-LV" sz="1800"/>
            </a:p>
          </p:txBody>
        </p:sp>
        <p:sp>
          <p:nvSpPr>
            <p:cNvPr id="6156" name="Text Box 11">
              <a:extLst>
                <a:ext uri="{FF2B5EF4-FFF2-40B4-BE49-F238E27FC236}">
                  <a16:creationId xmlns:a16="http://schemas.microsoft.com/office/drawing/2014/main" id="{169F6BD5-5F16-41CF-9927-369BDCE2AB56}"/>
                </a:ext>
              </a:extLst>
            </p:cNvPr>
            <p:cNvSpPr txBox="1">
              <a:spLocks noChangeArrowheads="1"/>
            </p:cNvSpPr>
            <p:nvPr/>
          </p:nvSpPr>
          <p:spPr bwMode="auto">
            <a:xfrm>
              <a:off x="2744" y="3158"/>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13</a:t>
              </a:r>
              <a:endParaRPr lang="en-US" altLang="lv-LV" sz="1800"/>
            </a:p>
          </p:txBody>
        </p:sp>
        <p:sp>
          <p:nvSpPr>
            <p:cNvPr id="6157" name="Text Box 12">
              <a:extLst>
                <a:ext uri="{FF2B5EF4-FFF2-40B4-BE49-F238E27FC236}">
                  <a16:creationId xmlns:a16="http://schemas.microsoft.com/office/drawing/2014/main" id="{2E77EBF2-02EC-48A6-85B7-14581AA3C06D}"/>
                </a:ext>
              </a:extLst>
            </p:cNvPr>
            <p:cNvSpPr txBox="1">
              <a:spLocks noChangeArrowheads="1"/>
            </p:cNvSpPr>
            <p:nvPr/>
          </p:nvSpPr>
          <p:spPr bwMode="auto">
            <a:xfrm>
              <a:off x="2744" y="2614"/>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6</a:t>
              </a:r>
              <a:endParaRPr lang="en-US" altLang="lv-LV" sz="1800"/>
            </a:p>
          </p:txBody>
        </p:sp>
        <p:sp>
          <p:nvSpPr>
            <p:cNvPr id="6158" name="Text Box 13">
              <a:extLst>
                <a:ext uri="{FF2B5EF4-FFF2-40B4-BE49-F238E27FC236}">
                  <a16:creationId xmlns:a16="http://schemas.microsoft.com/office/drawing/2014/main" id="{3EBC3957-4E9A-4E98-9C6E-085E2F198538}"/>
                </a:ext>
              </a:extLst>
            </p:cNvPr>
            <p:cNvSpPr txBox="1">
              <a:spLocks noChangeArrowheads="1"/>
            </p:cNvSpPr>
            <p:nvPr/>
          </p:nvSpPr>
          <p:spPr bwMode="auto">
            <a:xfrm>
              <a:off x="3470" y="2795"/>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9</a:t>
              </a:r>
              <a:endParaRPr lang="en-US" altLang="lv-LV" sz="1800"/>
            </a:p>
          </p:txBody>
        </p:sp>
        <p:sp>
          <p:nvSpPr>
            <p:cNvPr id="6159" name="Text Box 14">
              <a:extLst>
                <a:ext uri="{FF2B5EF4-FFF2-40B4-BE49-F238E27FC236}">
                  <a16:creationId xmlns:a16="http://schemas.microsoft.com/office/drawing/2014/main" id="{19C822B3-9BAC-43BB-9706-1292A4950BE1}"/>
                </a:ext>
              </a:extLst>
            </p:cNvPr>
            <p:cNvSpPr txBox="1">
              <a:spLocks noChangeArrowheads="1"/>
            </p:cNvSpPr>
            <p:nvPr/>
          </p:nvSpPr>
          <p:spPr bwMode="auto">
            <a:xfrm>
              <a:off x="3651" y="2251"/>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8</a:t>
              </a:r>
              <a:endParaRPr lang="en-US" altLang="lv-LV" sz="1800"/>
            </a:p>
          </p:txBody>
        </p:sp>
        <p:sp>
          <p:nvSpPr>
            <p:cNvPr id="6160" name="Text Box 15">
              <a:extLst>
                <a:ext uri="{FF2B5EF4-FFF2-40B4-BE49-F238E27FC236}">
                  <a16:creationId xmlns:a16="http://schemas.microsoft.com/office/drawing/2014/main" id="{05E171F9-D288-45C9-A68B-145F50551B93}"/>
                </a:ext>
              </a:extLst>
            </p:cNvPr>
            <p:cNvSpPr txBox="1">
              <a:spLocks noChangeArrowheads="1"/>
            </p:cNvSpPr>
            <p:nvPr/>
          </p:nvSpPr>
          <p:spPr bwMode="auto">
            <a:xfrm>
              <a:off x="1429" y="3748"/>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10</a:t>
              </a:r>
              <a:endParaRPr lang="en-US" altLang="lv-LV" sz="1800"/>
            </a:p>
          </p:txBody>
        </p:sp>
        <p:sp>
          <p:nvSpPr>
            <p:cNvPr id="6161" name="Text Box 16">
              <a:extLst>
                <a:ext uri="{FF2B5EF4-FFF2-40B4-BE49-F238E27FC236}">
                  <a16:creationId xmlns:a16="http://schemas.microsoft.com/office/drawing/2014/main" id="{C7B45F14-5DBE-4FB5-8BAA-4DDB3D257B45}"/>
                </a:ext>
              </a:extLst>
            </p:cNvPr>
            <p:cNvSpPr txBox="1">
              <a:spLocks noChangeArrowheads="1"/>
            </p:cNvSpPr>
            <p:nvPr/>
          </p:nvSpPr>
          <p:spPr bwMode="auto">
            <a:xfrm>
              <a:off x="1973" y="3385"/>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11</a:t>
              </a:r>
              <a:endParaRPr lang="en-US" altLang="lv-LV" sz="1800"/>
            </a:p>
          </p:txBody>
        </p:sp>
        <p:sp>
          <p:nvSpPr>
            <p:cNvPr id="6162" name="Line 18">
              <a:extLst>
                <a:ext uri="{FF2B5EF4-FFF2-40B4-BE49-F238E27FC236}">
                  <a16:creationId xmlns:a16="http://schemas.microsoft.com/office/drawing/2014/main" id="{0D08AE67-6303-48F9-AA46-C2218597238E}"/>
                </a:ext>
              </a:extLst>
            </p:cNvPr>
            <p:cNvSpPr>
              <a:spLocks noChangeShapeType="1"/>
            </p:cNvSpPr>
            <p:nvPr/>
          </p:nvSpPr>
          <p:spPr bwMode="auto">
            <a:xfrm flipV="1">
              <a:off x="521" y="2931"/>
              <a:ext cx="27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3" name="Line 19">
              <a:extLst>
                <a:ext uri="{FF2B5EF4-FFF2-40B4-BE49-F238E27FC236}">
                  <a16:creationId xmlns:a16="http://schemas.microsoft.com/office/drawing/2014/main" id="{137312EE-9A41-40D9-BF34-655403BCBC64}"/>
                </a:ext>
              </a:extLst>
            </p:cNvPr>
            <p:cNvSpPr>
              <a:spLocks noChangeShapeType="1"/>
            </p:cNvSpPr>
            <p:nvPr/>
          </p:nvSpPr>
          <p:spPr bwMode="auto">
            <a:xfrm>
              <a:off x="521" y="3385"/>
              <a:ext cx="318"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4" name="Line 20">
              <a:extLst>
                <a:ext uri="{FF2B5EF4-FFF2-40B4-BE49-F238E27FC236}">
                  <a16:creationId xmlns:a16="http://schemas.microsoft.com/office/drawing/2014/main" id="{0BD85487-8191-4DD3-8073-89B8C1031AA7}"/>
                </a:ext>
              </a:extLst>
            </p:cNvPr>
            <p:cNvSpPr>
              <a:spLocks noChangeShapeType="1"/>
            </p:cNvSpPr>
            <p:nvPr/>
          </p:nvSpPr>
          <p:spPr bwMode="auto">
            <a:xfrm flipV="1">
              <a:off x="521" y="2976"/>
              <a:ext cx="726"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5" name="Line 21">
              <a:extLst>
                <a:ext uri="{FF2B5EF4-FFF2-40B4-BE49-F238E27FC236}">
                  <a16:creationId xmlns:a16="http://schemas.microsoft.com/office/drawing/2014/main" id="{62D8173A-DBDE-430C-A563-92CE99AFDAAE}"/>
                </a:ext>
              </a:extLst>
            </p:cNvPr>
            <p:cNvSpPr>
              <a:spLocks noChangeShapeType="1"/>
            </p:cNvSpPr>
            <p:nvPr/>
          </p:nvSpPr>
          <p:spPr bwMode="auto">
            <a:xfrm>
              <a:off x="1020" y="2886"/>
              <a:ext cx="272"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6" name="Line 22">
              <a:extLst>
                <a:ext uri="{FF2B5EF4-FFF2-40B4-BE49-F238E27FC236}">
                  <a16:creationId xmlns:a16="http://schemas.microsoft.com/office/drawing/2014/main" id="{2D35D33B-4483-4843-B8EC-2D20FFA04C6A}"/>
                </a:ext>
              </a:extLst>
            </p:cNvPr>
            <p:cNvSpPr>
              <a:spLocks noChangeShapeType="1"/>
            </p:cNvSpPr>
            <p:nvPr/>
          </p:nvSpPr>
          <p:spPr bwMode="auto">
            <a:xfrm flipV="1">
              <a:off x="1156" y="2976"/>
              <a:ext cx="136"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7" name="Line 23">
              <a:extLst>
                <a:ext uri="{FF2B5EF4-FFF2-40B4-BE49-F238E27FC236}">
                  <a16:creationId xmlns:a16="http://schemas.microsoft.com/office/drawing/2014/main" id="{75E159E8-2FD2-4A69-A032-81A82DFFF83C}"/>
                </a:ext>
              </a:extLst>
            </p:cNvPr>
            <p:cNvSpPr>
              <a:spLocks noChangeShapeType="1"/>
            </p:cNvSpPr>
            <p:nvPr/>
          </p:nvSpPr>
          <p:spPr bwMode="auto">
            <a:xfrm>
              <a:off x="1156" y="3521"/>
              <a:ext cx="273"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8" name="Line 24">
              <a:extLst>
                <a:ext uri="{FF2B5EF4-FFF2-40B4-BE49-F238E27FC236}">
                  <a16:creationId xmlns:a16="http://schemas.microsoft.com/office/drawing/2014/main" id="{73550F0B-313B-4027-AEF5-CA63A55F77CB}"/>
                </a:ext>
              </a:extLst>
            </p:cNvPr>
            <p:cNvSpPr>
              <a:spLocks noChangeShapeType="1"/>
            </p:cNvSpPr>
            <p:nvPr/>
          </p:nvSpPr>
          <p:spPr bwMode="auto">
            <a:xfrm flipV="1">
              <a:off x="1746" y="3612"/>
              <a:ext cx="227"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69" name="Line 25">
              <a:extLst>
                <a:ext uri="{FF2B5EF4-FFF2-40B4-BE49-F238E27FC236}">
                  <a16:creationId xmlns:a16="http://schemas.microsoft.com/office/drawing/2014/main" id="{E1BD89FD-18A0-4B7B-A54D-732A741696C8}"/>
                </a:ext>
              </a:extLst>
            </p:cNvPr>
            <p:cNvSpPr>
              <a:spLocks noChangeShapeType="1"/>
            </p:cNvSpPr>
            <p:nvPr/>
          </p:nvSpPr>
          <p:spPr bwMode="auto">
            <a:xfrm flipV="1">
              <a:off x="1156" y="3385"/>
              <a:ext cx="817"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0" name="Line 26">
              <a:extLst>
                <a:ext uri="{FF2B5EF4-FFF2-40B4-BE49-F238E27FC236}">
                  <a16:creationId xmlns:a16="http://schemas.microsoft.com/office/drawing/2014/main" id="{E72D5C01-5133-4907-8CDA-7B0A4CA84E9E}"/>
                </a:ext>
              </a:extLst>
            </p:cNvPr>
            <p:cNvSpPr>
              <a:spLocks noChangeShapeType="1"/>
            </p:cNvSpPr>
            <p:nvPr/>
          </p:nvSpPr>
          <p:spPr bwMode="auto">
            <a:xfrm flipV="1">
              <a:off x="1519" y="2750"/>
              <a:ext cx="1225"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1" name="Line 27">
              <a:extLst>
                <a:ext uri="{FF2B5EF4-FFF2-40B4-BE49-F238E27FC236}">
                  <a16:creationId xmlns:a16="http://schemas.microsoft.com/office/drawing/2014/main" id="{8F091044-C845-4929-B33F-4BD548204E83}"/>
                </a:ext>
              </a:extLst>
            </p:cNvPr>
            <p:cNvSpPr>
              <a:spLocks noChangeShapeType="1"/>
            </p:cNvSpPr>
            <p:nvPr/>
          </p:nvSpPr>
          <p:spPr bwMode="auto">
            <a:xfrm flipV="1">
              <a:off x="1519" y="2568"/>
              <a:ext cx="59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2" name="Line 28">
              <a:extLst>
                <a:ext uri="{FF2B5EF4-FFF2-40B4-BE49-F238E27FC236}">
                  <a16:creationId xmlns:a16="http://schemas.microsoft.com/office/drawing/2014/main" id="{2950F520-4C9A-4BFE-85CD-04288424BB0C}"/>
                </a:ext>
              </a:extLst>
            </p:cNvPr>
            <p:cNvSpPr>
              <a:spLocks noChangeShapeType="1"/>
            </p:cNvSpPr>
            <p:nvPr/>
          </p:nvSpPr>
          <p:spPr bwMode="auto">
            <a:xfrm>
              <a:off x="2200" y="2115"/>
              <a:ext cx="45"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3" name="Line 29">
              <a:extLst>
                <a:ext uri="{FF2B5EF4-FFF2-40B4-BE49-F238E27FC236}">
                  <a16:creationId xmlns:a16="http://schemas.microsoft.com/office/drawing/2014/main" id="{D6481CE9-54C2-480F-8622-7FDCA10F02EF}"/>
                </a:ext>
              </a:extLst>
            </p:cNvPr>
            <p:cNvSpPr>
              <a:spLocks noChangeShapeType="1"/>
            </p:cNvSpPr>
            <p:nvPr/>
          </p:nvSpPr>
          <p:spPr bwMode="auto">
            <a:xfrm>
              <a:off x="2336" y="2568"/>
              <a:ext cx="408"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4" name="Line 30">
              <a:extLst>
                <a:ext uri="{FF2B5EF4-FFF2-40B4-BE49-F238E27FC236}">
                  <a16:creationId xmlns:a16="http://schemas.microsoft.com/office/drawing/2014/main" id="{50E54876-0689-4924-92DC-3C397D295BD2}"/>
                </a:ext>
              </a:extLst>
            </p:cNvPr>
            <p:cNvSpPr>
              <a:spLocks noChangeShapeType="1"/>
            </p:cNvSpPr>
            <p:nvPr/>
          </p:nvSpPr>
          <p:spPr bwMode="auto">
            <a:xfrm flipV="1">
              <a:off x="2880" y="2296"/>
              <a:ext cx="181"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5" name="Line 31">
              <a:extLst>
                <a:ext uri="{FF2B5EF4-FFF2-40B4-BE49-F238E27FC236}">
                  <a16:creationId xmlns:a16="http://schemas.microsoft.com/office/drawing/2014/main" id="{94AE1AE7-3C64-4038-9087-2C5B3714BAA5}"/>
                </a:ext>
              </a:extLst>
            </p:cNvPr>
            <p:cNvSpPr>
              <a:spLocks noChangeShapeType="1"/>
            </p:cNvSpPr>
            <p:nvPr/>
          </p:nvSpPr>
          <p:spPr bwMode="auto">
            <a:xfrm>
              <a:off x="2880" y="2840"/>
              <a:ext cx="0"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6" name="Line 32">
              <a:extLst>
                <a:ext uri="{FF2B5EF4-FFF2-40B4-BE49-F238E27FC236}">
                  <a16:creationId xmlns:a16="http://schemas.microsoft.com/office/drawing/2014/main" id="{A4F3E05A-1D4D-497D-820E-6774AA61BB3D}"/>
                </a:ext>
              </a:extLst>
            </p:cNvPr>
            <p:cNvSpPr>
              <a:spLocks noChangeShapeType="1"/>
            </p:cNvSpPr>
            <p:nvPr/>
          </p:nvSpPr>
          <p:spPr bwMode="auto">
            <a:xfrm>
              <a:off x="2971" y="2750"/>
              <a:ext cx="499"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7" name="Line 33">
              <a:extLst>
                <a:ext uri="{FF2B5EF4-FFF2-40B4-BE49-F238E27FC236}">
                  <a16:creationId xmlns:a16="http://schemas.microsoft.com/office/drawing/2014/main" id="{3A057E7A-784C-4198-BC23-0F7DE60784F1}"/>
                </a:ext>
              </a:extLst>
            </p:cNvPr>
            <p:cNvSpPr>
              <a:spLocks noChangeShapeType="1"/>
            </p:cNvSpPr>
            <p:nvPr/>
          </p:nvSpPr>
          <p:spPr bwMode="auto">
            <a:xfrm>
              <a:off x="3288" y="2160"/>
              <a:ext cx="363"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8" name="Line 34">
              <a:extLst>
                <a:ext uri="{FF2B5EF4-FFF2-40B4-BE49-F238E27FC236}">
                  <a16:creationId xmlns:a16="http://schemas.microsoft.com/office/drawing/2014/main" id="{6CCAFCBB-4EEB-4AFF-994C-59D991810123}"/>
                </a:ext>
              </a:extLst>
            </p:cNvPr>
            <p:cNvSpPr>
              <a:spLocks noChangeShapeType="1"/>
            </p:cNvSpPr>
            <p:nvPr/>
          </p:nvSpPr>
          <p:spPr bwMode="auto">
            <a:xfrm>
              <a:off x="3198" y="2296"/>
              <a:ext cx="272" cy="49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6179" name="Line 35">
              <a:extLst>
                <a:ext uri="{FF2B5EF4-FFF2-40B4-BE49-F238E27FC236}">
                  <a16:creationId xmlns:a16="http://schemas.microsoft.com/office/drawing/2014/main" id="{B93AF6D5-84B5-4A6B-91EA-5E008081AF39}"/>
                </a:ext>
              </a:extLst>
            </p:cNvPr>
            <p:cNvSpPr>
              <a:spLocks noChangeShapeType="1"/>
            </p:cNvSpPr>
            <p:nvPr/>
          </p:nvSpPr>
          <p:spPr bwMode="auto">
            <a:xfrm flipV="1">
              <a:off x="3606" y="2478"/>
              <a:ext cx="136"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32D935A-A0A9-43F8-9847-CF946D832760}"/>
              </a:ext>
            </a:extLst>
          </p:cNvPr>
          <p:cNvSpPr>
            <a:spLocks noGrp="1" noChangeArrowheads="1"/>
          </p:cNvSpPr>
          <p:nvPr>
            <p:ph type="title"/>
          </p:nvPr>
        </p:nvSpPr>
        <p:spPr/>
        <p:txBody>
          <a:bodyPr/>
          <a:lstStyle/>
          <a:p>
            <a:pPr eaLnBrk="1" hangingPunct="1"/>
            <a:r>
              <a:rPr lang="lv-LV" altLang="lv-LV"/>
              <a:t>Grafu veidi</a:t>
            </a:r>
            <a:endParaRPr lang="en-US" altLang="lv-LV"/>
          </a:p>
        </p:txBody>
      </p:sp>
      <p:sp>
        <p:nvSpPr>
          <p:cNvPr id="7171" name="Rectangle 3">
            <a:extLst>
              <a:ext uri="{FF2B5EF4-FFF2-40B4-BE49-F238E27FC236}">
                <a16:creationId xmlns:a16="http://schemas.microsoft.com/office/drawing/2014/main" id="{B97B2C2E-C5E4-4E6A-B22A-6B8F2BD9D1DB}"/>
              </a:ext>
            </a:extLst>
          </p:cNvPr>
          <p:cNvSpPr>
            <a:spLocks noGrp="1" noChangeArrowheads="1"/>
          </p:cNvSpPr>
          <p:nvPr>
            <p:ph type="body" idx="1"/>
          </p:nvPr>
        </p:nvSpPr>
        <p:spPr>
          <a:xfrm>
            <a:off x="457200" y="1600200"/>
            <a:ext cx="3538538" cy="4525963"/>
          </a:xfrm>
        </p:spPr>
        <p:txBody>
          <a:bodyPr/>
          <a:lstStyle/>
          <a:p>
            <a:pPr eaLnBrk="1" hangingPunct="1">
              <a:lnSpc>
                <a:spcPct val="150000"/>
              </a:lnSpc>
            </a:pPr>
            <a:r>
              <a:rPr lang="lv-LV" altLang="lv-LV"/>
              <a:t>Orientēts</a:t>
            </a:r>
          </a:p>
          <a:p>
            <a:pPr eaLnBrk="1" hangingPunct="1">
              <a:lnSpc>
                <a:spcPct val="150000"/>
              </a:lnSpc>
            </a:pPr>
            <a:r>
              <a:rPr lang="lv-LV" altLang="lv-LV"/>
              <a:t>Neorientēts</a:t>
            </a:r>
          </a:p>
          <a:p>
            <a:pPr eaLnBrk="1" hangingPunct="1">
              <a:lnSpc>
                <a:spcPct val="150000"/>
              </a:lnSpc>
            </a:pPr>
            <a:r>
              <a:rPr lang="lv-LV" altLang="lv-LV"/>
              <a:t>Pilns</a:t>
            </a:r>
          </a:p>
          <a:p>
            <a:pPr eaLnBrk="1" hangingPunct="1">
              <a:lnSpc>
                <a:spcPct val="150000"/>
              </a:lnSpc>
            </a:pPr>
            <a:r>
              <a:rPr lang="lv-LV" altLang="lv-LV"/>
              <a:t>Nesaistīts</a:t>
            </a:r>
          </a:p>
          <a:p>
            <a:pPr eaLnBrk="1" hangingPunct="1">
              <a:lnSpc>
                <a:spcPct val="150000"/>
              </a:lnSpc>
            </a:pPr>
            <a:r>
              <a:rPr lang="lv-LV" altLang="lv-LV"/>
              <a:t>Svērts</a:t>
            </a:r>
          </a:p>
          <a:p>
            <a:pPr eaLnBrk="1" hangingPunct="1">
              <a:buFontTx/>
              <a:buNone/>
            </a:pPr>
            <a:endParaRPr lang="lv-LV" altLang="lv-LV"/>
          </a:p>
          <a:p>
            <a:pPr eaLnBrk="1" hangingPunct="1">
              <a:buFontTx/>
              <a:buNone/>
            </a:pPr>
            <a:endParaRPr lang="en-US" altLang="lv-LV"/>
          </a:p>
        </p:txBody>
      </p:sp>
      <p:grpSp>
        <p:nvGrpSpPr>
          <p:cNvPr id="7172" name="Group 13">
            <a:extLst>
              <a:ext uri="{FF2B5EF4-FFF2-40B4-BE49-F238E27FC236}">
                <a16:creationId xmlns:a16="http://schemas.microsoft.com/office/drawing/2014/main" id="{552A65FC-4191-4632-BF07-7CBCC879F976}"/>
              </a:ext>
            </a:extLst>
          </p:cNvPr>
          <p:cNvGrpSpPr>
            <a:grpSpLocks/>
          </p:cNvGrpSpPr>
          <p:nvPr/>
        </p:nvGrpSpPr>
        <p:grpSpPr bwMode="auto">
          <a:xfrm>
            <a:off x="4211638" y="1700213"/>
            <a:ext cx="1152525" cy="574675"/>
            <a:chOff x="3288" y="845"/>
            <a:chExt cx="726" cy="362"/>
          </a:xfrm>
        </p:grpSpPr>
        <p:sp>
          <p:nvSpPr>
            <p:cNvPr id="7229" name="Line 4">
              <a:extLst>
                <a:ext uri="{FF2B5EF4-FFF2-40B4-BE49-F238E27FC236}">
                  <a16:creationId xmlns:a16="http://schemas.microsoft.com/office/drawing/2014/main" id="{3577BD50-0DA6-4A4A-90D4-0142034655ED}"/>
                </a:ext>
              </a:extLst>
            </p:cNvPr>
            <p:cNvSpPr>
              <a:spLocks noChangeShapeType="1"/>
            </p:cNvSpPr>
            <p:nvPr/>
          </p:nvSpPr>
          <p:spPr bwMode="auto">
            <a:xfrm flipV="1">
              <a:off x="3288" y="845"/>
              <a:ext cx="272" cy="272"/>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0" name="Line 5">
              <a:extLst>
                <a:ext uri="{FF2B5EF4-FFF2-40B4-BE49-F238E27FC236}">
                  <a16:creationId xmlns:a16="http://schemas.microsoft.com/office/drawing/2014/main" id="{C5698D55-EEAD-4D37-B1EC-7E75C5EECAD0}"/>
                </a:ext>
              </a:extLst>
            </p:cNvPr>
            <p:cNvSpPr>
              <a:spLocks noChangeShapeType="1"/>
            </p:cNvSpPr>
            <p:nvPr/>
          </p:nvSpPr>
          <p:spPr bwMode="auto">
            <a:xfrm>
              <a:off x="3288" y="1117"/>
              <a:ext cx="227" cy="9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1" name="Line 6">
              <a:extLst>
                <a:ext uri="{FF2B5EF4-FFF2-40B4-BE49-F238E27FC236}">
                  <a16:creationId xmlns:a16="http://schemas.microsoft.com/office/drawing/2014/main" id="{5A6292E1-9BC9-4342-B6CD-4C4B8C2118EC}"/>
                </a:ext>
              </a:extLst>
            </p:cNvPr>
            <p:cNvSpPr>
              <a:spLocks noChangeShapeType="1"/>
            </p:cNvSpPr>
            <p:nvPr/>
          </p:nvSpPr>
          <p:spPr bwMode="auto">
            <a:xfrm>
              <a:off x="3560" y="845"/>
              <a:ext cx="363" cy="136"/>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2" name="Line 7">
              <a:extLst>
                <a:ext uri="{FF2B5EF4-FFF2-40B4-BE49-F238E27FC236}">
                  <a16:creationId xmlns:a16="http://schemas.microsoft.com/office/drawing/2014/main" id="{8E530E46-E1C9-4E73-AEBD-6D3482D68B32}"/>
                </a:ext>
              </a:extLst>
            </p:cNvPr>
            <p:cNvSpPr>
              <a:spLocks noChangeShapeType="1"/>
            </p:cNvSpPr>
            <p:nvPr/>
          </p:nvSpPr>
          <p:spPr bwMode="auto">
            <a:xfrm flipV="1">
              <a:off x="3560" y="845"/>
              <a:ext cx="0" cy="362"/>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3" name="Line 8">
              <a:extLst>
                <a:ext uri="{FF2B5EF4-FFF2-40B4-BE49-F238E27FC236}">
                  <a16:creationId xmlns:a16="http://schemas.microsoft.com/office/drawing/2014/main" id="{D0DD4613-1559-45CC-BD8A-316AE31868D6}"/>
                </a:ext>
              </a:extLst>
            </p:cNvPr>
            <p:cNvSpPr>
              <a:spLocks noChangeShapeType="1"/>
            </p:cNvSpPr>
            <p:nvPr/>
          </p:nvSpPr>
          <p:spPr bwMode="auto">
            <a:xfrm flipV="1">
              <a:off x="3560" y="981"/>
              <a:ext cx="318" cy="226"/>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4" name="Line 9">
              <a:extLst>
                <a:ext uri="{FF2B5EF4-FFF2-40B4-BE49-F238E27FC236}">
                  <a16:creationId xmlns:a16="http://schemas.microsoft.com/office/drawing/2014/main" id="{10DCD097-4FD8-41F1-A3E1-C4035BD6D333}"/>
                </a:ext>
              </a:extLst>
            </p:cNvPr>
            <p:cNvSpPr>
              <a:spLocks noChangeShapeType="1"/>
            </p:cNvSpPr>
            <p:nvPr/>
          </p:nvSpPr>
          <p:spPr bwMode="auto">
            <a:xfrm flipV="1">
              <a:off x="3560" y="1162"/>
              <a:ext cx="409" cy="45"/>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35" name="Oval 10">
              <a:extLst>
                <a:ext uri="{FF2B5EF4-FFF2-40B4-BE49-F238E27FC236}">
                  <a16:creationId xmlns:a16="http://schemas.microsoft.com/office/drawing/2014/main" id="{D74BD8FC-EA63-4A76-802F-68101AB40179}"/>
                </a:ext>
              </a:extLst>
            </p:cNvPr>
            <p:cNvSpPr>
              <a:spLocks noChangeArrowheads="1"/>
            </p:cNvSpPr>
            <p:nvPr/>
          </p:nvSpPr>
          <p:spPr bwMode="auto">
            <a:xfrm>
              <a:off x="3969" y="1162"/>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36" name="Oval 12">
              <a:extLst>
                <a:ext uri="{FF2B5EF4-FFF2-40B4-BE49-F238E27FC236}">
                  <a16:creationId xmlns:a16="http://schemas.microsoft.com/office/drawing/2014/main" id="{9DC189C0-0EEB-4204-B367-DBB4F22727CA}"/>
                </a:ext>
              </a:extLst>
            </p:cNvPr>
            <p:cNvSpPr>
              <a:spLocks noChangeArrowheads="1"/>
            </p:cNvSpPr>
            <p:nvPr/>
          </p:nvSpPr>
          <p:spPr bwMode="auto">
            <a:xfrm>
              <a:off x="3878" y="981"/>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grpSp>
        <p:nvGrpSpPr>
          <p:cNvPr id="7173" name="Group 35">
            <a:extLst>
              <a:ext uri="{FF2B5EF4-FFF2-40B4-BE49-F238E27FC236}">
                <a16:creationId xmlns:a16="http://schemas.microsoft.com/office/drawing/2014/main" id="{BC91CD25-9EDE-4F44-9C12-482C829EF913}"/>
              </a:ext>
            </a:extLst>
          </p:cNvPr>
          <p:cNvGrpSpPr>
            <a:grpSpLocks/>
          </p:cNvGrpSpPr>
          <p:nvPr/>
        </p:nvGrpSpPr>
        <p:grpSpPr bwMode="auto">
          <a:xfrm>
            <a:off x="5435600" y="2636838"/>
            <a:ext cx="1223963" cy="576262"/>
            <a:chOff x="4513" y="1207"/>
            <a:chExt cx="771" cy="363"/>
          </a:xfrm>
        </p:grpSpPr>
        <p:grpSp>
          <p:nvGrpSpPr>
            <p:cNvPr id="7217" name="Group 14">
              <a:extLst>
                <a:ext uri="{FF2B5EF4-FFF2-40B4-BE49-F238E27FC236}">
                  <a16:creationId xmlns:a16="http://schemas.microsoft.com/office/drawing/2014/main" id="{EFC0BFE2-5A6B-4C5E-A550-188C7E2B3F05}"/>
                </a:ext>
              </a:extLst>
            </p:cNvPr>
            <p:cNvGrpSpPr>
              <a:grpSpLocks/>
            </p:cNvGrpSpPr>
            <p:nvPr/>
          </p:nvGrpSpPr>
          <p:grpSpPr bwMode="auto">
            <a:xfrm>
              <a:off x="4558" y="1207"/>
              <a:ext cx="726" cy="362"/>
              <a:chOff x="3288" y="845"/>
              <a:chExt cx="726" cy="362"/>
            </a:xfrm>
          </p:grpSpPr>
          <p:sp>
            <p:nvSpPr>
              <p:cNvPr id="7221" name="Line 15">
                <a:extLst>
                  <a:ext uri="{FF2B5EF4-FFF2-40B4-BE49-F238E27FC236}">
                    <a16:creationId xmlns:a16="http://schemas.microsoft.com/office/drawing/2014/main" id="{63DE76D5-79DA-4B20-B380-C429507D5591}"/>
                  </a:ext>
                </a:extLst>
              </p:cNvPr>
              <p:cNvSpPr>
                <a:spLocks noChangeShapeType="1"/>
              </p:cNvSpPr>
              <p:nvPr/>
            </p:nvSpPr>
            <p:spPr bwMode="auto">
              <a:xfrm flipV="1">
                <a:off x="3288" y="845"/>
                <a:ext cx="27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2" name="Line 16">
                <a:extLst>
                  <a:ext uri="{FF2B5EF4-FFF2-40B4-BE49-F238E27FC236}">
                    <a16:creationId xmlns:a16="http://schemas.microsoft.com/office/drawing/2014/main" id="{7144DA76-7A40-45DF-9FBB-C975718E96CA}"/>
                  </a:ext>
                </a:extLst>
              </p:cNvPr>
              <p:cNvSpPr>
                <a:spLocks noChangeShapeType="1"/>
              </p:cNvSpPr>
              <p:nvPr/>
            </p:nvSpPr>
            <p:spPr bwMode="auto">
              <a:xfrm>
                <a:off x="3288" y="1117"/>
                <a:ext cx="22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3" name="Line 17">
                <a:extLst>
                  <a:ext uri="{FF2B5EF4-FFF2-40B4-BE49-F238E27FC236}">
                    <a16:creationId xmlns:a16="http://schemas.microsoft.com/office/drawing/2014/main" id="{C32023A7-0A05-462F-8BD7-BCDCEE589181}"/>
                  </a:ext>
                </a:extLst>
              </p:cNvPr>
              <p:cNvSpPr>
                <a:spLocks noChangeShapeType="1"/>
              </p:cNvSpPr>
              <p:nvPr/>
            </p:nvSpPr>
            <p:spPr bwMode="auto">
              <a:xfrm>
                <a:off x="3560" y="845"/>
                <a:ext cx="363"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4" name="Line 18">
                <a:extLst>
                  <a:ext uri="{FF2B5EF4-FFF2-40B4-BE49-F238E27FC236}">
                    <a16:creationId xmlns:a16="http://schemas.microsoft.com/office/drawing/2014/main" id="{B37517C2-C14B-4A2C-BCA5-A6FC6734F8C8}"/>
                  </a:ext>
                </a:extLst>
              </p:cNvPr>
              <p:cNvSpPr>
                <a:spLocks noChangeShapeType="1"/>
              </p:cNvSpPr>
              <p:nvPr/>
            </p:nvSpPr>
            <p:spPr bwMode="auto">
              <a:xfrm flipV="1">
                <a:off x="3560" y="845"/>
                <a:ext cx="0" cy="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5" name="Line 19">
                <a:extLst>
                  <a:ext uri="{FF2B5EF4-FFF2-40B4-BE49-F238E27FC236}">
                    <a16:creationId xmlns:a16="http://schemas.microsoft.com/office/drawing/2014/main" id="{91BB8D64-DA32-4198-88C4-28B68F343293}"/>
                  </a:ext>
                </a:extLst>
              </p:cNvPr>
              <p:cNvSpPr>
                <a:spLocks noChangeShapeType="1"/>
              </p:cNvSpPr>
              <p:nvPr/>
            </p:nvSpPr>
            <p:spPr bwMode="auto">
              <a:xfrm flipV="1">
                <a:off x="3560" y="981"/>
                <a:ext cx="318"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6" name="Line 20">
                <a:extLst>
                  <a:ext uri="{FF2B5EF4-FFF2-40B4-BE49-F238E27FC236}">
                    <a16:creationId xmlns:a16="http://schemas.microsoft.com/office/drawing/2014/main" id="{A14CEE54-7169-4B62-A7D3-EB9D1F823014}"/>
                  </a:ext>
                </a:extLst>
              </p:cNvPr>
              <p:cNvSpPr>
                <a:spLocks noChangeShapeType="1"/>
              </p:cNvSpPr>
              <p:nvPr/>
            </p:nvSpPr>
            <p:spPr bwMode="auto">
              <a:xfrm flipV="1">
                <a:off x="3560" y="1162"/>
                <a:ext cx="409"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27" name="Oval 21">
                <a:extLst>
                  <a:ext uri="{FF2B5EF4-FFF2-40B4-BE49-F238E27FC236}">
                    <a16:creationId xmlns:a16="http://schemas.microsoft.com/office/drawing/2014/main" id="{D55A1F61-3F48-48EE-8030-D106E0BC47FB}"/>
                  </a:ext>
                </a:extLst>
              </p:cNvPr>
              <p:cNvSpPr>
                <a:spLocks noChangeArrowheads="1"/>
              </p:cNvSpPr>
              <p:nvPr/>
            </p:nvSpPr>
            <p:spPr bwMode="auto">
              <a:xfrm>
                <a:off x="3969" y="1162"/>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28" name="Oval 22">
                <a:extLst>
                  <a:ext uri="{FF2B5EF4-FFF2-40B4-BE49-F238E27FC236}">
                    <a16:creationId xmlns:a16="http://schemas.microsoft.com/office/drawing/2014/main" id="{53FCA9C8-8399-4013-8C49-6F9F9FCDB9A0}"/>
                  </a:ext>
                </a:extLst>
              </p:cNvPr>
              <p:cNvSpPr>
                <a:spLocks noChangeArrowheads="1"/>
              </p:cNvSpPr>
              <p:nvPr/>
            </p:nvSpPr>
            <p:spPr bwMode="auto">
              <a:xfrm>
                <a:off x="3878" y="981"/>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sp>
          <p:nvSpPr>
            <p:cNvPr id="7218" name="Oval 23">
              <a:extLst>
                <a:ext uri="{FF2B5EF4-FFF2-40B4-BE49-F238E27FC236}">
                  <a16:creationId xmlns:a16="http://schemas.microsoft.com/office/drawing/2014/main" id="{A9403AB0-451E-457C-9520-5700D312BA79}"/>
                </a:ext>
              </a:extLst>
            </p:cNvPr>
            <p:cNvSpPr>
              <a:spLocks noChangeArrowheads="1"/>
            </p:cNvSpPr>
            <p:nvPr/>
          </p:nvSpPr>
          <p:spPr bwMode="auto">
            <a:xfrm>
              <a:off x="4785" y="1525"/>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19" name="Oval 33">
              <a:extLst>
                <a:ext uri="{FF2B5EF4-FFF2-40B4-BE49-F238E27FC236}">
                  <a16:creationId xmlns:a16="http://schemas.microsoft.com/office/drawing/2014/main" id="{B01309AA-50FA-41BE-BCA3-687B6D3D4649}"/>
                </a:ext>
              </a:extLst>
            </p:cNvPr>
            <p:cNvSpPr>
              <a:spLocks noChangeArrowheads="1"/>
            </p:cNvSpPr>
            <p:nvPr/>
          </p:nvSpPr>
          <p:spPr bwMode="auto">
            <a:xfrm>
              <a:off x="4785" y="1207"/>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20" name="Oval 34">
              <a:extLst>
                <a:ext uri="{FF2B5EF4-FFF2-40B4-BE49-F238E27FC236}">
                  <a16:creationId xmlns:a16="http://schemas.microsoft.com/office/drawing/2014/main" id="{60F8455F-BBF6-467B-9328-A13BAACA4434}"/>
                </a:ext>
              </a:extLst>
            </p:cNvPr>
            <p:cNvSpPr>
              <a:spLocks noChangeArrowheads="1"/>
            </p:cNvSpPr>
            <p:nvPr/>
          </p:nvSpPr>
          <p:spPr bwMode="auto">
            <a:xfrm>
              <a:off x="4513" y="1434"/>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grpSp>
        <p:nvGrpSpPr>
          <p:cNvPr id="7174" name="Group 66">
            <a:extLst>
              <a:ext uri="{FF2B5EF4-FFF2-40B4-BE49-F238E27FC236}">
                <a16:creationId xmlns:a16="http://schemas.microsoft.com/office/drawing/2014/main" id="{4789DFD5-914B-45A5-90A3-873330553588}"/>
              </a:ext>
            </a:extLst>
          </p:cNvPr>
          <p:cNvGrpSpPr>
            <a:grpSpLocks/>
          </p:cNvGrpSpPr>
          <p:nvPr/>
        </p:nvGrpSpPr>
        <p:grpSpPr bwMode="auto">
          <a:xfrm>
            <a:off x="3779838" y="3429000"/>
            <a:ext cx="1223962" cy="576263"/>
            <a:chOff x="2109" y="1706"/>
            <a:chExt cx="771" cy="363"/>
          </a:xfrm>
        </p:grpSpPr>
        <p:grpSp>
          <p:nvGrpSpPr>
            <p:cNvPr id="7200" name="Group 49">
              <a:extLst>
                <a:ext uri="{FF2B5EF4-FFF2-40B4-BE49-F238E27FC236}">
                  <a16:creationId xmlns:a16="http://schemas.microsoft.com/office/drawing/2014/main" id="{D1D128D1-85CC-4BF2-9E4A-7F783AD03A87}"/>
                </a:ext>
              </a:extLst>
            </p:cNvPr>
            <p:cNvGrpSpPr>
              <a:grpSpLocks/>
            </p:cNvGrpSpPr>
            <p:nvPr/>
          </p:nvGrpSpPr>
          <p:grpSpPr bwMode="auto">
            <a:xfrm>
              <a:off x="2109" y="1706"/>
              <a:ext cx="771" cy="363"/>
              <a:chOff x="4513" y="1207"/>
              <a:chExt cx="771" cy="363"/>
            </a:xfrm>
          </p:grpSpPr>
          <p:grpSp>
            <p:nvGrpSpPr>
              <p:cNvPr id="7205" name="Group 50">
                <a:extLst>
                  <a:ext uri="{FF2B5EF4-FFF2-40B4-BE49-F238E27FC236}">
                    <a16:creationId xmlns:a16="http://schemas.microsoft.com/office/drawing/2014/main" id="{9ADB0396-D199-4C11-B698-B7665ABA1BDC}"/>
                  </a:ext>
                </a:extLst>
              </p:cNvPr>
              <p:cNvGrpSpPr>
                <a:grpSpLocks/>
              </p:cNvGrpSpPr>
              <p:nvPr/>
            </p:nvGrpSpPr>
            <p:grpSpPr bwMode="auto">
              <a:xfrm>
                <a:off x="4558" y="1207"/>
                <a:ext cx="726" cy="362"/>
                <a:chOff x="3288" y="845"/>
                <a:chExt cx="726" cy="362"/>
              </a:xfrm>
            </p:grpSpPr>
            <p:sp>
              <p:nvSpPr>
                <p:cNvPr id="7209" name="Line 51">
                  <a:extLst>
                    <a:ext uri="{FF2B5EF4-FFF2-40B4-BE49-F238E27FC236}">
                      <a16:creationId xmlns:a16="http://schemas.microsoft.com/office/drawing/2014/main" id="{A4D545D6-7F0D-45DE-96EE-417C891FD34B}"/>
                    </a:ext>
                  </a:extLst>
                </p:cNvPr>
                <p:cNvSpPr>
                  <a:spLocks noChangeShapeType="1"/>
                </p:cNvSpPr>
                <p:nvPr/>
              </p:nvSpPr>
              <p:spPr bwMode="auto">
                <a:xfrm flipV="1">
                  <a:off x="3288" y="845"/>
                  <a:ext cx="272"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0" name="Line 52">
                  <a:extLst>
                    <a:ext uri="{FF2B5EF4-FFF2-40B4-BE49-F238E27FC236}">
                      <a16:creationId xmlns:a16="http://schemas.microsoft.com/office/drawing/2014/main" id="{F59929FD-FEC1-4C6B-9B01-684EF2DF286F}"/>
                    </a:ext>
                  </a:extLst>
                </p:cNvPr>
                <p:cNvSpPr>
                  <a:spLocks noChangeShapeType="1"/>
                </p:cNvSpPr>
                <p:nvPr/>
              </p:nvSpPr>
              <p:spPr bwMode="auto">
                <a:xfrm>
                  <a:off x="3288" y="1117"/>
                  <a:ext cx="22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1" name="Line 53">
                  <a:extLst>
                    <a:ext uri="{FF2B5EF4-FFF2-40B4-BE49-F238E27FC236}">
                      <a16:creationId xmlns:a16="http://schemas.microsoft.com/office/drawing/2014/main" id="{56CA3676-BC84-4D2D-8569-7E9794DEE22F}"/>
                    </a:ext>
                  </a:extLst>
                </p:cNvPr>
                <p:cNvSpPr>
                  <a:spLocks noChangeShapeType="1"/>
                </p:cNvSpPr>
                <p:nvPr/>
              </p:nvSpPr>
              <p:spPr bwMode="auto">
                <a:xfrm>
                  <a:off x="3560" y="845"/>
                  <a:ext cx="363"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2" name="Line 54">
                  <a:extLst>
                    <a:ext uri="{FF2B5EF4-FFF2-40B4-BE49-F238E27FC236}">
                      <a16:creationId xmlns:a16="http://schemas.microsoft.com/office/drawing/2014/main" id="{E55D6EA9-F9A0-4187-8699-850A67C1C889}"/>
                    </a:ext>
                  </a:extLst>
                </p:cNvPr>
                <p:cNvSpPr>
                  <a:spLocks noChangeShapeType="1"/>
                </p:cNvSpPr>
                <p:nvPr/>
              </p:nvSpPr>
              <p:spPr bwMode="auto">
                <a:xfrm flipV="1">
                  <a:off x="3560" y="845"/>
                  <a:ext cx="0" cy="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3" name="Line 55">
                  <a:extLst>
                    <a:ext uri="{FF2B5EF4-FFF2-40B4-BE49-F238E27FC236}">
                      <a16:creationId xmlns:a16="http://schemas.microsoft.com/office/drawing/2014/main" id="{0EF5E4DB-78D3-4E53-B828-95F535C4D821}"/>
                    </a:ext>
                  </a:extLst>
                </p:cNvPr>
                <p:cNvSpPr>
                  <a:spLocks noChangeShapeType="1"/>
                </p:cNvSpPr>
                <p:nvPr/>
              </p:nvSpPr>
              <p:spPr bwMode="auto">
                <a:xfrm flipV="1">
                  <a:off x="3560" y="981"/>
                  <a:ext cx="318"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4" name="Line 56">
                  <a:extLst>
                    <a:ext uri="{FF2B5EF4-FFF2-40B4-BE49-F238E27FC236}">
                      <a16:creationId xmlns:a16="http://schemas.microsoft.com/office/drawing/2014/main" id="{05C2DB6A-A93B-4453-8BBE-647E424CEB3D}"/>
                    </a:ext>
                  </a:extLst>
                </p:cNvPr>
                <p:cNvSpPr>
                  <a:spLocks noChangeShapeType="1"/>
                </p:cNvSpPr>
                <p:nvPr/>
              </p:nvSpPr>
              <p:spPr bwMode="auto">
                <a:xfrm flipV="1">
                  <a:off x="3560" y="1162"/>
                  <a:ext cx="409"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15" name="Oval 57">
                  <a:extLst>
                    <a:ext uri="{FF2B5EF4-FFF2-40B4-BE49-F238E27FC236}">
                      <a16:creationId xmlns:a16="http://schemas.microsoft.com/office/drawing/2014/main" id="{2E9E698D-3110-4C51-A404-36A5DD6F2AE9}"/>
                    </a:ext>
                  </a:extLst>
                </p:cNvPr>
                <p:cNvSpPr>
                  <a:spLocks noChangeArrowheads="1"/>
                </p:cNvSpPr>
                <p:nvPr/>
              </p:nvSpPr>
              <p:spPr bwMode="auto">
                <a:xfrm>
                  <a:off x="3969" y="1162"/>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16" name="Oval 58">
                  <a:extLst>
                    <a:ext uri="{FF2B5EF4-FFF2-40B4-BE49-F238E27FC236}">
                      <a16:creationId xmlns:a16="http://schemas.microsoft.com/office/drawing/2014/main" id="{D9CECC51-A7A0-4B40-8573-4F0C6A994381}"/>
                    </a:ext>
                  </a:extLst>
                </p:cNvPr>
                <p:cNvSpPr>
                  <a:spLocks noChangeArrowheads="1"/>
                </p:cNvSpPr>
                <p:nvPr/>
              </p:nvSpPr>
              <p:spPr bwMode="auto">
                <a:xfrm>
                  <a:off x="3878" y="981"/>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sp>
            <p:nvSpPr>
              <p:cNvPr id="7206" name="Oval 59">
                <a:extLst>
                  <a:ext uri="{FF2B5EF4-FFF2-40B4-BE49-F238E27FC236}">
                    <a16:creationId xmlns:a16="http://schemas.microsoft.com/office/drawing/2014/main" id="{674CAF65-418A-4398-B107-324A036465CB}"/>
                  </a:ext>
                </a:extLst>
              </p:cNvPr>
              <p:cNvSpPr>
                <a:spLocks noChangeArrowheads="1"/>
              </p:cNvSpPr>
              <p:nvPr/>
            </p:nvSpPr>
            <p:spPr bwMode="auto">
              <a:xfrm>
                <a:off x="4785" y="1525"/>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07" name="Oval 60">
                <a:extLst>
                  <a:ext uri="{FF2B5EF4-FFF2-40B4-BE49-F238E27FC236}">
                    <a16:creationId xmlns:a16="http://schemas.microsoft.com/office/drawing/2014/main" id="{14F26D67-7377-4910-A8F8-047BC4653042}"/>
                  </a:ext>
                </a:extLst>
              </p:cNvPr>
              <p:cNvSpPr>
                <a:spLocks noChangeArrowheads="1"/>
              </p:cNvSpPr>
              <p:nvPr/>
            </p:nvSpPr>
            <p:spPr bwMode="auto">
              <a:xfrm>
                <a:off x="4785" y="1207"/>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208" name="Oval 61">
                <a:extLst>
                  <a:ext uri="{FF2B5EF4-FFF2-40B4-BE49-F238E27FC236}">
                    <a16:creationId xmlns:a16="http://schemas.microsoft.com/office/drawing/2014/main" id="{78F1B3F2-CA37-4D0E-BE41-8D35C7814E1C}"/>
                  </a:ext>
                </a:extLst>
              </p:cNvPr>
              <p:cNvSpPr>
                <a:spLocks noChangeArrowheads="1"/>
              </p:cNvSpPr>
              <p:nvPr/>
            </p:nvSpPr>
            <p:spPr bwMode="auto">
              <a:xfrm>
                <a:off x="4513" y="1434"/>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sp>
          <p:nvSpPr>
            <p:cNvPr id="7201" name="Line 62">
              <a:extLst>
                <a:ext uri="{FF2B5EF4-FFF2-40B4-BE49-F238E27FC236}">
                  <a16:creationId xmlns:a16="http://schemas.microsoft.com/office/drawing/2014/main" id="{619A3677-453B-4DEB-8E3E-799A2009E193}"/>
                </a:ext>
              </a:extLst>
            </p:cNvPr>
            <p:cNvSpPr>
              <a:spLocks noChangeShapeType="1"/>
            </p:cNvSpPr>
            <p:nvPr/>
          </p:nvSpPr>
          <p:spPr bwMode="auto">
            <a:xfrm>
              <a:off x="2154" y="1933"/>
              <a:ext cx="72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02" name="Line 63">
              <a:extLst>
                <a:ext uri="{FF2B5EF4-FFF2-40B4-BE49-F238E27FC236}">
                  <a16:creationId xmlns:a16="http://schemas.microsoft.com/office/drawing/2014/main" id="{952275BD-6CC6-471C-8ECA-00494E11831C}"/>
                </a:ext>
              </a:extLst>
            </p:cNvPr>
            <p:cNvSpPr>
              <a:spLocks noChangeShapeType="1"/>
            </p:cNvSpPr>
            <p:nvPr/>
          </p:nvSpPr>
          <p:spPr bwMode="auto">
            <a:xfrm>
              <a:off x="2381" y="1752"/>
              <a:ext cx="499"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03" name="Line 64">
              <a:extLst>
                <a:ext uri="{FF2B5EF4-FFF2-40B4-BE49-F238E27FC236}">
                  <a16:creationId xmlns:a16="http://schemas.microsoft.com/office/drawing/2014/main" id="{B3620AEC-C263-423E-9D6F-B7C69343DB58}"/>
                </a:ext>
              </a:extLst>
            </p:cNvPr>
            <p:cNvSpPr>
              <a:spLocks noChangeShapeType="1"/>
            </p:cNvSpPr>
            <p:nvPr/>
          </p:nvSpPr>
          <p:spPr bwMode="auto">
            <a:xfrm>
              <a:off x="2744" y="1842"/>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204" name="Line 65">
              <a:extLst>
                <a:ext uri="{FF2B5EF4-FFF2-40B4-BE49-F238E27FC236}">
                  <a16:creationId xmlns:a16="http://schemas.microsoft.com/office/drawing/2014/main" id="{CA66F3D8-0E56-4964-B667-E9635F7E0AE0}"/>
                </a:ext>
              </a:extLst>
            </p:cNvPr>
            <p:cNvSpPr>
              <a:spLocks noChangeShapeType="1"/>
            </p:cNvSpPr>
            <p:nvPr/>
          </p:nvSpPr>
          <p:spPr bwMode="auto">
            <a:xfrm flipV="1">
              <a:off x="2154" y="1842"/>
              <a:ext cx="59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7175" name="Group 78">
            <a:extLst>
              <a:ext uri="{FF2B5EF4-FFF2-40B4-BE49-F238E27FC236}">
                <a16:creationId xmlns:a16="http://schemas.microsoft.com/office/drawing/2014/main" id="{FA48DAFE-2AA6-48A8-8D7C-E3F44D323433}"/>
              </a:ext>
            </a:extLst>
          </p:cNvPr>
          <p:cNvGrpSpPr>
            <a:grpSpLocks/>
          </p:cNvGrpSpPr>
          <p:nvPr/>
        </p:nvGrpSpPr>
        <p:grpSpPr bwMode="auto">
          <a:xfrm>
            <a:off x="5580063" y="4292600"/>
            <a:ext cx="1223962" cy="576263"/>
            <a:chOff x="4558" y="2432"/>
            <a:chExt cx="771" cy="363"/>
          </a:xfrm>
        </p:grpSpPr>
        <p:sp>
          <p:nvSpPr>
            <p:cNvPr id="7192" name="Line 69">
              <a:extLst>
                <a:ext uri="{FF2B5EF4-FFF2-40B4-BE49-F238E27FC236}">
                  <a16:creationId xmlns:a16="http://schemas.microsoft.com/office/drawing/2014/main" id="{503F4E13-CC0F-4274-8CCE-CF055397B0C4}"/>
                </a:ext>
              </a:extLst>
            </p:cNvPr>
            <p:cNvSpPr>
              <a:spLocks noChangeShapeType="1"/>
            </p:cNvSpPr>
            <p:nvPr/>
          </p:nvSpPr>
          <p:spPr bwMode="auto">
            <a:xfrm>
              <a:off x="4603" y="2704"/>
              <a:ext cx="22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93" name="Line 70">
              <a:extLst>
                <a:ext uri="{FF2B5EF4-FFF2-40B4-BE49-F238E27FC236}">
                  <a16:creationId xmlns:a16="http://schemas.microsoft.com/office/drawing/2014/main" id="{FAF60511-4207-48C5-BFCA-68EF2CB6D5D6}"/>
                </a:ext>
              </a:extLst>
            </p:cNvPr>
            <p:cNvSpPr>
              <a:spLocks noChangeShapeType="1"/>
            </p:cNvSpPr>
            <p:nvPr/>
          </p:nvSpPr>
          <p:spPr bwMode="auto">
            <a:xfrm>
              <a:off x="4875" y="2432"/>
              <a:ext cx="363"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94" name="Line 72">
              <a:extLst>
                <a:ext uri="{FF2B5EF4-FFF2-40B4-BE49-F238E27FC236}">
                  <a16:creationId xmlns:a16="http://schemas.microsoft.com/office/drawing/2014/main" id="{6F096923-F356-43A5-89B9-F6DEE1522EC3}"/>
                </a:ext>
              </a:extLst>
            </p:cNvPr>
            <p:cNvSpPr>
              <a:spLocks noChangeShapeType="1"/>
            </p:cNvSpPr>
            <p:nvPr/>
          </p:nvSpPr>
          <p:spPr bwMode="auto">
            <a:xfrm flipV="1">
              <a:off x="4875" y="2749"/>
              <a:ext cx="409"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95" name="Oval 73">
              <a:extLst>
                <a:ext uri="{FF2B5EF4-FFF2-40B4-BE49-F238E27FC236}">
                  <a16:creationId xmlns:a16="http://schemas.microsoft.com/office/drawing/2014/main" id="{51C07970-A850-4CA5-A55D-A76F6566C365}"/>
                </a:ext>
              </a:extLst>
            </p:cNvPr>
            <p:cNvSpPr>
              <a:spLocks noChangeArrowheads="1"/>
            </p:cNvSpPr>
            <p:nvPr/>
          </p:nvSpPr>
          <p:spPr bwMode="auto">
            <a:xfrm>
              <a:off x="5284" y="2749"/>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6" name="Oval 74">
              <a:extLst>
                <a:ext uri="{FF2B5EF4-FFF2-40B4-BE49-F238E27FC236}">
                  <a16:creationId xmlns:a16="http://schemas.microsoft.com/office/drawing/2014/main" id="{F3BD7FDB-0245-459E-86B8-C85DAE56A9A2}"/>
                </a:ext>
              </a:extLst>
            </p:cNvPr>
            <p:cNvSpPr>
              <a:spLocks noChangeArrowheads="1"/>
            </p:cNvSpPr>
            <p:nvPr/>
          </p:nvSpPr>
          <p:spPr bwMode="auto">
            <a:xfrm>
              <a:off x="5193" y="2568"/>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7" name="Oval 75">
              <a:extLst>
                <a:ext uri="{FF2B5EF4-FFF2-40B4-BE49-F238E27FC236}">
                  <a16:creationId xmlns:a16="http://schemas.microsoft.com/office/drawing/2014/main" id="{0D4DE7B0-8AC6-4AEC-BF11-375D1F5B7589}"/>
                </a:ext>
              </a:extLst>
            </p:cNvPr>
            <p:cNvSpPr>
              <a:spLocks noChangeArrowheads="1"/>
            </p:cNvSpPr>
            <p:nvPr/>
          </p:nvSpPr>
          <p:spPr bwMode="auto">
            <a:xfrm>
              <a:off x="4830" y="2750"/>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8" name="Oval 76">
              <a:extLst>
                <a:ext uri="{FF2B5EF4-FFF2-40B4-BE49-F238E27FC236}">
                  <a16:creationId xmlns:a16="http://schemas.microsoft.com/office/drawing/2014/main" id="{2AAE458A-F57F-46FD-8895-18443C7CC2A2}"/>
                </a:ext>
              </a:extLst>
            </p:cNvPr>
            <p:cNvSpPr>
              <a:spLocks noChangeArrowheads="1"/>
            </p:cNvSpPr>
            <p:nvPr/>
          </p:nvSpPr>
          <p:spPr bwMode="auto">
            <a:xfrm>
              <a:off x="4830" y="2432"/>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9" name="Oval 77">
              <a:extLst>
                <a:ext uri="{FF2B5EF4-FFF2-40B4-BE49-F238E27FC236}">
                  <a16:creationId xmlns:a16="http://schemas.microsoft.com/office/drawing/2014/main" id="{F2BFB5AE-AE5A-4AA0-BD7B-289CA8A63B83}"/>
                </a:ext>
              </a:extLst>
            </p:cNvPr>
            <p:cNvSpPr>
              <a:spLocks noChangeArrowheads="1"/>
            </p:cNvSpPr>
            <p:nvPr/>
          </p:nvSpPr>
          <p:spPr bwMode="auto">
            <a:xfrm>
              <a:off x="4558" y="2659"/>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grpSp>
        <p:nvGrpSpPr>
          <p:cNvPr id="7176" name="Group 95">
            <a:extLst>
              <a:ext uri="{FF2B5EF4-FFF2-40B4-BE49-F238E27FC236}">
                <a16:creationId xmlns:a16="http://schemas.microsoft.com/office/drawing/2014/main" id="{AFC7F66D-A29C-4F3A-99A9-8135BC5FB902}"/>
              </a:ext>
            </a:extLst>
          </p:cNvPr>
          <p:cNvGrpSpPr>
            <a:grpSpLocks/>
          </p:cNvGrpSpPr>
          <p:nvPr/>
        </p:nvGrpSpPr>
        <p:grpSpPr bwMode="auto">
          <a:xfrm>
            <a:off x="3779838" y="5300663"/>
            <a:ext cx="1223962" cy="923925"/>
            <a:chOff x="2381" y="3339"/>
            <a:chExt cx="771" cy="582"/>
          </a:xfrm>
        </p:grpSpPr>
        <p:sp>
          <p:nvSpPr>
            <p:cNvPr id="7177" name="Text Box 89">
              <a:extLst>
                <a:ext uri="{FF2B5EF4-FFF2-40B4-BE49-F238E27FC236}">
                  <a16:creationId xmlns:a16="http://schemas.microsoft.com/office/drawing/2014/main" id="{FC5E698D-2F24-49E8-AE5F-AAD9B61756CB}"/>
                </a:ext>
              </a:extLst>
            </p:cNvPr>
            <p:cNvSpPr txBox="1">
              <a:spLocks noChangeArrowheads="1"/>
            </p:cNvSpPr>
            <p:nvPr/>
          </p:nvSpPr>
          <p:spPr bwMode="auto">
            <a:xfrm>
              <a:off x="2426" y="3702"/>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6</a:t>
              </a:r>
              <a:endParaRPr lang="en-US" altLang="lv-LV" sz="1200"/>
            </a:p>
          </p:txBody>
        </p:sp>
        <p:sp>
          <p:nvSpPr>
            <p:cNvPr id="7178" name="Text Box 90">
              <a:extLst>
                <a:ext uri="{FF2B5EF4-FFF2-40B4-BE49-F238E27FC236}">
                  <a16:creationId xmlns:a16="http://schemas.microsoft.com/office/drawing/2014/main" id="{1A0517FD-AFA9-421A-B24E-F4D68DC292FD}"/>
                </a:ext>
              </a:extLst>
            </p:cNvPr>
            <p:cNvSpPr txBox="1">
              <a:spLocks noChangeArrowheads="1"/>
            </p:cNvSpPr>
            <p:nvPr/>
          </p:nvSpPr>
          <p:spPr bwMode="auto">
            <a:xfrm>
              <a:off x="2835" y="3748"/>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2</a:t>
              </a:r>
              <a:endParaRPr lang="en-US" altLang="lv-LV" sz="1200"/>
            </a:p>
          </p:txBody>
        </p:sp>
        <p:grpSp>
          <p:nvGrpSpPr>
            <p:cNvPr id="7179" name="Group 94">
              <a:extLst>
                <a:ext uri="{FF2B5EF4-FFF2-40B4-BE49-F238E27FC236}">
                  <a16:creationId xmlns:a16="http://schemas.microsoft.com/office/drawing/2014/main" id="{46D5BD5D-9E9F-4373-824F-16B9E1EDE4F6}"/>
                </a:ext>
              </a:extLst>
            </p:cNvPr>
            <p:cNvGrpSpPr>
              <a:grpSpLocks/>
            </p:cNvGrpSpPr>
            <p:nvPr/>
          </p:nvGrpSpPr>
          <p:grpSpPr bwMode="auto">
            <a:xfrm>
              <a:off x="2381" y="3339"/>
              <a:ext cx="771" cy="454"/>
              <a:chOff x="2200" y="2659"/>
              <a:chExt cx="771" cy="454"/>
            </a:xfrm>
          </p:grpSpPr>
          <p:grpSp>
            <p:nvGrpSpPr>
              <p:cNvPr id="7180" name="Group 67">
                <a:extLst>
                  <a:ext uri="{FF2B5EF4-FFF2-40B4-BE49-F238E27FC236}">
                    <a16:creationId xmlns:a16="http://schemas.microsoft.com/office/drawing/2014/main" id="{358476A1-3D3F-4BF1-B618-3D87BE921F9F}"/>
                  </a:ext>
                </a:extLst>
              </p:cNvPr>
              <p:cNvGrpSpPr>
                <a:grpSpLocks/>
              </p:cNvGrpSpPr>
              <p:nvPr/>
            </p:nvGrpSpPr>
            <p:grpSpPr bwMode="auto">
              <a:xfrm>
                <a:off x="2200" y="2750"/>
                <a:ext cx="771" cy="363"/>
                <a:chOff x="3152" y="2069"/>
                <a:chExt cx="771" cy="363"/>
              </a:xfrm>
            </p:grpSpPr>
            <p:sp>
              <p:nvSpPr>
                <p:cNvPr id="7183" name="Line 39">
                  <a:extLst>
                    <a:ext uri="{FF2B5EF4-FFF2-40B4-BE49-F238E27FC236}">
                      <a16:creationId xmlns:a16="http://schemas.microsoft.com/office/drawing/2014/main" id="{F054F8CF-3BE2-41E1-88CE-A0F1C9AB02E0}"/>
                    </a:ext>
                  </a:extLst>
                </p:cNvPr>
                <p:cNvSpPr>
                  <a:spLocks noChangeShapeType="1"/>
                </p:cNvSpPr>
                <p:nvPr/>
              </p:nvSpPr>
              <p:spPr bwMode="auto">
                <a:xfrm>
                  <a:off x="3197" y="2341"/>
                  <a:ext cx="22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84" name="Line 40">
                  <a:extLst>
                    <a:ext uri="{FF2B5EF4-FFF2-40B4-BE49-F238E27FC236}">
                      <a16:creationId xmlns:a16="http://schemas.microsoft.com/office/drawing/2014/main" id="{D6A2F5F4-59D4-4FE6-997C-453EA32ABBFA}"/>
                    </a:ext>
                  </a:extLst>
                </p:cNvPr>
                <p:cNvSpPr>
                  <a:spLocks noChangeShapeType="1"/>
                </p:cNvSpPr>
                <p:nvPr/>
              </p:nvSpPr>
              <p:spPr bwMode="auto">
                <a:xfrm>
                  <a:off x="3469" y="2069"/>
                  <a:ext cx="363"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85" name="Line 42">
                  <a:extLst>
                    <a:ext uri="{FF2B5EF4-FFF2-40B4-BE49-F238E27FC236}">
                      <a16:creationId xmlns:a16="http://schemas.microsoft.com/office/drawing/2014/main" id="{80A31102-7477-4706-A1E0-C838A9C39565}"/>
                    </a:ext>
                  </a:extLst>
                </p:cNvPr>
                <p:cNvSpPr>
                  <a:spLocks noChangeShapeType="1"/>
                </p:cNvSpPr>
                <p:nvPr/>
              </p:nvSpPr>
              <p:spPr bwMode="auto">
                <a:xfrm flipV="1">
                  <a:off x="3469" y="2205"/>
                  <a:ext cx="318"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86" name="Line 43">
                  <a:extLst>
                    <a:ext uri="{FF2B5EF4-FFF2-40B4-BE49-F238E27FC236}">
                      <a16:creationId xmlns:a16="http://schemas.microsoft.com/office/drawing/2014/main" id="{56D001A0-1EEE-424B-976E-A02979555162}"/>
                    </a:ext>
                  </a:extLst>
                </p:cNvPr>
                <p:cNvSpPr>
                  <a:spLocks noChangeShapeType="1"/>
                </p:cNvSpPr>
                <p:nvPr/>
              </p:nvSpPr>
              <p:spPr bwMode="auto">
                <a:xfrm flipV="1">
                  <a:off x="3469" y="2386"/>
                  <a:ext cx="409"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7187" name="Oval 44">
                  <a:extLst>
                    <a:ext uri="{FF2B5EF4-FFF2-40B4-BE49-F238E27FC236}">
                      <a16:creationId xmlns:a16="http://schemas.microsoft.com/office/drawing/2014/main" id="{2A7B9CC5-EE36-4817-8023-73C2B4AD0719}"/>
                    </a:ext>
                  </a:extLst>
                </p:cNvPr>
                <p:cNvSpPr>
                  <a:spLocks noChangeArrowheads="1"/>
                </p:cNvSpPr>
                <p:nvPr/>
              </p:nvSpPr>
              <p:spPr bwMode="auto">
                <a:xfrm>
                  <a:off x="3878" y="2386"/>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88" name="Oval 45">
                  <a:extLst>
                    <a:ext uri="{FF2B5EF4-FFF2-40B4-BE49-F238E27FC236}">
                      <a16:creationId xmlns:a16="http://schemas.microsoft.com/office/drawing/2014/main" id="{81A11B98-CD18-43A7-B387-88CC46E712CB}"/>
                    </a:ext>
                  </a:extLst>
                </p:cNvPr>
                <p:cNvSpPr>
                  <a:spLocks noChangeArrowheads="1"/>
                </p:cNvSpPr>
                <p:nvPr/>
              </p:nvSpPr>
              <p:spPr bwMode="auto">
                <a:xfrm>
                  <a:off x="3787" y="2205"/>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89" name="Oval 46">
                  <a:extLst>
                    <a:ext uri="{FF2B5EF4-FFF2-40B4-BE49-F238E27FC236}">
                      <a16:creationId xmlns:a16="http://schemas.microsoft.com/office/drawing/2014/main" id="{42546A8A-F170-4E16-93EA-1DBA33CA57E7}"/>
                    </a:ext>
                  </a:extLst>
                </p:cNvPr>
                <p:cNvSpPr>
                  <a:spLocks noChangeArrowheads="1"/>
                </p:cNvSpPr>
                <p:nvPr/>
              </p:nvSpPr>
              <p:spPr bwMode="auto">
                <a:xfrm>
                  <a:off x="3424" y="2387"/>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0" name="Oval 47">
                  <a:extLst>
                    <a:ext uri="{FF2B5EF4-FFF2-40B4-BE49-F238E27FC236}">
                      <a16:creationId xmlns:a16="http://schemas.microsoft.com/office/drawing/2014/main" id="{D0070D98-FD35-4CD4-92E9-6A123A497517}"/>
                    </a:ext>
                  </a:extLst>
                </p:cNvPr>
                <p:cNvSpPr>
                  <a:spLocks noChangeArrowheads="1"/>
                </p:cNvSpPr>
                <p:nvPr/>
              </p:nvSpPr>
              <p:spPr bwMode="auto">
                <a:xfrm>
                  <a:off x="3424" y="2069"/>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7191" name="Oval 48">
                  <a:extLst>
                    <a:ext uri="{FF2B5EF4-FFF2-40B4-BE49-F238E27FC236}">
                      <a16:creationId xmlns:a16="http://schemas.microsoft.com/office/drawing/2014/main" id="{554809F9-1713-4AFD-AF5E-56436B2AB114}"/>
                    </a:ext>
                  </a:extLst>
                </p:cNvPr>
                <p:cNvSpPr>
                  <a:spLocks noChangeArrowheads="1"/>
                </p:cNvSpPr>
                <p:nvPr/>
              </p:nvSpPr>
              <p:spPr bwMode="auto">
                <a:xfrm>
                  <a:off x="3152" y="2296"/>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grpSp>
          <p:sp>
            <p:nvSpPr>
              <p:cNvPr id="7181" name="Text Box 91">
                <a:extLst>
                  <a:ext uri="{FF2B5EF4-FFF2-40B4-BE49-F238E27FC236}">
                    <a16:creationId xmlns:a16="http://schemas.microsoft.com/office/drawing/2014/main" id="{60BCD33D-8FEB-4B17-BEC4-14D02B8FEF0C}"/>
                  </a:ext>
                </a:extLst>
              </p:cNvPr>
              <p:cNvSpPr txBox="1">
                <a:spLocks noChangeArrowheads="1"/>
              </p:cNvSpPr>
              <p:nvPr/>
            </p:nvSpPr>
            <p:spPr bwMode="auto">
              <a:xfrm>
                <a:off x="2562" y="2886"/>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1</a:t>
                </a:r>
                <a:endParaRPr lang="en-US" altLang="lv-LV" sz="1200"/>
              </a:p>
            </p:txBody>
          </p:sp>
          <p:sp>
            <p:nvSpPr>
              <p:cNvPr id="7182" name="Text Box 93">
                <a:extLst>
                  <a:ext uri="{FF2B5EF4-FFF2-40B4-BE49-F238E27FC236}">
                    <a16:creationId xmlns:a16="http://schemas.microsoft.com/office/drawing/2014/main" id="{11B81E85-6CC0-4DB3-AD04-00568D62CD46}"/>
                  </a:ext>
                </a:extLst>
              </p:cNvPr>
              <p:cNvSpPr txBox="1">
                <a:spLocks noChangeArrowheads="1"/>
              </p:cNvSpPr>
              <p:nvPr/>
            </p:nvSpPr>
            <p:spPr bwMode="auto">
              <a:xfrm>
                <a:off x="2562" y="265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3</a:t>
                </a:r>
                <a:endParaRPr lang="en-US" altLang="lv-LV" sz="120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0F0B-D07B-4D27-9610-CD715752143F}"/>
              </a:ext>
            </a:extLst>
          </p:cNvPr>
          <p:cNvSpPr>
            <a:spLocks noGrp="1"/>
          </p:cNvSpPr>
          <p:nvPr>
            <p:ph type="title"/>
          </p:nvPr>
        </p:nvSpPr>
        <p:spPr/>
        <p:txBody>
          <a:bodyPr/>
          <a:lstStyle/>
          <a:p>
            <a:r>
              <a:rPr lang="lv-LV" dirty="0"/>
              <a:t>Grafu pielietojums</a:t>
            </a:r>
          </a:p>
        </p:txBody>
      </p:sp>
      <p:sp>
        <p:nvSpPr>
          <p:cNvPr id="3" name="Content Placeholder 2">
            <a:extLst>
              <a:ext uri="{FF2B5EF4-FFF2-40B4-BE49-F238E27FC236}">
                <a16:creationId xmlns:a16="http://schemas.microsoft.com/office/drawing/2014/main" id="{DBB03DAA-08E3-4349-A80F-6F5A8F5675EF}"/>
              </a:ext>
            </a:extLst>
          </p:cNvPr>
          <p:cNvSpPr>
            <a:spLocks noGrp="1"/>
          </p:cNvSpPr>
          <p:nvPr>
            <p:ph idx="1"/>
          </p:nvPr>
        </p:nvSpPr>
        <p:spPr/>
        <p:txBody>
          <a:bodyPr/>
          <a:lstStyle/>
          <a:p>
            <a:r>
              <a:rPr lang="lv-LV" sz="2000" dirty="0"/>
              <a:t>Kartogrāfijā, navigācijas sistēmās – maršruta plānošana, īsākā, ātrākā vai lētākā ceļa atrašana</a:t>
            </a:r>
          </a:p>
          <a:p>
            <a:r>
              <a:rPr lang="lv-LV" sz="2000" dirty="0"/>
              <a:t>Preču loģistikā – ikdienā vajadzīgs optimāls maršruts, kas sākas un beidzas vienā un tajā pašā punktā un ietver visus piegādes punktus</a:t>
            </a:r>
          </a:p>
          <a:p>
            <a:r>
              <a:rPr lang="lv-LV" sz="2000" dirty="0"/>
              <a:t>Dažāda veida komunikāciju tīklos - maksimālās plūsmas noteikšanai</a:t>
            </a:r>
          </a:p>
          <a:p>
            <a:r>
              <a:rPr lang="lv-LV" sz="2000" dirty="0"/>
              <a:t>Darbinieku noslodzes plānošanai</a:t>
            </a:r>
          </a:p>
          <a:p>
            <a:r>
              <a:rPr lang="lv-LV" sz="2000" dirty="0"/>
              <a:t>Fizikā un ķīmijā molekulu pētīšanai</a:t>
            </a:r>
          </a:p>
          <a:p>
            <a:r>
              <a:rPr lang="lv-LV" sz="2000" dirty="0"/>
              <a:t>Lingvistikā dažādu valodu struktūras pētījumos</a:t>
            </a:r>
          </a:p>
          <a:p>
            <a:r>
              <a:rPr lang="lv-LV" sz="2000" dirty="0"/>
              <a:t>Spēļu teorijā</a:t>
            </a:r>
          </a:p>
          <a:p>
            <a:r>
              <a:rPr lang="lv-LV" sz="2000" dirty="0"/>
              <a:t>Matemātikā un vēl citās nozarēs</a:t>
            </a:r>
            <a:endParaRPr lang="lv-LV" sz="2000" dirty="0">
              <a:hlinkClick r:id="rId2"/>
            </a:endParaRPr>
          </a:p>
          <a:p>
            <a:pPr marL="0" indent="0">
              <a:buNone/>
            </a:pPr>
            <a:endParaRPr lang="lv-LV" sz="2000" dirty="0">
              <a:hlinkClick r:id="rId2"/>
            </a:endParaRPr>
          </a:p>
          <a:p>
            <a:r>
              <a:rPr lang="lv-LV" sz="2000" dirty="0">
                <a:hlinkClick r:id="rId2"/>
              </a:rPr>
              <a:t>https://www.yumpu.com/lv/document/read/36941367/grafu-teorija-un-tas-pielietojumi-lu-nms-latvijas-universitate</a:t>
            </a:r>
            <a:endParaRPr lang="lv-LV" sz="2000" dirty="0"/>
          </a:p>
        </p:txBody>
      </p:sp>
    </p:spTree>
    <p:extLst>
      <p:ext uri="{BB962C8B-B14F-4D97-AF65-F5344CB8AC3E}">
        <p14:creationId xmlns:p14="http://schemas.microsoft.com/office/powerpoint/2010/main" val="585566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688BB7D-3273-4C8B-803E-8694864D07CB}"/>
              </a:ext>
            </a:extLst>
          </p:cNvPr>
          <p:cNvSpPr>
            <a:spLocks noGrp="1" noChangeArrowheads="1"/>
          </p:cNvSpPr>
          <p:nvPr>
            <p:ph type="title"/>
          </p:nvPr>
        </p:nvSpPr>
        <p:spPr/>
        <p:txBody>
          <a:bodyPr/>
          <a:lstStyle/>
          <a:p>
            <a:pPr eaLnBrk="1" hangingPunct="1"/>
            <a:r>
              <a:rPr lang="lv-LV" altLang="lv-LV" sz="4000"/>
              <a:t>Grafa uzdošana (datu struktūras)</a:t>
            </a:r>
            <a:endParaRPr lang="en-US" altLang="lv-LV" sz="4000"/>
          </a:p>
        </p:txBody>
      </p:sp>
      <p:sp>
        <p:nvSpPr>
          <p:cNvPr id="8195" name="Rectangle 3">
            <a:extLst>
              <a:ext uri="{FF2B5EF4-FFF2-40B4-BE49-F238E27FC236}">
                <a16:creationId xmlns:a16="http://schemas.microsoft.com/office/drawing/2014/main" id="{FB34010E-A9E6-4ECC-BEEB-817B15493FAB}"/>
              </a:ext>
            </a:extLst>
          </p:cNvPr>
          <p:cNvSpPr>
            <a:spLocks noGrp="1" noChangeArrowheads="1"/>
          </p:cNvSpPr>
          <p:nvPr>
            <p:ph type="body" sz="half" idx="1"/>
          </p:nvPr>
        </p:nvSpPr>
        <p:spPr>
          <a:xfrm>
            <a:off x="252772" y="1558416"/>
            <a:ext cx="4978896" cy="2224089"/>
          </a:xfrm>
        </p:spPr>
        <p:txBody>
          <a:bodyPr/>
          <a:lstStyle/>
          <a:p>
            <a:pPr marL="0" indent="0" eaLnBrk="1" hangingPunct="1">
              <a:buNone/>
            </a:pPr>
            <a:r>
              <a:rPr lang="lv-LV" altLang="lv-LV" sz="2400" dirty="0"/>
              <a:t>Incidenču matrica satur daudz liekas informācijas (visi simboli 0)</a:t>
            </a:r>
          </a:p>
          <a:p>
            <a:pPr marL="0" indent="0" eaLnBrk="1" hangingPunct="1">
              <a:buNone/>
            </a:pPr>
            <a:r>
              <a:rPr lang="lv-LV" altLang="lv-LV" sz="2400" dirty="0"/>
              <a:t>Tāpēc programmējot parasti lieto virsotņu kaimiņu sarakstus. Tos var realizēt kā masīvu no sarakstiem.</a:t>
            </a:r>
            <a:endParaRPr lang="en-US" altLang="lv-LV" sz="2400" dirty="0"/>
          </a:p>
        </p:txBody>
      </p:sp>
      <p:pic>
        <p:nvPicPr>
          <p:cNvPr id="8196" name="Picture 406">
            <a:extLst>
              <a:ext uri="{FF2B5EF4-FFF2-40B4-BE49-F238E27FC236}">
                <a16:creationId xmlns:a16="http://schemas.microsoft.com/office/drawing/2014/main" id="{887FE5D7-0975-4032-8B3C-003BBDB3CA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932" y="3923283"/>
            <a:ext cx="3767136" cy="26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407">
            <a:extLst>
              <a:ext uri="{FF2B5EF4-FFF2-40B4-BE49-F238E27FC236}">
                <a16:creationId xmlns:a16="http://schemas.microsoft.com/office/drawing/2014/main" id="{B5AB0210-342E-43CF-A34D-4ECD1B0601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3836192"/>
            <a:ext cx="1935162"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6">
            <a:extLst>
              <a:ext uri="{FF2B5EF4-FFF2-40B4-BE49-F238E27FC236}">
                <a16:creationId xmlns:a16="http://schemas.microsoft.com/office/drawing/2014/main" id="{62FF1D37-E800-48EC-ADD8-989278EFA1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1204912"/>
            <a:ext cx="3709987" cy="222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Projekts Labirints – 1. uzdevums</a:t>
            </a:r>
            <a:endParaRPr lang="en-US" altLang="lv-LV" sz="4000" dirty="0"/>
          </a:p>
        </p:txBody>
      </p:sp>
      <p:sp>
        <p:nvSpPr>
          <p:cNvPr id="4099" name="Rectangle 3">
            <a:extLst>
              <a:ext uri="{FF2B5EF4-FFF2-40B4-BE49-F238E27FC236}">
                <a16:creationId xmlns:a16="http://schemas.microsoft.com/office/drawing/2014/main" id="{49D6090E-6879-4FC2-99EB-95EDDE23E1E9}"/>
              </a:ext>
            </a:extLst>
          </p:cNvPr>
          <p:cNvSpPr>
            <a:spLocks noGrp="1" noChangeArrowheads="1"/>
          </p:cNvSpPr>
          <p:nvPr>
            <p:ph type="body" idx="1"/>
          </p:nvPr>
        </p:nvSpPr>
        <p:spPr>
          <a:xfrm>
            <a:off x="207963" y="1600200"/>
            <a:ext cx="6092825" cy="4983162"/>
          </a:xfrm>
        </p:spPr>
        <p:txBody>
          <a:bodyPr/>
          <a:lstStyle/>
          <a:p>
            <a:pPr marL="0" indent="0" eaLnBrk="1" hangingPunct="1">
              <a:buNone/>
            </a:pPr>
            <a:r>
              <a:rPr lang="lv-LV" altLang="lv-LV" sz="2000" dirty="0"/>
              <a:t>Dots saarhivēts projekts </a:t>
            </a:r>
            <a:r>
              <a:rPr lang="lv-LV" altLang="lv-LV" sz="2000" i="1" dirty="0"/>
              <a:t>Labirints.zip</a:t>
            </a:r>
            <a:r>
              <a:rPr lang="lv-LV" altLang="lv-LV" sz="2000" dirty="0"/>
              <a:t>. </a:t>
            </a:r>
          </a:p>
          <a:p>
            <a:pPr marL="0" indent="0" eaLnBrk="1" hangingPunct="1">
              <a:buNone/>
            </a:pPr>
            <a:r>
              <a:rPr lang="lv-LV" altLang="lv-LV" sz="2000" dirty="0" err="1"/>
              <a:t>Lejuplādēt</a:t>
            </a:r>
            <a:r>
              <a:rPr lang="lv-LV" altLang="lv-LV" sz="2000" dirty="0"/>
              <a:t> to savā datorā, atarhivēt un izpētīt. Projektā parādīts, kā var nolasīt teksta faila </a:t>
            </a:r>
            <a:r>
              <a:rPr lang="lv-LV" altLang="lv-LV" sz="2000" i="1" dirty="0"/>
              <a:t>labirints.txt</a:t>
            </a:r>
            <a:r>
              <a:rPr lang="lv-LV" altLang="lv-LV" sz="2000" dirty="0"/>
              <a:t> vienu rindu, zīmēt un dzēst (</a:t>
            </a:r>
            <a:r>
              <a:rPr lang="lv-LV" altLang="lv-LV" sz="2000" i="1" dirty="0"/>
              <a:t>zīmēt fona krāsā</a:t>
            </a:r>
            <a:r>
              <a:rPr lang="lv-LV" altLang="lv-LV" sz="2000" dirty="0"/>
              <a:t>) līnijas. </a:t>
            </a:r>
          </a:p>
          <a:p>
            <a:pPr marL="0" indent="0" eaLnBrk="1" hangingPunct="1">
              <a:buNone/>
            </a:pPr>
            <a:r>
              <a:rPr lang="lv-LV" altLang="lv-LV" sz="2000" dirty="0"/>
              <a:t>Papildināt projektu tā, lai nospiežot pogu </a:t>
            </a:r>
            <a:r>
              <a:rPr lang="lv-LV" altLang="lv-LV" sz="2000" i="1" dirty="0"/>
              <a:t>Uzzīmēt labirintu</a:t>
            </a:r>
            <a:r>
              <a:rPr lang="lv-LV" altLang="lv-LV" sz="2000" dirty="0"/>
              <a:t> :</a:t>
            </a:r>
          </a:p>
          <a:p>
            <a:pPr marL="400050" indent="-457200" eaLnBrk="1" hangingPunct="1">
              <a:buFont typeface="+mj-lt"/>
              <a:buAutoNum type="arabicPeriod"/>
            </a:pPr>
            <a:r>
              <a:rPr lang="lv-LV" altLang="lv-LV" sz="2200" dirty="0"/>
              <a:t>uz paneļa tiktu uzzīmēts laukums ar m</a:t>
            </a:r>
            <a:r>
              <a:rPr lang="lv-LV" altLang="lv-LV" sz="2200" dirty="0">
                <a:sym typeface="Symbol" panose="05050102010706020507" pitchFamily="18" charset="2"/>
              </a:rPr>
              <a:t> n</a:t>
            </a:r>
            <a:r>
              <a:rPr lang="lv-LV" altLang="lv-LV" sz="2200" dirty="0"/>
              <a:t> rūtiņām (m un n - faila </a:t>
            </a:r>
            <a:r>
              <a:rPr lang="lv-LV" altLang="lv-LV" sz="2200" i="1" dirty="0"/>
              <a:t>labirints.txt</a:t>
            </a:r>
            <a:r>
              <a:rPr lang="lv-LV" altLang="lv-LV" sz="2200" dirty="0"/>
              <a:t> pirmajā rindā dotie labirinta izmēri). </a:t>
            </a:r>
          </a:p>
          <a:p>
            <a:pPr marL="400050" indent="-457200" eaLnBrk="1" hangingPunct="1">
              <a:buFont typeface="+mj-lt"/>
              <a:buAutoNum type="arabicPeriod"/>
            </a:pPr>
            <a:r>
              <a:rPr lang="lv-LV" altLang="lv-LV" sz="2200" dirty="0"/>
              <a:t>pēc tam turpinātos labirinta datu lasīšana no faila, nolasīto informāciju izmantojot atbilstošo labirinta sienu dzēšanai jeb pārzīmēšanai fona krāsā.</a:t>
            </a:r>
          </a:p>
        </p:txBody>
      </p:sp>
      <p:pic>
        <p:nvPicPr>
          <p:cNvPr id="4100" name="Picture 4">
            <a:extLst>
              <a:ext uri="{FF2B5EF4-FFF2-40B4-BE49-F238E27FC236}">
                <a16:creationId xmlns:a16="http://schemas.microsoft.com/office/drawing/2014/main" id="{5C678CD0-F3F1-48C5-A8F7-F2695134E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313" y="2432050"/>
            <a:ext cx="2417762"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6">
            <a:extLst>
              <a:ext uri="{FF2B5EF4-FFF2-40B4-BE49-F238E27FC236}">
                <a16:creationId xmlns:a16="http://schemas.microsoft.com/office/drawing/2014/main" id="{EA1CB6B9-9691-40E4-A6AF-CF48B1353F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4638" y="4639169"/>
            <a:ext cx="2357437"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253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Labirinta apraksts labirints.txt</a:t>
            </a:r>
            <a:endParaRPr lang="en-US" altLang="lv-LV" sz="4000" dirty="0"/>
          </a:p>
        </p:txBody>
      </p:sp>
      <p:pic>
        <p:nvPicPr>
          <p:cNvPr id="4101" name="Picture 6">
            <a:extLst>
              <a:ext uri="{FF2B5EF4-FFF2-40B4-BE49-F238E27FC236}">
                <a16:creationId xmlns:a16="http://schemas.microsoft.com/office/drawing/2014/main" id="{EA1CB6B9-9691-40E4-A6AF-CF48B1353F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273" t="26663" r="57237" b="47417"/>
          <a:stretch/>
        </p:blipFill>
        <p:spPr bwMode="auto">
          <a:xfrm>
            <a:off x="6535402" y="3801951"/>
            <a:ext cx="2390525" cy="1859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close up of a keyboard&#10;&#10;Description automatically generated">
            <a:extLst>
              <a:ext uri="{FF2B5EF4-FFF2-40B4-BE49-F238E27FC236}">
                <a16:creationId xmlns:a16="http://schemas.microsoft.com/office/drawing/2014/main" id="{7D8E456A-59D8-4E3C-9F9D-D6A6FC74DE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809" y="1484784"/>
            <a:ext cx="1512168" cy="4967052"/>
          </a:xfrm>
          <a:prstGeom prst="rect">
            <a:avLst/>
          </a:prstGeom>
          <a:ln>
            <a:solidFill>
              <a:schemeClr val="accent1"/>
            </a:solidFill>
          </a:ln>
        </p:spPr>
      </p:pic>
      <p:sp>
        <p:nvSpPr>
          <p:cNvPr id="7" name="Rectangle 6">
            <a:extLst>
              <a:ext uri="{FF2B5EF4-FFF2-40B4-BE49-F238E27FC236}">
                <a16:creationId xmlns:a16="http://schemas.microsoft.com/office/drawing/2014/main" id="{7537EAEE-6A02-4935-8076-89AD94220066}"/>
              </a:ext>
            </a:extLst>
          </p:cNvPr>
          <p:cNvSpPr/>
          <p:nvPr/>
        </p:nvSpPr>
        <p:spPr>
          <a:xfrm>
            <a:off x="2231473" y="1290654"/>
            <a:ext cx="3888432" cy="5355312"/>
          </a:xfrm>
          <a:prstGeom prst="rect">
            <a:avLst/>
          </a:prstGeom>
        </p:spPr>
        <p:txBody>
          <a:bodyPr wrap="square">
            <a:spAutoFit/>
          </a:bodyPr>
          <a:lstStyle/>
          <a:p>
            <a:r>
              <a:rPr lang="lv-LV" dirty="0"/>
              <a:t>Datnē </a:t>
            </a:r>
            <a:r>
              <a:rPr lang="lv-LV" b="1" dirty="0"/>
              <a:t>labirints.txt </a:t>
            </a:r>
            <a:r>
              <a:rPr lang="lv-LV" dirty="0"/>
              <a:t>doto datu nozīme:				</a:t>
            </a:r>
          </a:p>
          <a:p>
            <a:pPr marL="342900" indent="-342900">
              <a:buAutoNum type="arabicPlain" startAt="4"/>
            </a:pPr>
            <a:r>
              <a:rPr lang="lv-LV" dirty="0"/>
              <a:t>5 </a:t>
            </a:r>
          </a:p>
          <a:p>
            <a:r>
              <a:rPr lang="lv-LV" dirty="0"/>
              <a:t>pirmās rindas skaitļi nozīmē ka labirintā 	būs 20 rūtiņas četrās rindās. Tāpēc failā sekos 20 rindas, katrā i-tās rūtiņas numurs un to blakus rūtiņu saraksts, kurām ar i-to rūtiņu nav kopējas sienas.	</a:t>
            </a:r>
          </a:p>
          <a:p>
            <a:pPr marL="342900" indent="-342900">
              <a:buAutoNum type="arabicPlain"/>
            </a:pPr>
            <a:r>
              <a:rPr lang="lv-LV" dirty="0"/>
              <a:t>6 </a:t>
            </a:r>
          </a:p>
          <a:p>
            <a:r>
              <a:rPr lang="lv-LV" dirty="0"/>
              <a:t>nozīmē, ka jādzēš līnija starp pirmo un sesto rūtiņu		</a:t>
            </a:r>
          </a:p>
          <a:p>
            <a:r>
              <a:rPr lang="lv-LV" dirty="0"/>
              <a:t>2 3 </a:t>
            </a:r>
          </a:p>
          <a:p>
            <a:r>
              <a:rPr lang="lv-LV" dirty="0"/>
              <a:t>nozīmē, ka jādzēš līnija starp otro un trešo rūtiņu		</a:t>
            </a:r>
          </a:p>
          <a:p>
            <a:r>
              <a:rPr lang="lv-LV" dirty="0"/>
              <a:t>3 2 8 </a:t>
            </a:r>
          </a:p>
          <a:p>
            <a:r>
              <a:rPr lang="lv-LV" dirty="0"/>
              <a:t>nozīmē, ka jādzēš līnija starp trešo un otro rūtiņu, un starp trešo un astoto		</a:t>
            </a:r>
          </a:p>
        </p:txBody>
      </p:sp>
      <p:pic>
        <p:nvPicPr>
          <p:cNvPr id="9" name="Picture 8" descr="A square white text&#10;&#10;Description automatically generated">
            <a:extLst>
              <a:ext uri="{FF2B5EF4-FFF2-40B4-BE49-F238E27FC236}">
                <a16:creationId xmlns:a16="http://schemas.microsoft.com/office/drawing/2014/main" id="{5A693753-3850-414A-9929-00D4B37517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5402" y="1988841"/>
            <a:ext cx="2304789" cy="1512168"/>
          </a:xfrm>
          <a:prstGeom prst="rect">
            <a:avLst/>
          </a:prstGeom>
        </p:spPr>
      </p:pic>
    </p:spTree>
    <p:extLst>
      <p:ext uri="{BB962C8B-B14F-4D97-AF65-F5344CB8AC3E}">
        <p14:creationId xmlns:p14="http://schemas.microsoft.com/office/powerpoint/2010/main" val="1223654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Kā noteikt rūtiņas rindu un kolonnu?</a:t>
            </a:r>
            <a:endParaRPr lang="en-US" altLang="lv-LV" sz="4000" dirty="0"/>
          </a:p>
        </p:txBody>
      </p:sp>
      <p:pic>
        <p:nvPicPr>
          <p:cNvPr id="3" name="Picture 2" descr="A screenshot of a computer&#10;&#10;Description automatically generated">
            <a:extLst>
              <a:ext uri="{FF2B5EF4-FFF2-40B4-BE49-F238E27FC236}">
                <a16:creationId xmlns:a16="http://schemas.microsoft.com/office/drawing/2014/main" id="{BADC64BA-822A-4688-BBEC-6E74542CC7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806" y="1601452"/>
            <a:ext cx="8396388" cy="2016684"/>
          </a:xfrm>
          <a:prstGeom prst="rect">
            <a:avLst/>
          </a:prstGeom>
          <a:ln>
            <a:solidFill>
              <a:schemeClr val="accent1"/>
            </a:solidFill>
          </a:ln>
        </p:spPr>
      </p:pic>
      <p:sp>
        <p:nvSpPr>
          <p:cNvPr id="4" name="TextBox 3">
            <a:extLst>
              <a:ext uri="{FF2B5EF4-FFF2-40B4-BE49-F238E27FC236}">
                <a16:creationId xmlns:a16="http://schemas.microsoft.com/office/drawing/2014/main" id="{0923EE9F-D38D-4A57-929C-326E7620BE57}"/>
              </a:ext>
            </a:extLst>
          </p:cNvPr>
          <p:cNvSpPr txBox="1"/>
          <p:nvPr/>
        </p:nvSpPr>
        <p:spPr>
          <a:xfrm>
            <a:off x="373806" y="3639068"/>
            <a:ext cx="8396388" cy="2585323"/>
          </a:xfrm>
          <a:prstGeom prst="rect">
            <a:avLst/>
          </a:prstGeom>
          <a:noFill/>
        </p:spPr>
        <p:txBody>
          <a:bodyPr wrap="square" rtlCol="0">
            <a:spAutoFit/>
          </a:bodyPr>
          <a:lstStyle/>
          <a:p>
            <a:r>
              <a:rPr lang="lv-LV" dirty="0"/>
              <a:t>Kaut arī datnē dotā rūtiņu numerācija sākas no viens, programmēšanai ērtāk rūtiņas ir numurēt sākot no nulles.</a:t>
            </a:r>
          </a:p>
          <a:p>
            <a:r>
              <a:rPr lang="lv-LV" dirty="0"/>
              <a:t>Ja </a:t>
            </a:r>
            <a:r>
              <a:rPr lang="lv-LV" b="1" dirty="0"/>
              <a:t>n</a:t>
            </a:r>
            <a:r>
              <a:rPr lang="lv-LV" dirty="0"/>
              <a:t> ir kolonnu skaits, tad spēkā ir sakarības:</a:t>
            </a:r>
          </a:p>
          <a:p>
            <a:r>
              <a:rPr lang="lv-LV" dirty="0"/>
              <a:t>Rindas numurs </a:t>
            </a:r>
            <a:r>
              <a:rPr lang="lv-LV" b="1" dirty="0"/>
              <a:t>r </a:t>
            </a:r>
            <a:r>
              <a:rPr lang="lv-LV" dirty="0"/>
              <a:t>= </a:t>
            </a:r>
            <a:r>
              <a:rPr lang="lv-LV" dirty="0" err="1"/>
              <a:t>rūtiņasNr</a:t>
            </a:r>
            <a:r>
              <a:rPr lang="lv-LV" dirty="0"/>
              <a:t> </a:t>
            </a:r>
            <a:r>
              <a:rPr lang="lv-LV" b="1" dirty="0"/>
              <a:t>div</a:t>
            </a:r>
            <a:r>
              <a:rPr lang="lv-LV" dirty="0"/>
              <a:t> n 		(div – dalījums veselos skaitļos)</a:t>
            </a:r>
          </a:p>
          <a:p>
            <a:r>
              <a:rPr lang="lv-LV" dirty="0"/>
              <a:t>Kolonas numurs </a:t>
            </a:r>
            <a:r>
              <a:rPr lang="lv-LV" b="1" dirty="0"/>
              <a:t>k</a:t>
            </a:r>
            <a:r>
              <a:rPr lang="lv-LV" dirty="0"/>
              <a:t> = </a:t>
            </a:r>
            <a:r>
              <a:rPr lang="lv-LV" dirty="0" err="1"/>
              <a:t>rūtiņasNr</a:t>
            </a:r>
            <a:r>
              <a:rPr lang="lv-LV" dirty="0"/>
              <a:t> </a:t>
            </a:r>
            <a:r>
              <a:rPr lang="lv-LV" b="1" dirty="0"/>
              <a:t>mod</a:t>
            </a:r>
            <a:r>
              <a:rPr lang="lv-LV" dirty="0"/>
              <a:t> n 	(mod - dalīšanas atlikums)</a:t>
            </a:r>
          </a:p>
          <a:p>
            <a:endParaRPr lang="lv-LV" dirty="0"/>
          </a:p>
          <a:p>
            <a:r>
              <a:rPr lang="lv-LV" dirty="0"/>
              <a:t>Piemēram:</a:t>
            </a:r>
          </a:p>
          <a:p>
            <a:r>
              <a:rPr lang="lv-LV" dirty="0"/>
              <a:t>r = 8 div 5 = 1		1. rinda</a:t>
            </a:r>
          </a:p>
          <a:p>
            <a:r>
              <a:rPr lang="lv-LV" dirty="0"/>
              <a:t>k = 8 mod 5 = 3		3. kolonna</a:t>
            </a:r>
          </a:p>
        </p:txBody>
      </p:sp>
      <p:sp>
        <p:nvSpPr>
          <p:cNvPr id="5" name="Rectangle 4">
            <a:extLst>
              <a:ext uri="{FF2B5EF4-FFF2-40B4-BE49-F238E27FC236}">
                <a16:creationId xmlns:a16="http://schemas.microsoft.com/office/drawing/2014/main" id="{CDB8A663-0929-4E14-A73F-2B57246A8BC7}"/>
              </a:ext>
            </a:extLst>
          </p:cNvPr>
          <p:cNvSpPr/>
          <p:nvPr/>
        </p:nvSpPr>
        <p:spPr>
          <a:xfrm>
            <a:off x="7092280" y="1988840"/>
            <a:ext cx="79208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v-LV"/>
          </a:p>
        </p:txBody>
      </p:sp>
    </p:spTree>
    <p:extLst>
      <p:ext uri="{BB962C8B-B14F-4D97-AF65-F5344CB8AC3E}">
        <p14:creationId xmlns:p14="http://schemas.microsoft.com/office/powerpoint/2010/main" val="1573866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Kā noteikt kuru līniju dzēst?</a:t>
            </a:r>
            <a:endParaRPr lang="en-US" altLang="lv-LV" sz="4000" dirty="0"/>
          </a:p>
        </p:txBody>
      </p:sp>
      <p:pic>
        <p:nvPicPr>
          <p:cNvPr id="3" name="Picture 2" descr="A screenshot of a computer&#10;&#10;Description automatically generated">
            <a:extLst>
              <a:ext uri="{FF2B5EF4-FFF2-40B4-BE49-F238E27FC236}">
                <a16:creationId xmlns:a16="http://schemas.microsoft.com/office/drawing/2014/main" id="{BADC64BA-822A-4688-BBEC-6E74542CC7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806" y="1412316"/>
            <a:ext cx="8396388" cy="2016684"/>
          </a:xfrm>
          <a:prstGeom prst="rect">
            <a:avLst/>
          </a:prstGeom>
          <a:ln>
            <a:solidFill>
              <a:schemeClr val="accent1"/>
            </a:solidFill>
          </a:ln>
        </p:spPr>
      </p:pic>
      <p:sp>
        <p:nvSpPr>
          <p:cNvPr id="4" name="TextBox 3">
            <a:extLst>
              <a:ext uri="{FF2B5EF4-FFF2-40B4-BE49-F238E27FC236}">
                <a16:creationId xmlns:a16="http://schemas.microsoft.com/office/drawing/2014/main" id="{0923EE9F-D38D-4A57-929C-326E7620BE57}"/>
              </a:ext>
            </a:extLst>
          </p:cNvPr>
          <p:cNvSpPr txBox="1"/>
          <p:nvPr/>
        </p:nvSpPr>
        <p:spPr>
          <a:xfrm>
            <a:off x="356537" y="3425851"/>
            <a:ext cx="8396388" cy="2862322"/>
          </a:xfrm>
          <a:prstGeom prst="rect">
            <a:avLst/>
          </a:prstGeom>
          <a:noFill/>
        </p:spPr>
        <p:txBody>
          <a:bodyPr wrap="square" rtlCol="0">
            <a:spAutoFit/>
          </a:bodyPr>
          <a:lstStyle/>
          <a:p>
            <a:r>
              <a:rPr lang="lv-LV" dirty="0"/>
              <a:t>Failā dotajos datos, piemēram, ir rinda </a:t>
            </a:r>
            <a:r>
              <a:rPr lang="lv-LV" b="1" dirty="0"/>
              <a:t>8 3 9</a:t>
            </a:r>
            <a:r>
              <a:rPr lang="lv-LV" dirty="0"/>
              <a:t>. Tā nozīmē, ka no 8. rūtiņas var tieši nokļūt 3. un 9. rūtiņā. Pārveidojot no cilvēku numerācijas uz programmai derīgo, saprotam, ka jānodzēš siena starp </a:t>
            </a:r>
            <a:r>
              <a:rPr lang="lv-LV" b="1" dirty="0"/>
              <a:t>7</a:t>
            </a:r>
            <a:r>
              <a:rPr lang="lv-LV" dirty="0"/>
              <a:t>. un </a:t>
            </a:r>
            <a:r>
              <a:rPr lang="lv-LV" b="1" dirty="0"/>
              <a:t>2</a:t>
            </a:r>
            <a:r>
              <a:rPr lang="lv-LV" dirty="0"/>
              <a:t>. rūtiņu un </a:t>
            </a:r>
            <a:r>
              <a:rPr lang="lv-LV" b="1" dirty="0"/>
              <a:t>7</a:t>
            </a:r>
            <a:r>
              <a:rPr lang="lv-LV" dirty="0"/>
              <a:t>. un </a:t>
            </a:r>
            <a:r>
              <a:rPr lang="lv-LV" b="1" dirty="0"/>
              <a:t>8</a:t>
            </a:r>
            <a:r>
              <a:rPr lang="lv-LV" dirty="0"/>
              <a:t>. rūtiņu</a:t>
            </a:r>
          </a:p>
          <a:p>
            <a:r>
              <a:rPr lang="lv-LV" dirty="0">
                <a:latin typeface="Consolas" panose="020B0609020204030204" pitchFamily="49" charset="0"/>
              </a:rPr>
              <a:t>r0=7 div 5 = 1	  k0=7 mod 5 = 2</a:t>
            </a:r>
          </a:p>
          <a:p>
            <a:endParaRPr lang="lv-LV" dirty="0">
              <a:latin typeface="Consolas" panose="020B0609020204030204" pitchFamily="49" charset="0"/>
            </a:endParaRPr>
          </a:p>
          <a:p>
            <a:r>
              <a:rPr lang="lv-LV" dirty="0">
                <a:latin typeface="Consolas" panose="020B0609020204030204" pitchFamily="49" charset="0"/>
              </a:rPr>
              <a:t>r1=2 div 5 = 0   k1=2 mod 5 = 2</a:t>
            </a:r>
          </a:p>
          <a:p>
            <a:r>
              <a:rPr lang="lv-LV" dirty="0">
                <a:latin typeface="Consolas" panose="020B0609020204030204" pitchFamily="49" charset="0"/>
              </a:rPr>
              <a:t>k0=k1</a:t>
            </a:r>
            <a:r>
              <a:rPr lang="lv-LV" dirty="0"/>
              <a:t>, bet </a:t>
            </a:r>
            <a:r>
              <a:rPr lang="lv-LV" dirty="0">
                <a:latin typeface="Consolas" panose="020B0609020204030204" pitchFamily="49" charset="0"/>
              </a:rPr>
              <a:t>r1&lt;r0</a:t>
            </a:r>
            <a:r>
              <a:rPr lang="lv-LV" dirty="0"/>
              <a:t>, tāpēc jādzēš 7. rūtiņas augšējā mala.</a:t>
            </a:r>
          </a:p>
          <a:p>
            <a:endParaRPr lang="lv-LV" dirty="0">
              <a:latin typeface="Consolas" panose="020B0609020204030204" pitchFamily="49" charset="0"/>
            </a:endParaRPr>
          </a:p>
          <a:p>
            <a:r>
              <a:rPr lang="lv-LV" dirty="0">
                <a:latin typeface="Consolas" panose="020B0609020204030204" pitchFamily="49" charset="0"/>
              </a:rPr>
              <a:t>r1=8 div 5 = 1   k1=8 mod 5 = 3</a:t>
            </a:r>
          </a:p>
          <a:p>
            <a:r>
              <a:rPr lang="lv-LV" dirty="0">
                <a:latin typeface="Consolas" panose="020B0609020204030204" pitchFamily="49" charset="0"/>
              </a:rPr>
              <a:t>r0=r1</a:t>
            </a:r>
            <a:r>
              <a:rPr lang="lv-LV" dirty="0"/>
              <a:t>, bet </a:t>
            </a:r>
            <a:r>
              <a:rPr lang="lv-LV" dirty="0">
                <a:latin typeface="Consolas" panose="020B0609020204030204" pitchFamily="49" charset="0"/>
              </a:rPr>
              <a:t>k1&gt;k0</a:t>
            </a:r>
            <a:r>
              <a:rPr lang="lv-LV" dirty="0"/>
              <a:t>, tāpēc jādzēš arī 7. rūtiņas labā mala.</a:t>
            </a:r>
          </a:p>
        </p:txBody>
      </p:sp>
      <p:sp>
        <p:nvSpPr>
          <p:cNvPr id="5" name="Rectangle 4">
            <a:extLst>
              <a:ext uri="{FF2B5EF4-FFF2-40B4-BE49-F238E27FC236}">
                <a16:creationId xmlns:a16="http://schemas.microsoft.com/office/drawing/2014/main" id="{CDB8A663-0929-4E14-A73F-2B57246A8BC7}"/>
              </a:ext>
            </a:extLst>
          </p:cNvPr>
          <p:cNvSpPr/>
          <p:nvPr/>
        </p:nvSpPr>
        <p:spPr>
          <a:xfrm>
            <a:off x="6300192" y="1780223"/>
            <a:ext cx="792088"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v-LV"/>
          </a:p>
        </p:txBody>
      </p:sp>
    </p:spTree>
    <p:extLst>
      <p:ext uri="{BB962C8B-B14F-4D97-AF65-F5344CB8AC3E}">
        <p14:creationId xmlns:p14="http://schemas.microsoft.com/office/powerpoint/2010/main" val="1238414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96D3050-F6F6-494F-8F14-6F281CBF6D9E}"/>
              </a:ext>
            </a:extLst>
          </p:cNvPr>
          <p:cNvSpPr>
            <a:spLocks noGrp="1" noChangeArrowheads="1"/>
          </p:cNvSpPr>
          <p:nvPr>
            <p:ph type="title"/>
          </p:nvPr>
        </p:nvSpPr>
        <p:spPr/>
        <p:txBody>
          <a:bodyPr/>
          <a:lstStyle/>
          <a:p>
            <a:r>
              <a:rPr lang="lv-LV" altLang="lv-LV" dirty="0"/>
              <a:t>Kaimiņu saraksts labirintam</a:t>
            </a:r>
            <a:endParaRPr lang="en-US" altLang="lv-LV" dirty="0"/>
          </a:p>
        </p:txBody>
      </p:sp>
      <p:sp>
        <p:nvSpPr>
          <p:cNvPr id="9219" name="Rectangle 6">
            <a:extLst>
              <a:ext uri="{FF2B5EF4-FFF2-40B4-BE49-F238E27FC236}">
                <a16:creationId xmlns:a16="http://schemas.microsoft.com/office/drawing/2014/main" id="{51F8F900-C2DF-4776-951B-CD65EE33930C}"/>
              </a:ext>
            </a:extLst>
          </p:cNvPr>
          <p:cNvSpPr>
            <a:spLocks noChangeArrowheads="1"/>
          </p:cNvSpPr>
          <p:nvPr/>
        </p:nvSpPr>
        <p:spPr bwMode="auto">
          <a:xfrm>
            <a:off x="450678" y="2852936"/>
            <a:ext cx="7649714"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labirints</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=new </a:t>
            </a: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ArrayList</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[m*n];</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for(int </a:t>
            </a:r>
            <a:r>
              <a:rPr lang="en-US" altLang="lv-LV" sz="2000" dirty="0" err="1">
                <a:latin typeface="Consolas" panose="020B0609020204030204" pitchFamily="49" charset="0"/>
                <a:ea typeface="Consolas" panose="020B0609020204030204" pitchFamily="49" charset="0"/>
                <a:cs typeface="Consolas" panose="020B0609020204030204" pitchFamily="49" charset="0"/>
              </a:rPr>
              <a:t>i</a:t>
            </a:r>
            <a:r>
              <a:rPr lang="en-US" altLang="lv-LV" sz="2000" dirty="0">
                <a:latin typeface="Consolas" panose="020B0609020204030204" pitchFamily="49" charset="0"/>
                <a:ea typeface="Consolas" panose="020B0609020204030204" pitchFamily="49" charset="0"/>
                <a:cs typeface="Consolas" panose="020B0609020204030204" pitchFamily="49" charset="0"/>
              </a:rPr>
              <a:t>=0;i&lt;</a:t>
            </a:r>
            <a:r>
              <a:rPr lang="en-US" altLang="lv-LV" sz="2000" dirty="0" err="1">
                <a:latin typeface="Consolas" panose="020B0609020204030204" pitchFamily="49" charset="0"/>
                <a:ea typeface="Consolas" panose="020B0609020204030204" pitchFamily="49" charset="0"/>
                <a:cs typeface="Consolas" panose="020B0609020204030204" pitchFamily="49" charset="0"/>
              </a:rPr>
              <a:t>labirints.length;i</a:t>
            </a:r>
            <a:r>
              <a:rPr lang="en-US" altLang="lv-LV" sz="2000" dirty="0">
                <a:latin typeface="Consolas" panose="020B0609020204030204" pitchFamily="49" charset="0"/>
                <a:ea typeface="Consolas" panose="020B0609020204030204" pitchFamily="49" charset="0"/>
                <a:cs typeface="Consolas" panose="020B0609020204030204" pitchFamily="49" charset="0"/>
              </a:rPr>
              <a:t>++){</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r>
              <a:rPr lang="en-US" altLang="lv-LV" sz="2000" dirty="0" err="1">
                <a:latin typeface="Consolas" panose="020B0609020204030204" pitchFamily="49" charset="0"/>
                <a:ea typeface="Consolas" panose="020B0609020204030204" pitchFamily="49" charset="0"/>
                <a:cs typeface="Consolas" panose="020B0609020204030204" pitchFamily="49" charset="0"/>
              </a:rPr>
              <a:t>failaRinda</a:t>
            </a:r>
            <a:r>
              <a:rPr lang="en-US" altLang="lv-LV" sz="2000" dirty="0">
                <a:latin typeface="Consolas" panose="020B0609020204030204" pitchFamily="49" charset="0"/>
                <a:ea typeface="Consolas" panose="020B0609020204030204" pitchFamily="49" charset="0"/>
                <a:cs typeface="Consolas" panose="020B0609020204030204" pitchFamily="49" charset="0"/>
              </a:rPr>
              <a:t> = </a:t>
            </a:r>
            <a:r>
              <a:rPr lang="en-US" altLang="lv-LV" sz="2000" dirty="0" err="1">
                <a:latin typeface="Consolas" panose="020B0609020204030204" pitchFamily="49" charset="0"/>
                <a:ea typeface="Consolas" panose="020B0609020204030204" pitchFamily="49" charset="0"/>
                <a:cs typeface="Consolas" panose="020B0609020204030204" pitchFamily="49" charset="0"/>
              </a:rPr>
              <a:t>bufRdr.readLine</a:t>
            </a:r>
            <a:r>
              <a:rPr lang="en-US" altLang="lv-LV" sz="2000" dirty="0">
                <a:latin typeface="Consolas" panose="020B0609020204030204" pitchFamily="49" charset="0"/>
                <a:ea typeface="Consolas" panose="020B0609020204030204" pitchFamily="49" charset="0"/>
                <a:cs typeface="Consolas" panose="020B0609020204030204" pitchFamily="49" charset="0"/>
              </a:rPr>
              <a:t>();</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r>
              <a:rPr lang="en-US" altLang="lv-LV" sz="2000" dirty="0" err="1">
                <a:latin typeface="Consolas" panose="020B0609020204030204" pitchFamily="49" charset="0"/>
                <a:ea typeface="Consolas" panose="020B0609020204030204" pitchFamily="49" charset="0"/>
                <a:cs typeface="Consolas" panose="020B0609020204030204" pitchFamily="49" charset="0"/>
              </a:rPr>
              <a:t>tmp</a:t>
            </a:r>
            <a:r>
              <a:rPr lang="en-US" altLang="lv-LV" sz="2000" dirty="0">
                <a:latin typeface="Consolas" panose="020B0609020204030204" pitchFamily="49" charset="0"/>
                <a:ea typeface="Consolas" panose="020B0609020204030204" pitchFamily="49" charset="0"/>
                <a:cs typeface="Consolas" panose="020B0609020204030204" pitchFamily="49" charset="0"/>
              </a:rPr>
              <a:t>=</a:t>
            </a:r>
            <a:r>
              <a:rPr lang="en-US" altLang="lv-LV" sz="2000" dirty="0" err="1">
                <a:latin typeface="Consolas" panose="020B0609020204030204" pitchFamily="49" charset="0"/>
                <a:ea typeface="Consolas" panose="020B0609020204030204" pitchFamily="49" charset="0"/>
                <a:cs typeface="Consolas" panose="020B0609020204030204" pitchFamily="49" charset="0"/>
              </a:rPr>
              <a:t>failaRinda.split</a:t>
            </a:r>
            <a:r>
              <a:rPr lang="en-US" altLang="lv-LV" sz="2000" dirty="0">
                <a:latin typeface="Consolas" panose="020B0609020204030204" pitchFamily="49" charset="0"/>
                <a:ea typeface="Consolas" panose="020B0609020204030204" pitchFamily="49" charset="0"/>
                <a:cs typeface="Consolas" panose="020B0609020204030204" pitchFamily="49" charset="0"/>
              </a:rPr>
              <a:t>(" ");</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r>
              <a:rPr lang="lv-LV" altLang="lv-LV" sz="2000" dirty="0">
                <a:latin typeface="Consolas" panose="020B0609020204030204" pitchFamily="49" charset="0"/>
                <a:ea typeface="Consolas" panose="020B0609020204030204" pitchFamily="49" charset="0"/>
                <a:cs typeface="Consolas" panose="020B0609020204030204" pitchFamily="49" charset="0"/>
              </a:rPr>
              <a:t> </a:t>
            </a:r>
            <a:r>
              <a:rPr lang="en-US" altLang="lv-LV" sz="2000" dirty="0">
                <a:latin typeface="Consolas" panose="020B0609020204030204" pitchFamily="49" charset="0"/>
                <a:ea typeface="Consolas" panose="020B0609020204030204" pitchFamily="49" charset="0"/>
                <a:cs typeface="Consolas" panose="020B0609020204030204" pitchFamily="49" charset="0"/>
              </a:rPr>
              <a:t>  </a:t>
            </a: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labirints</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a:t>
            </a: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i</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]=new </a:t>
            </a: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ArrayList</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&lt;Integer&gt;();</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for(int j=1;j&lt;</a:t>
            </a:r>
            <a:r>
              <a:rPr lang="en-US" altLang="lv-LV" sz="2000" dirty="0" err="1">
                <a:latin typeface="Consolas" panose="020B0609020204030204" pitchFamily="49" charset="0"/>
                <a:ea typeface="Consolas" panose="020B0609020204030204" pitchFamily="49" charset="0"/>
                <a:cs typeface="Consolas" panose="020B0609020204030204" pitchFamily="49" charset="0"/>
              </a:rPr>
              <a:t>tmp.length;j</a:t>
            </a:r>
            <a:r>
              <a:rPr lang="en-US" altLang="lv-LV" sz="2000" dirty="0">
                <a:latin typeface="Consolas" panose="020B0609020204030204" pitchFamily="49" charset="0"/>
                <a:ea typeface="Consolas" panose="020B0609020204030204" pitchFamily="49" charset="0"/>
                <a:cs typeface="Consolas" panose="020B0609020204030204" pitchFamily="49" charset="0"/>
              </a:rPr>
              <a:t>++){</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r>
              <a:rPr lang="en-US" altLang="lv-LV" sz="2000" dirty="0" err="1">
                <a:latin typeface="Consolas" panose="020B0609020204030204" pitchFamily="49" charset="0"/>
                <a:ea typeface="Consolas" panose="020B0609020204030204" pitchFamily="49" charset="0"/>
                <a:cs typeface="Consolas" panose="020B0609020204030204" pitchFamily="49" charset="0"/>
              </a:rPr>
              <a:t>labirints</a:t>
            </a:r>
            <a:r>
              <a:rPr lang="en-US" altLang="lv-LV" sz="2000" dirty="0">
                <a:latin typeface="Consolas" panose="020B0609020204030204" pitchFamily="49" charset="0"/>
                <a:ea typeface="Consolas" panose="020B0609020204030204" pitchFamily="49" charset="0"/>
                <a:cs typeface="Consolas" panose="020B0609020204030204" pitchFamily="49" charset="0"/>
              </a:rPr>
              <a:t>[</a:t>
            </a:r>
            <a:r>
              <a:rPr lang="en-US" altLang="lv-LV" sz="2000" dirty="0" err="1">
                <a:latin typeface="Consolas" panose="020B0609020204030204" pitchFamily="49" charset="0"/>
                <a:ea typeface="Consolas" panose="020B0609020204030204" pitchFamily="49" charset="0"/>
                <a:cs typeface="Consolas" panose="020B0609020204030204" pitchFamily="49" charset="0"/>
              </a:rPr>
              <a:t>i</a:t>
            </a:r>
            <a:r>
              <a:rPr lang="en-US" altLang="lv-LV" sz="2000" dirty="0">
                <a:latin typeface="Consolas" panose="020B0609020204030204" pitchFamily="49" charset="0"/>
                <a:ea typeface="Consolas" panose="020B0609020204030204" pitchFamily="49" charset="0"/>
                <a:cs typeface="Consolas" panose="020B0609020204030204" pitchFamily="49" charset="0"/>
              </a:rPr>
              <a:t>].add(</a:t>
            </a:r>
            <a:r>
              <a:rPr lang="en-US" altLang="lv-LV" sz="2000" dirty="0" err="1">
                <a:latin typeface="Consolas" panose="020B0609020204030204" pitchFamily="49" charset="0"/>
                <a:ea typeface="Consolas" panose="020B0609020204030204" pitchFamily="49" charset="0"/>
                <a:cs typeface="Consolas" panose="020B0609020204030204" pitchFamily="49" charset="0"/>
              </a:rPr>
              <a:t>Integer.parseInt</a:t>
            </a:r>
            <a:r>
              <a:rPr lang="en-US" altLang="lv-LV" sz="2000" dirty="0">
                <a:latin typeface="Consolas" panose="020B0609020204030204" pitchFamily="49" charset="0"/>
                <a:ea typeface="Consolas" panose="020B0609020204030204" pitchFamily="49" charset="0"/>
                <a:cs typeface="Consolas" panose="020B0609020204030204" pitchFamily="49" charset="0"/>
              </a:rPr>
              <a:t>(</a:t>
            </a:r>
            <a:r>
              <a:rPr lang="en-US" altLang="lv-LV" sz="2000" dirty="0" err="1">
                <a:latin typeface="Consolas" panose="020B0609020204030204" pitchFamily="49" charset="0"/>
                <a:ea typeface="Consolas" panose="020B0609020204030204" pitchFamily="49" charset="0"/>
                <a:cs typeface="Consolas" panose="020B0609020204030204" pitchFamily="49" charset="0"/>
              </a:rPr>
              <a:t>tmp</a:t>
            </a:r>
            <a:r>
              <a:rPr lang="en-US" altLang="lv-LV" sz="2000" dirty="0">
                <a:latin typeface="Consolas" panose="020B0609020204030204" pitchFamily="49" charset="0"/>
                <a:ea typeface="Consolas" panose="020B0609020204030204" pitchFamily="49" charset="0"/>
                <a:cs typeface="Consolas" panose="020B0609020204030204" pitchFamily="49" charset="0"/>
              </a:rPr>
              <a:t>[j])</a:t>
            </a:r>
            <a:r>
              <a:rPr lang="lv-LV" altLang="lv-LV" sz="2000" dirty="0">
                <a:latin typeface="Consolas" panose="020B0609020204030204" pitchFamily="49" charset="0"/>
                <a:ea typeface="Consolas" panose="020B0609020204030204" pitchFamily="49" charset="0"/>
                <a:cs typeface="Consolas" panose="020B0609020204030204" pitchFamily="49" charset="0"/>
              </a:rPr>
              <a:t>-1</a:t>
            </a:r>
            <a:r>
              <a:rPr lang="en-US" altLang="lv-LV" sz="2000" dirty="0">
                <a:latin typeface="Consolas" panose="020B0609020204030204" pitchFamily="49" charset="0"/>
                <a:ea typeface="Consolas" panose="020B0609020204030204" pitchFamily="49" charset="0"/>
                <a:cs typeface="Consolas" panose="020B0609020204030204" pitchFamily="49" charset="0"/>
              </a:rPr>
              <a:t>);</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p>
          <a:p>
            <a:pPr eaLnBrk="1" hangingPunct="1">
              <a:spcBef>
                <a:spcPct val="0"/>
              </a:spcBef>
              <a:buFontTx/>
              <a:buNone/>
            </a:pPr>
            <a:r>
              <a:rPr lang="en-US" altLang="lv-LV" sz="2000" dirty="0">
                <a:latin typeface="Consolas" panose="020B0609020204030204" pitchFamily="49" charset="0"/>
                <a:ea typeface="Consolas" panose="020B0609020204030204" pitchFamily="49" charset="0"/>
                <a:cs typeface="Consolas" panose="020B0609020204030204" pitchFamily="49" charset="0"/>
              </a:rPr>
              <a:t>} </a:t>
            </a:r>
            <a:endParaRPr lang="lv-LV" altLang="lv-LV" sz="2000" dirty="0">
              <a:latin typeface="Consolas" panose="020B0609020204030204" pitchFamily="49" charset="0"/>
              <a:ea typeface="Consolas" panose="020B0609020204030204" pitchFamily="49" charset="0"/>
              <a:cs typeface="Consolas" panose="020B0609020204030204" pitchFamily="49" charset="0"/>
            </a:endParaRPr>
          </a:p>
          <a:p>
            <a:pPr eaLnBrk="1" hangingPunct="1">
              <a:spcBef>
                <a:spcPct val="0"/>
              </a:spcBef>
              <a:buFontTx/>
              <a:buNone/>
            </a:pPr>
            <a:endParaRPr lang="lv-LV" altLang="lv-LV" sz="2000" dirty="0">
              <a:latin typeface="Consolas" panose="020B0609020204030204" pitchFamily="49" charset="0"/>
              <a:ea typeface="Consolas" panose="020B0609020204030204" pitchFamily="49" charset="0"/>
              <a:cs typeface="Consolas" panose="020B0609020204030204" pitchFamily="49" charset="0"/>
            </a:endParaRPr>
          </a:p>
          <a:p>
            <a:pPr eaLnBrk="1" hangingPunct="1">
              <a:spcBef>
                <a:spcPct val="0"/>
              </a:spcBef>
              <a:buFontTx/>
              <a:buNone/>
            </a:pPr>
            <a:r>
              <a:rPr lang="lv-LV" altLang="lv-LV" sz="1800" dirty="0">
                <a:latin typeface="+mj-lt"/>
              </a:rPr>
              <a:t>Ciklā katram masīva elementam rada jaunu </a:t>
            </a:r>
            <a:r>
              <a:rPr lang="lv-LV" altLang="lv-LV" sz="1800" dirty="0" err="1">
                <a:latin typeface="+mj-lt"/>
              </a:rPr>
              <a:t>ArrayList</a:t>
            </a:r>
            <a:r>
              <a:rPr lang="lv-LV" altLang="lv-LV" sz="1800" dirty="0">
                <a:latin typeface="+mj-lt"/>
              </a:rPr>
              <a:t> objektu, kuram iekšējā ciklā pievieno no faila nolasītos datus.</a:t>
            </a:r>
          </a:p>
        </p:txBody>
      </p:sp>
      <p:sp>
        <p:nvSpPr>
          <p:cNvPr id="4" name="Rectangle 6">
            <a:extLst>
              <a:ext uri="{FF2B5EF4-FFF2-40B4-BE49-F238E27FC236}">
                <a16:creationId xmlns:a16="http://schemas.microsoft.com/office/drawing/2014/main" id="{6186D44E-250C-4523-982F-5D064594AC56}"/>
              </a:ext>
            </a:extLst>
          </p:cNvPr>
          <p:cNvSpPr>
            <a:spLocks noChangeArrowheads="1"/>
          </p:cNvSpPr>
          <p:nvPr/>
        </p:nvSpPr>
        <p:spPr bwMode="auto">
          <a:xfrm>
            <a:off x="432534" y="1228455"/>
            <a:ext cx="741682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lv-LV" altLang="lv-LV" sz="1800" dirty="0">
                <a:latin typeface="+mj-lt"/>
                <a:ea typeface="Consolas" panose="020B0609020204030204" pitchFamily="49" charset="0"/>
                <a:cs typeface="Consolas" panose="020B0609020204030204" pitchFamily="49" charset="0"/>
              </a:rPr>
              <a:t>Ārpus visām metodēm kā klases mainīgais jāievieš masīvs no </a:t>
            </a:r>
            <a:r>
              <a:rPr lang="lv-LV" altLang="lv-LV" sz="1800" dirty="0" err="1">
                <a:latin typeface="+mj-lt"/>
                <a:ea typeface="Consolas" panose="020B0609020204030204" pitchFamily="49" charset="0"/>
                <a:cs typeface="Consolas" panose="020B0609020204030204" pitchFamily="49" charset="0"/>
              </a:rPr>
              <a:t>ArrayList</a:t>
            </a:r>
            <a:r>
              <a:rPr lang="lv-LV" altLang="lv-LV" sz="1800" dirty="0">
                <a:latin typeface="+mj-lt"/>
                <a:ea typeface="Consolas" panose="020B0609020204030204" pitchFamily="49" charset="0"/>
                <a:cs typeface="Consolas" panose="020B0609020204030204" pitchFamily="49" charset="0"/>
              </a:rPr>
              <a:t> objektiem:</a:t>
            </a:r>
          </a:p>
          <a:p>
            <a:pPr eaLnBrk="1" hangingPunct="1">
              <a:spcBef>
                <a:spcPct val="0"/>
              </a:spcBef>
              <a:buFontTx/>
              <a:buNone/>
            </a:pP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ArrayList</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&lt;Integer&gt;[</a:t>
            </a:r>
            <a:r>
              <a:rPr lang="lv-LV"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 </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 </a:t>
            </a:r>
            <a:r>
              <a:rPr lang="en-US" altLang="lv-LV" sz="2000" dirty="0" err="1">
                <a:solidFill>
                  <a:srgbClr val="FF0000"/>
                </a:solidFill>
                <a:latin typeface="Consolas" panose="020B0609020204030204" pitchFamily="49" charset="0"/>
                <a:ea typeface="Consolas" panose="020B0609020204030204" pitchFamily="49" charset="0"/>
                <a:cs typeface="Consolas" panose="020B0609020204030204" pitchFamily="49" charset="0"/>
              </a:rPr>
              <a:t>labirints</a:t>
            </a:r>
            <a:r>
              <a:rPr lang="en-US"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rPr>
              <a:t>;</a:t>
            </a:r>
            <a:endParaRPr lang="lv-LV"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endParaRPr>
          </a:p>
          <a:p>
            <a:pPr eaLnBrk="1" hangingPunct="1">
              <a:spcBef>
                <a:spcPct val="0"/>
              </a:spcBef>
              <a:buFontTx/>
              <a:buNone/>
            </a:pPr>
            <a:endParaRPr lang="lv-LV" altLang="lv-LV" sz="2000" dirty="0">
              <a:solidFill>
                <a:srgbClr val="FF0000"/>
              </a:solidFill>
              <a:latin typeface="Consolas" panose="020B0609020204030204" pitchFamily="49" charset="0"/>
              <a:ea typeface="Consolas" panose="020B0609020204030204" pitchFamily="49" charset="0"/>
              <a:cs typeface="Consolas" panose="020B0609020204030204" pitchFamily="49" charset="0"/>
            </a:endParaRPr>
          </a:p>
          <a:p>
            <a:pPr eaLnBrk="1" hangingPunct="1">
              <a:spcBef>
                <a:spcPct val="0"/>
              </a:spcBef>
              <a:buFontTx/>
              <a:buNone/>
            </a:pPr>
            <a:r>
              <a:rPr lang="lv-LV" altLang="lv-LV" sz="1800" dirty="0">
                <a:latin typeface="+mj-lt"/>
              </a:rPr>
              <a:t>Izveidot to varēs tikai pēc tam, kad būs zināmi labirinta izmēri n un m:</a:t>
            </a:r>
          </a:p>
          <a:p>
            <a:pPr eaLnBrk="1" hangingPunct="1">
              <a:spcBef>
                <a:spcPct val="0"/>
              </a:spcBef>
              <a:buFontTx/>
              <a:buNone/>
            </a:pPr>
            <a:endParaRPr lang="en-US" altLang="lv-LV" sz="2000" dirty="0">
              <a:latin typeface="Consolas" panose="020B0609020204030204" pitchFamily="49" charset="0"/>
              <a:ea typeface="Consolas" panose="020B0609020204030204" pitchFamily="49" charset="0"/>
              <a:cs typeface="Consolas" panose="020B06090202040302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a:extLst>
              <a:ext uri="{FF2B5EF4-FFF2-40B4-BE49-F238E27FC236}">
                <a16:creationId xmlns:a16="http://schemas.microsoft.com/office/drawing/2014/main" id="{AE9D6D44-CF37-418C-8D01-90B752E11C5B}"/>
              </a:ext>
            </a:extLst>
          </p:cNvPr>
          <p:cNvSpPr>
            <a:spLocks noGrp="1" noChangeArrowheads="1"/>
          </p:cNvSpPr>
          <p:nvPr>
            <p:ph type="title"/>
          </p:nvPr>
        </p:nvSpPr>
        <p:spPr>
          <a:xfrm>
            <a:off x="457200" y="274638"/>
            <a:ext cx="8229600" cy="633412"/>
          </a:xfrm>
        </p:spPr>
        <p:txBody>
          <a:bodyPr/>
          <a:lstStyle/>
          <a:p>
            <a:r>
              <a:rPr lang="lv-LV" altLang="lv-LV" sz="2400" dirty="0"/>
              <a:t>Labirinta kaimiņu saraksta izdruka 2 veidos – izmēģināt to metodi, kas labāk patīk</a:t>
            </a:r>
            <a:endParaRPr lang="en-US" altLang="lv-LV" sz="2400" dirty="0"/>
          </a:p>
        </p:txBody>
      </p:sp>
      <p:sp>
        <p:nvSpPr>
          <p:cNvPr id="10243" name="Content Placeholder 5">
            <a:extLst>
              <a:ext uri="{FF2B5EF4-FFF2-40B4-BE49-F238E27FC236}">
                <a16:creationId xmlns:a16="http://schemas.microsoft.com/office/drawing/2014/main" id="{E41A66F7-7314-422B-B26A-575F932CFE0C}"/>
              </a:ext>
            </a:extLst>
          </p:cNvPr>
          <p:cNvSpPr>
            <a:spLocks noGrp="1" noChangeArrowheads="1"/>
          </p:cNvSpPr>
          <p:nvPr>
            <p:ph idx="1"/>
          </p:nvPr>
        </p:nvSpPr>
        <p:spPr>
          <a:xfrm>
            <a:off x="395288" y="908050"/>
            <a:ext cx="8229600" cy="5257800"/>
          </a:xfrm>
        </p:spPr>
        <p:txBody>
          <a:bodyPr/>
          <a:lstStyle/>
          <a:p>
            <a:pPr marL="0" indent="0">
              <a:buFontTx/>
              <a:buNone/>
            </a:pPr>
            <a:r>
              <a:rPr lang="lv-LV" altLang="lv-LV" sz="1800" dirty="0">
                <a:ea typeface="Consolas" panose="020B0609020204030204" pitchFamily="49" charset="0"/>
                <a:cs typeface="Consolas" panose="020B0609020204030204" pitchFamily="49" charset="0"/>
              </a:rPr>
              <a:t>Ar </a:t>
            </a:r>
            <a:r>
              <a:rPr lang="lv-LV" altLang="lv-LV" sz="1800" dirty="0" err="1">
                <a:ea typeface="Consolas" panose="020B0609020204030204" pitchFamily="49" charset="0"/>
                <a:cs typeface="Consolas" panose="020B0609020204030204" pitchFamily="49" charset="0"/>
              </a:rPr>
              <a:t>iteratoru</a:t>
            </a:r>
            <a:r>
              <a:rPr lang="lv-LV" altLang="lv-LV" sz="1800" dirty="0">
                <a:ea typeface="Consolas" panose="020B0609020204030204" pitchFamily="49" charset="0"/>
                <a:cs typeface="Consolas" panose="020B0609020204030204" pitchFamily="49" charset="0"/>
              </a:rPr>
              <a:t>:</a:t>
            </a:r>
          </a:p>
          <a:p>
            <a:pPr marL="0" indent="0">
              <a:buFontTx/>
              <a:buNone/>
            </a:pPr>
            <a:r>
              <a:rPr lang="lv-LV" altLang="lv-LV" sz="1800" dirty="0" err="1">
                <a:latin typeface="Consolas" panose="020B0609020204030204" pitchFamily="49" charset="0"/>
                <a:ea typeface="Consolas" panose="020B0609020204030204" pitchFamily="49" charset="0"/>
                <a:cs typeface="Consolas" panose="020B0609020204030204" pitchFamily="49" charset="0"/>
              </a:rPr>
              <a:t>for</a:t>
            </a:r>
            <a:r>
              <a:rPr lang="lv-LV" altLang="lv-LV" sz="1800" dirty="0">
                <a:latin typeface="Consolas" panose="020B0609020204030204" pitchFamily="49" charset="0"/>
                <a:ea typeface="Consolas" panose="020B0609020204030204" pitchFamily="49" charset="0"/>
                <a:cs typeface="Consolas" panose="020B0609020204030204" pitchFamily="49" charset="0"/>
              </a:rPr>
              <a:t>(</a:t>
            </a:r>
            <a:r>
              <a:rPr lang="lv-LV" altLang="lv-LV" sz="1800" dirty="0" err="1">
                <a:latin typeface="Consolas" panose="020B0609020204030204" pitchFamily="49" charset="0"/>
                <a:ea typeface="Consolas" panose="020B0609020204030204" pitchFamily="49" charset="0"/>
                <a:cs typeface="Consolas" panose="020B0609020204030204" pitchFamily="49" charset="0"/>
              </a:rPr>
              <a:t>int</a:t>
            </a:r>
            <a:r>
              <a:rPr lang="lv-LV" altLang="lv-LV" sz="1800" dirty="0">
                <a:latin typeface="Consolas" panose="020B0609020204030204" pitchFamily="49" charset="0"/>
                <a:ea typeface="Consolas" panose="020B0609020204030204" pitchFamily="49" charset="0"/>
                <a:cs typeface="Consolas" panose="020B0609020204030204" pitchFamily="49" charset="0"/>
              </a:rPr>
              <a:t> i=0;i&lt;</a:t>
            </a:r>
            <a:r>
              <a:rPr lang="lv-LV" altLang="lv-LV" sz="1800" dirty="0" err="1">
                <a:latin typeface="Consolas" panose="020B0609020204030204" pitchFamily="49" charset="0"/>
                <a:ea typeface="Consolas" panose="020B0609020204030204" pitchFamily="49" charset="0"/>
                <a:cs typeface="Consolas" panose="020B0609020204030204" pitchFamily="49" charset="0"/>
              </a:rPr>
              <a:t>labirints.length;i</a:t>
            </a: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a:t>
            </a:r>
            <a:r>
              <a:rPr lang="lv-LV" altLang="lv-LV" sz="1800" dirty="0">
                <a:latin typeface="Consolas" panose="020B0609020204030204" pitchFamily="49" charset="0"/>
                <a:ea typeface="Consolas" panose="020B0609020204030204" pitchFamily="49" charset="0"/>
                <a:cs typeface="Consolas" panose="020B0609020204030204" pitchFamily="49" charset="0"/>
              </a:rPr>
              <a:t>((i+1)+" kaimiņi: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solidFill>
                  <a:srgbClr val="FF0000"/>
                </a:solidFill>
                <a:latin typeface="Consolas" panose="020B0609020204030204" pitchFamily="49" charset="0"/>
                <a:ea typeface="Consolas" panose="020B0609020204030204" pitchFamily="49" charset="0"/>
                <a:cs typeface="Consolas" panose="020B0609020204030204" pitchFamily="49" charset="0"/>
              </a:rPr>
              <a:t>Iterator</a:t>
            </a:r>
            <a:r>
              <a:rPr lang="lv-LV" altLang="lv-LV" sz="1800" dirty="0">
                <a:solidFill>
                  <a:srgbClr val="FF0000"/>
                </a:solidFill>
                <a:latin typeface="Consolas" panose="020B0609020204030204" pitchFamily="49" charset="0"/>
                <a:ea typeface="Consolas" panose="020B0609020204030204" pitchFamily="49" charset="0"/>
                <a:cs typeface="Consolas" panose="020B0609020204030204" pitchFamily="49" charset="0"/>
              </a:rPr>
              <a:t> it=labirints[i].</a:t>
            </a:r>
            <a:r>
              <a:rPr lang="lv-LV" altLang="lv-LV" sz="1800" dirty="0" err="1">
                <a:solidFill>
                  <a:srgbClr val="FF0000"/>
                </a:solidFill>
                <a:latin typeface="Consolas" panose="020B0609020204030204" pitchFamily="49" charset="0"/>
                <a:ea typeface="Consolas" panose="020B0609020204030204" pitchFamily="49" charset="0"/>
                <a:cs typeface="Consolas" panose="020B0609020204030204" pitchFamily="49" charset="0"/>
              </a:rPr>
              <a:t>iterator</a:t>
            </a:r>
            <a:r>
              <a:rPr lang="lv-LV" altLang="lv-LV" sz="1800" dirty="0">
                <a:solidFill>
                  <a:srgbClr val="FF0000"/>
                </a:solidFill>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while</a:t>
            </a:r>
            <a:r>
              <a:rPr lang="lv-LV" altLang="lv-LV" sz="1800" dirty="0">
                <a:latin typeface="Consolas" panose="020B0609020204030204" pitchFamily="49" charset="0"/>
                <a:ea typeface="Consolas" panose="020B0609020204030204" pitchFamily="49" charset="0"/>
                <a:cs typeface="Consolas" panose="020B0609020204030204" pitchFamily="49" charset="0"/>
              </a:rPr>
              <a:t>(</a:t>
            </a:r>
            <a:r>
              <a:rPr lang="lv-LV" altLang="lv-LV" sz="1800" dirty="0" err="1">
                <a:latin typeface="Consolas" panose="020B0609020204030204" pitchFamily="49" charset="0"/>
                <a:ea typeface="Consolas" panose="020B0609020204030204" pitchFamily="49" charset="0"/>
                <a:cs typeface="Consolas" panose="020B0609020204030204" pitchFamily="49" charset="0"/>
              </a:rPr>
              <a:t>it.hasNext</a:t>
            </a: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int</a:t>
            </a:r>
            <a:r>
              <a:rPr lang="lv-LV" altLang="lv-LV" sz="1800" dirty="0">
                <a:latin typeface="Consolas" panose="020B0609020204030204" pitchFamily="49" charset="0"/>
                <a:ea typeface="Consolas" panose="020B0609020204030204" pitchFamily="49" charset="0"/>
                <a:cs typeface="Consolas" panose="020B0609020204030204" pitchFamily="49" charset="0"/>
              </a:rPr>
              <a:t> j=(</a:t>
            </a:r>
            <a:r>
              <a:rPr lang="lv-LV" altLang="lv-LV" sz="1800" dirty="0" err="1">
                <a:latin typeface="Consolas" panose="020B0609020204030204" pitchFamily="49" charset="0"/>
                <a:ea typeface="Consolas" panose="020B0609020204030204" pitchFamily="49" charset="0"/>
                <a:cs typeface="Consolas" panose="020B0609020204030204" pitchFamily="49" charset="0"/>
              </a:rPr>
              <a:t>Integer</a:t>
            </a:r>
            <a:r>
              <a:rPr lang="lv-LV" altLang="lv-LV" sz="1800" dirty="0">
                <a:latin typeface="Consolas" panose="020B0609020204030204" pitchFamily="49" charset="0"/>
                <a:ea typeface="Consolas" panose="020B0609020204030204" pitchFamily="49" charset="0"/>
                <a:cs typeface="Consolas" panose="020B0609020204030204" pitchFamily="49" charset="0"/>
              </a:rPr>
              <a:t>)</a:t>
            </a:r>
            <a:r>
              <a:rPr lang="lv-LV" altLang="lv-LV" sz="1800" dirty="0" err="1">
                <a:latin typeface="Consolas" panose="020B0609020204030204" pitchFamily="49" charset="0"/>
                <a:ea typeface="Consolas" panose="020B0609020204030204" pitchFamily="49" charset="0"/>
                <a:cs typeface="Consolas" panose="020B0609020204030204" pitchFamily="49" charset="0"/>
              </a:rPr>
              <a:t>it.next</a:t>
            </a:r>
            <a:r>
              <a:rPr lang="lv-LV" altLang="lv-LV" sz="1800" dirty="0">
                <a:latin typeface="Consolas" panose="020B0609020204030204" pitchFamily="49" charset="0"/>
                <a:ea typeface="Consolas" panose="020B0609020204030204" pitchFamily="49" charset="0"/>
                <a:cs typeface="Consolas" panose="020B0609020204030204" pitchFamily="49" charset="0"/>
              </a:rPr>
              <a:t>();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a:t>
            </a:r>
            <a:r>
              <a:rPr lang="lv-LV" altLang="lv-LV" sz="1800" dirty="0">
                <a:latin typeface="Consolas" panose="020B0609020204030204" pitchFamily="49" charset="0"/>
                <a:ea typeface="Consolas" panose="020B0609020204030204" pitchFamily="49" charset="0"/>
                <a:cs typeface="Consolas" panose="020B0609020204030204" pitchFamily="49" charset="0"/>
              </a:rPr>
              <a:t>((j+1)+"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System.out.println</a:t>
            </a: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ea typeface="Consolas" panose="020B0609020204030204" pitchFamily="49" charset="0"/>
                <a:cs typeface="Consolas" panose="020B0609020204030204" pitchFamily="49" charset="0"/>
              </a:rPr>
              <a:t>Izmantojot metodi </a:t>
            </a:r>
            <a:r>
              <a:rPr lang="lv-LV" altLang="lv-LV" sz="1800" dirty="0" err="1">
                <a:ea typeface="Consolas" panose="020B0609020204030204" pitchFamily="49" charset="0"/>
                <a:cs typeface="Consolas" panose="020B0609020204030204" pitchFamily="49" charset="0"/>
              </a:rPr>
              <a:t>get</a:t>
            </a:r>
            <a:r>
              <a:rPr lang="lv-LV" altLang="lv-LV" sz="1800" dirty="0">
                <a:ea typeface="Consolas" panose="020B0609020204030204" pitchFamily="49" charset="0"/>
                <a:cs typeface="Consolas" panose="020B0609020204030204" pitchFamily="49" charset="0"/>
              </a:rPr>
              <a:t>:</a:t>
            </a:r>
          </a:p>
          <a:p>
            <a:pPr marL="0" indent="0">
              <a:buFontTx/>
              <a:buNone/>
            </a:pPr>
            <a:r>
              <a:rPr lang="lv-LV" altLang="lv-LV" sz="1800" dirty="0" err="1">
                <a:latin typeface="Consolas" panose="020B0609020204030204" pitchFamily="49" charset="0"/>
                <a:ea typeface="Consolas" panose="020B0609020204030204" pitchFamily="49" charset="0"/>
                <a:cs typeface="Consolas" panose="020B0609020204030204" pitchFamily="49" charset="0"/>
              </a:rPr>
              <a:t>for</a:t>
            </a:r>
            <a:r>
              <a:rPr lang="lv-LV" altLang="lv-LV" sz="1800" dirty="0">
                <a:latin typeface="Consolas" panose="020B0609020204030204" pitchFamily="49" charset="0"/>
                <a:ea typeface="Consolas" panose="020B0609020204030204" pitchFamily="49" charset="0"/>
                <a:cs typeface="Consolas" panose="020B0609020204030204" pitchFamily="49" charset="0"/>
              </a:rPr>
              <a:t>(</a:t>
            </a:r>
            <a:r>
              <a:rPr lang="lv-LV" altLang="lv-LV" sz="1800" dirty="0" err="1">
                <a:latin typeface="Consolas" panose="020B0609020204030204" pitchFamily="49" charset="0"/>
                <a:ea typeface="Consolas" panose="020B0609020204030204" pitchFamily="49" charset="0"/>
                <a:cs typeface="Consolas" panose="020B0609020204030204" pitchFamily="49" charset="0"/>
              </a:rPr>
              <a:t>int</a:t>
            </a:r>
            <a:r>
              <a:rPr lang="lv-LV" altLang="lv-LV" sz="1800" dirty="0">
                <a:latin typeface="Consolas" panose="020B0609020204030204" pitchFamily="49" charset="0"/>
                <a:ea typeface="Consolas" panose="020B0609020204030204" pitchFamily="49" charset="0"/>
                <a:cs typeface="Consolas" panose="020B0609020204030204" pitchFamily="49" charset="0"/>
              </a:rPr>
              <a:t> i=0;i&lt;</a:t>
            </a:r>
            <a:r>
              <a:rPr lang="lv-LV" altLang="lv-LV" sz="1800" dirty="0" err="1">
                <a:latin typeface="Consolas" panose="020B0609020204030204" pitchFamily="49" charset="0"/>
                <a:ea typeface="Consolas" panose="020B0609020204030204" pitchFamily="49" charset="0"/>
                <a:cs typeface="Consolas" panose="020B0609020204030204" pitchFamily="49" charset="0"/>
              </a:rPr>
              <a:t>labirints.length;i</a:t>
            </a: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a:t>
            </a:r>
            <a:r>
              <a:rPr lang="lv-LV" altLang="lv-LV" sz="1800" dirty="0">
                <a:latin typeface="Consolas" panose="020B0609020204030204" pitchFamily="49" charset="0"/>
                <a:ea typeface="Consolas" panose="020B0609020204030204" pitchFamily="49" charset="0"/>
                <a:cs typeface="Consolas" panose="020B0609020204030204" pitchFamily="49" charset="0"/>
              </a:rPr>
              <a:t>((i+1)+" kaimiņi: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for</a:t>
            </a:r>
            <a:r>
              <a:rPr lang="lv-LV" altLang="lv-LV" sz="1800" dirty="0">
                <a:latin typeface="Consolas" panose="020B0609020204030204" pitchFamily="49" charset="0"/>
                <a:ea typeface="Consolas" panose="020B0609020204030204" pitchFamily="49" charset="0"/>
                <a:cs typeface="Consolas" panose="020B0609020204030204" pitchFamily="49" charset="0"/>
              </a:rPr>
              <a:t>(</a:t>
            </a:r>
            <a:r>
              <a:rPr lang="lv-LV" altLang="lv-LV" sz="1800" dirty="0" err="1">
                <a:latin typeface="Consolas" panose="020B0609020204030204" pitchFamily="49" charset="0"/>
                <a:ea typeface="Consolas" panose="020B0609020204030204" pitchFamily="49" charset="0"/>
                <a:cs typeface="Consolas" panose="020B0609020204030204" pitchFamily="49" charset="0"/>
              </a:rPr>
              <a:t>int</a:t>
            </a:r>
            <a:r>
              <a:rPr lang="lv-LV" altLang="lv-LV" sz="1800" dirty="0">
                <a:latin typeface="Consolas" panose="020B0609020204030204" pitchFamily="49" charset="0"/>
                <a:ea typeface="Consolas" panose="020B0609020204030204" pitchFamily="49" charset="0"/>
                <a:cs typeface="Consolas" panose="020B0609020204030204" pitchFamily="49" charset="0"/>
              </a:rPr>
              <a:t> j=0;j&lt;labirints[i].</a:t>
            </a:r>
            <a:r>
              <a:rPr lang="lv-LV" altLang="lv-LV" sz="1800" dirty="0" err="1">
                <a:solidFill>
                  <a:srgbClr val="FF0000"/>
                </a:solidFill>
                <a:latin typeface="Consolas" panose="020B0609020204030204" pitchFamily="49" charset="0"/>
                <a:ea typeface="Consolas" panose="020B0609020204030204" pitchFamily="49" charset="0"/>
                <a:cs typeface="Consolas" panose="020B0609020204030204" pitchFamily="49" charset="0"/>
              </a:rPr>
              <a:t>size</a:t>
            </a:r>
            <a:r>
              <a:rPr lang="lv-LV" altLang="lv-LV" sz="1800" dirty="0">
                <a:latin typeface="Consolas" panose="020B0609020204030204" pitchFamily="49" charset="0"/>
                <a:ea typeface="Consolas" panose="020B0609020204030204" pitchFamily="49" charset="0"/>
                <a:cs typeface="Consolas" panose="020B0609020204030204" pitchFamily="49" charset="0"/>
              </a:rPr>
              <a:t>();j++){</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a:t>
            </a:r>
            <a:r>
              <a:rPr lang="lv-LV" altLang="lv-LV" sz="1800" dirty="0">
                <a:latin typeface="Consolas" panose="020B0609020204030204" pitchFamily="49" charset="0"/>
                <a:ea typeface="Consolas" panose="020B0609020204030204" pitchFamily="49" charset="0"/>
                <a:cs typeface="Consolas" panose="020B0609020204030204" pitchFamily="49" charset="0"/>
              </a:rPr>
              <a:t>((labirints[i].</a:t>
            </a:r>
            <a:r>
              <a:rPr lang="lv-LV" altLang="lv-LV" sz="1800" dirty="0" err="1">
                <a:solidFill>
                  <a:srgbClr val="FF0000"/>
                </a:solidFill>
                <a:latin typeface="Consolas" panose="020B0609020204030204" pitchFamily="49" charset="0"/>
                <a:ea typeface="Consolas" panose="020B0609020204030204" pitchFamily="49" charset="0"/>
                <a:cs typeface="Consolas" panose="020B0609020204030204" pitchFamily="49" charset="0"/>
              </a:rPr>
              <a:t>get</a:t>
            </a:r>
            <a:r>
              <a:rPr lang="lv-LV" altLang="lv-LV" sz="1800" dirty="0">
                <a:latin typeface="Consolas" panose="020B0609020204030204" pitchFamily="49" charset="0"/>
                <a:ea typeface="Consolas" panose="020B0609020204030204" pitchFamily="49" charset="0"/>
                <a:cs typeface="Consolas" panose="020B0609020204030204" pitchFamily="49" charset="0"/>
              </a:rPr>
              <a:t>(j)+1)+"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    </a:t>
            </a:r>
            <a:r>
              <a:rPr lang="lv-LV" altLang="lv-LV" sz="1800" dirty="0" err="1">
                <a:latin typeface="Consolas" panose="020B0609020204030204" pitchFamily="49" charset="0"/>
                <a:ea typeface="Consolas" panose="020B0609020204030204" pitchFamily="49" charset="0"/>
                <a:cs typeface="Consolas" panose="020B0609020204030204" pitchFamily="49" charset="0"/>
              </a:rPr>
              <a:t>System.out.println</a:t>
            </a:r>
            <a:r>
              <a:rPr lang="lv-LV" altLang="lv-LV" sz="1800" dirty="0">
                <a:latin typeface="Consolas" panose="020B0609020204030204" pitchFamily="49" charset="0"/>
                <a:ea typeface="Consolas" panose="020B0609020204030204" pitchFamily="49" charset="0"/>
                <a:cs typeface="Consolas" panose="020B0609020204030204" pitchFamily="49" charset="0"/>
              </a:rPr>
              <a:t>();</a:t>
            </a:r>
          </a:p>
          <a:p>
            <a:pPr marL="0" indent="0">
              <a:buFontTx/>
              <a:buNone/>
            </a:pPr>
            <a:r>
              <a:rPr lang="lv-LV" altLang="lv-LV" sz="1800" dirty="0">
                <a:latin typeface="Consolas" panose="020B0609020204030204" pitchFamily="49" charset="0"/>
                <a:ea typeface="Consolas" panose="020B0609020204030204" pitchFamily="49" charset="0"/>
                <a:cs typeface="Consolas" panose="020B0609020204030204" pitchFamily="49" charset="0"/>
              </a:rPr>
              <a:t>}</a:t>
            </a:r>
            <a:endParaRPr lang="en-US" altLang="lv-LV" sz="1800" dirty="0">
              <a:latin typeface="Consolas" panose="020B0609020204030204" pitchFamily="49" charset="0"/>
              <a:ea typeface="Consolas" panose="020B0609020204030204" pitchFamily="49" charset="0"/>
              <a:cs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F2C442B-D075-4B45-AB50-0186BDB91A48}"/>
              </a:ext>
            </a:extLst>
          </p:cNvPr>
          <p:cNvSpPr>
            <a:spLocks noGrp="1" noChangeArrowheads="1"/>
          </p:cNvSpPr>
          <p:nvPr>
            <p:ph type="title"/>
          </p:nvPr>
        </p:nvSpPr>
        <p:spPr/>
        <p:txBody>
          <a:bodyPr/>
          <a:lstStyle/>
          <a:p>
            <a:pPr eaLnBrk="1" hangingPunct="1"/>
            <a:r>
              <a:rPr lang="lv-LV" altLang="lv-LV" sz="4000"/>
              <a:t>Grafa visu virsotņu apmeklēšana jeb traversēšana</a:t>
            </a:r>
            <a:endParaRPr lang="en-US" altLang="lv-LV" sz="4000"/>
          </a:p>
        </p:txBody>
      </p:sp>
      <p:sp>
        <p:nvSpPr>
          <p:cNvPr id="11267" name="Rectangle 3">
            <a:extLst>
              <a:ext uri="{FF2B5EF4-FFF2-40B4-BE49-F238E27FC236}">
                <a16:creationId xmlns:a16="http://schemas.microsoft.com/office/drawing/2014/main" id="{C37F2C18-6A15-4B01-909B-CFFD217DE566}"/>
              </a:ext>
            </a:extLst>
          </p:cNvPr>
          <p:cNvSpPr>
            <a:spLocks noGrp="1" noChangeArrowheads="1"/>
          </p:cNvSpPr>
          <p:nvPr>
            <p:ph type="body" idx="1"/>
          </p:nvPr>
        </p:nvSpPr>
        <p:spPr/>
        <p:txBody>
          <a:bodyPr/>
          <a:lstStyle/>
          <a:p>
            <a:pPr eaLnBrk="1" hangingPunct="1"/>
            <a:r>
              <a:rPr lang="lv-LV" altLang="lv-LV" dirty="0"/>
              <a:t>DFS - iešana dziļumā</a:t>
            </a:r>
          </a:p>
          <a:p>
            <a:pPr lvl="1" eaLnBrk="1" hangingPunct="1"/>
            <a:r>
              <a:rPr lang="lv-LV" altLang="lv-LV" dirty="0"/>
              <a:t>Iet uz pirmo virsotni vienas šķautnes attālumā, no tās atkal tālāk uz pirmo neapmeklēto virsotni vienas šķautnes attālumā utt.</a:t>
            </a:r>
          </a:p>
          <a:p>
            <a:pPr eaLnBrk="1" hangingPunct="1"/>
            <a:r>
              <a:rPr lang="lv-LV" altLang="lv-LV" dirty="0"/>
              <a:t>BFS – iešana platumā</a:t>
            </a:r>
          </a:p>
          <a:p>
            <a:pPr lvl="1" eaLnBrk="1" hangingPunct="1"/>
            <a:r>
              <a:rPr lang="lv-LV" altLang="lv-LV" dirty="0"/>
              <a:t>Vispirms apmeklē visas virsotnes vienas šķautnes attālumā, tad visas virsotnes divu šķautņu attālumā utt.</a:t>
            </a:r>
            <a:endParaRPr lang="en-US" altLang="lv-LV"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555D594-6F81-41BC-9966-028054C3E6F7}"/>
              </a:ext>
            </a:extLst>
          </p:cNvPr>
          <p:cNvSpPr>
            <a:spLocks noGrp="1" noChangeArrowheads="1"/>
          </p:cNvSpPr>
          <p:nvPr>
            <p:ph type="title"/>
          </p:nvPr>
        </p:nvSpPr>
        <p:spPr/>
        <p:txBody>
          <a:bodyPr/>
          <a:lstStyle/>
          <a:p>
            <a:pPr eaLnBrk="1" hangingPunct="1"/>
            <a:r>
              <a:rPr lang="lv-LV" altLang="lv-LV"/>
              <a:t>DFS algoritms (ar rekursiju)</a:t>
            </a:r>
            <a:endParaRPr lang="en-US" altLang="lv-LV"/>
          </a:p>
        </p:txBody>
      </p:sp>
      <p:sp>
        <p:nvSpPr>
          <p:cNvPr id="12291" name="Rectangle 3">
            <a:extLst>
              <a:ext uri="{FF2B5EF4-FFF2-40B4-BE49-F238E27FC236}">
                <a16:creationId xmlns:a16="http://schemas.microsoft.com/office/drawing/2014/main" id="{03B11AD3-45B3-4EF9-89A8-8910F0EDE0F0}"/>
              </a:ext>
            </a:extLst>
          </p:cNvPr>
          <p:cNvSpPr>
            <a:spLocks noGrp="1" noChangeArrowheads="1"/>
          </p:cNvSpPr>
          <p:nvPr>
            <p:ph type="body" idx="1"/>
          </p:nvPr>
        </p:nvSpPr>
        <p:spPr>
          <a:xfrm>
            <a:off x="914400" y="1446093"/>
            <a:ext cx="6249888" cy="4647203"/>
          </a:xfrm>
        </p:spPr>
        <p:txBody>
          <a:bodyPr/>
          <a:lstStyle/>
          <a:p>
            <a:pPr marL="0" indent="0" eaLnBrk="1" hangingPunct="1">
              <a:spcAft>
                <a:spcPct val="20000"/>
              </a:spcAft>
              <a:buNone/>
            </a:pPr>
            <a:r>
              <a:rPr lang="lv-LV" altLang="lv-LV" sz="2400" dirty="0">
                <a:latin typeface="Consolas" panose="020B0609020204030204" pitchFamily="49" charset="0"/>
                <a:sym typeface="Symbol" panose="05050102010706020507" pitchFamily="18" charset="2"/>
              </a:rPr>
              <a:t>DFS(v)</a:t>
            </a:r>
          </a:p>
          <a:p>
            <a:pPr marL="457200" lvl="1" indent="0" eaLnBrk="1" hangingPunct="1">
              <a:spcAft>
                <a:spcPct val="20000"/>
              </a:spcAft>
              <a:buNone/>
            </a:pPr>
            <a:r>
              <a:rPr lang="lv-LV" altLang="lv-LV" sz="2000" dirty="0" err="1">
                <a:latin typeface="Consolas" panose="020B0609020204030204" pitchFamily="49" charset="0"/>
                <a:sym typeface="Symbol" panose="05050102010706020507" pitchFamily="18" charset="2"/>
              </a:rPr>
              <a:t>apmeklets</a:t>
            </a:r>
            <a:r>
              <a:rPr lang="lv-LV" altLang="lv-LV" sz="2000" dirty="0">
                <a:latin typeface="Consolas" panose="020B0609020204030204" pitchFamily="49" charset="0"/>
                <a:sym typeface="Symbol" panose="05050102010706020507" pitchFamily="18" charset="2"/>
              </a:rPr>
              <a:t>[v]=</a:t>
            </a:r>
            <a:r>
              <a:rPr lang="lv-LV" altLang="lv-LV" sz="2000" dirty="0" err="1">
                <a:latin typeface="Consolas" panose="020B0609020204030204" pitchFamily="49" charset="0"/>
                <a:sym typeface="Symbol" panose="05050102010706020507" pitchFamily="18" charset="2"/>
              </a:rPr>
              <a:t>true</a:t>
            </a:r>
            <a:endParaRPr lang="lv-LV" altLang="lv-LV" sz="2000" dirty="0">
              <a:latin typeface="Consolas" panose="020B0609020204030204" pitchFamily="49" charset="0"/>
              <a:sym typeface="Symbol" panose="05050102010706020507" pitchFamily="18" charset="2"/>
            </a:endParaRPr>
          </a:p>
          <a:p>
            <a:pPr marL="457200" lvl="1" indent="0" eaLnBrk="1" hangingPunct="1">
              <a:spcAft>
                <a:spcPct val="20000"/>
              </a:spcAft>
              <a:buNone/>
            </a:pPr>
            <a:r>
              <a:rPr lang="lv-LV" altLang="lv-LV" sz="2000" dirty="0">
                <a:latin typeface="Consolas" panose="020B0609020204030204" pitchFamily="49" charset="0"/>
                <a:sym typeface="Symbol" panose="05050102010706020507" pitchFamily="18" charset="2"/>
              </a:rPr>
              <a:t>katrai u  </a:t>
            </a:r>
            <a:r>
              <a:rPr lang="lv-LV" altLang="lv-LV" sz="2000" dirty="0" err="1">
                <a:latin typeface="Consolas" panose="020B0609020204030204" pitchFamily="49" charset="0"/>
                <a:sym typeface="Symbol" panose="05050102010706020507" pitchFamily="18" charset="2"/>
              </a:rPr>
              <a:t>V</a:t>
            </a:r>
            <a:r>
              <a:rPr lang="lv-LV" altLang="lv-LV" sz="2000" baseline="-25000" dirty="0" err="1">
                <a:latin typeface="Consolas" panose="020B0609020204030204" pitchFamily="49" charset="0"/>
                <a:sym typeface="Symbol" panose="05050102010706020507" pitchFamily="18" charset="2"/>
              </a:rPr>
              <a:t>kaimiņi</a:t>
            </a:r>
            <a:endParaRPr lang="lv-LV" altLang="lv-LV" sz="2000" baseline="-25000" dirty="0">
              <a:latin typeface="Consolas" panose="020B0609020204030204" pitchFamily="49" charset="0"/>
              <a:sym typeface="Symbol" panose="05050102010706020507" pitchFamily="18" charset="2"/>
            </a:endParaRPr>
          </a:p>
          <a:p>
            <a:pPr marL="914400" lvl="2" indent="0" eaLnBrk="1" hangingPunct="1">
              <a:spcAft>
                <a:spcPct val="20000"/>
              </a:spcAft>
              <a:buNone/>
            </a:pPr>
            <a:r>
              <a:rPr lang="lv-LV" altLang="lv-LV" sz="3200" baseline="-25000" dirty="0">
                <a:latin typeface="Consolas" panose="020B0609020204030204" pitchFamily="49" charset="0"/>
                <a:sym typeface="Symbol" panose="05050102010706020507" pitchFamily="18" charset="2"/>
              </a:rPr>
              <a:t>ja nav </a:t>
            </a:r>
            <a:r>
              <a:rPr lang="lv-LV" altLang="lv-LV" sz="3200" baseline="-25000" dirty="0" err="1">
                <a:latin typeface="Consolas" panose="020B0609020204030204" pitchFamily="49" charset="0"/>
                <a:sym typeface="Symbol" panose="05050102010706020507" pitchFamily="18" charset="2"/>
              </a:rPr>
              <a:t>apmeklets</a:t>
            </a:r>
            <a:r>
              <a:rPr lang="lv-LV" altLang="lv-LV" sz="3200" baseline="-25000" dirty="0">
                <a:latin typeface="Consolas" panose="020B0609020204030204" pitchFamily="49" charset="0"/>
                <a:sym typeface="Symbol" panose="05050102010706020507" pitchFamily="18" charset="2"/>
              </a:rPr>
              <a:t>[u] tad DFS(u)</a:t>
            </a:r>
          </a:p>
          <a:p>
            <a:pPr marL="0" indent="0" eaLnBrk="1" hangingPunct="1">
              <a:spcAft>
                <a:spcPct val="20000"/>
              </a:spcAft>
              <a:buNone/>
            </a:pPr>
            <a:r>
              <a:rPr lang="lv-LV" altLang="lv-LV" sz="2000" dirty="0">
                <a:latin typeface="Consolas" panose="020B0609020204030204" pitchFamily="49" charset="0"/>
                <a:sym typeface="Symbol" panose="05050102010706020507" pitchFamily="18" charset="2"/>
              </a:rPr>
              <a:t>DFS beigas</a:t>
            </a:r>
          </a:p>
          <a:p>
            <a:pPr marL="0" indent="0" eaLnBrk="1" hangingPunct="1">
              <a:spcAft>
                <a:spcPct val="20000"/>
              </a:spcAft>
              <a:buNone/>
            </a:pPr>
            <a:r>
              <a:rPr lang="lv-LV" altLang="lv-LV" sz="2000" dirty="0">
                <a:latin typeface="Consolas" panose="020B0609020204030204" pitchFamily="49" charset="0"/>
                <a:sym typeface="Symbol" panose="05050102010706020507" pitchFamily="18" charset="2"/>
              </a:rPr>
              <a:t>Sākums</a:t>
            </a:r>
          </a:p>
          <a:p>
            <a:pPr marL="400050" lvl="1" indent="0" eaLnBrk="1" hangingPunct="1">
              <a:spcAft>
                <a:spcPct val="20000"/>
              </a:spcAft>
              <a:buNone/>
            </a:pPr>
            <a:r>
              <a:rPr lang="lv-LV" altLang="lv-LV" sz="2000" dirty="0">
                <a:latin typeface="Consolas" panose="020B0609020204030204" pitchFamily="49" charset="0"/>
              </a:rPr>
              <a:t>katrai </a:t>
            </a:r>
            <a:r>
              <a:rPr lang="lv-LV" altLang="lv-LV" sz="2000" dirty="0" err="1">
                <a:latin typeface="Consolas" panose="020B0609020204030204" pitchFamily="49" charset="0"/>
              </a:rPr>
              <a:t>v</a:t>
            </a:r>
            <a:r>
              <a:rPr lang="lv-LV" altLang="lv-LV" sz="2000" dirty="0" err="1">
                <a:latin typeface="Consolas" panose="020B0609020204030204" pitchFamily="49" charset="0"/>
                <a:sym typeface="Symbol" panose="05050102010706020507" pitchFamily="18" charset="2"/>
              </a:rPr>
              <a:t>V</a:t>
            </a:r>
            <a:endParaRPr lang="lv-LV" altLang="lv-LV" sz="2000" dirty="0">
              <a:latin typeface="Consolas" panose="020B0609020204030204" pitchFamily="49" charset="0"/>
              <a:sym typeface="Symbol" panose="05050102010706020507" pitchFamily="18" charset="2"/>
            </a:endParaRPr>
          </a:p>
          <a:p>
            <a:pPr marL="857250" lvl="2" indent="0" eaLnBrk="1" hangingPunct="1">
              <a:spcAft>
                <a:spcPct val="20000"/>
              </a:spcAft>
              <a:buNone/>
            </a:pPr>
            <a:r>
              <a:rPr lang="lv-LV" altLang="lv-LV" sz="2000" dirty="0" err="1">
                <a:latin typeface="Consolas" panose="020B0609020204030204" pitchFamily="49" charset="0"/>
                <a:sym typeface="Symbol" panose="05050102010706020507" pitchFamily="18" charset="2"/>
              </a:rPr>
              <a:t>apmeklets</a:t>
            </a:r>
            <a:r>
              <a:rPr lang="lv-LV" altLang="lv-LV" sz="2000" dirty="0">
                <a:latin typeface="Consolas" panose="020B0609020204030204" pitchFamily="49" charset="0"/>
                <a:sym typeface="Symbol" panose="05050102010706020507" pitchFamily="18" charset="2"/>
              </a:rPr>
              <a:t>[v]=</a:t>
            </a:r>
            <a:r>
              <a:rPr lang="lv-LV" altLang="lv-LV" sz="2000" dirty="0" err="1">
                <a:latin typeface="Consolas" panose="020B0609020204030204" pitchFamily="49" charset="0"/>
                <a:sym typeface="Symbol" panose="05050102010706020507" pitchFamily="18" charset="2"/>
              </a:rPr>
              <a:t>false</a:t>
            </a:r>
            <a:endParaRPr lang="lv-LV" altLang="lv-LV" sz="2000" dirty="0">
              <a:latin typeface="Consolas" panose="020B0609020204030204" pitchFamily="49" charset="0"/>
              <a:sym typeface="Symbol" panose="05050102010706020507" pitchFamily="18" charset="2"/>
            </a:endParaRPr>
          </a:p>
          <a:p>
            <a:pPr marL="400050" lvl="1" indent="0" eaLnBrk="1" hangingPunct="1">
              <a:spcAft>
                <a:spcPct val="20000"/>
              </a:spcAft>
              <a:buNone/>
            </a:pPr>
            <a:r>
              <a:rPr lang="lv-LV" altLang="lv-LV" sz="2000" dirty="0">
                <a:latin typeface="Consolas" panose="020B0609020204030204" pitchFamily="49" charset="0"/>
                <a:sym typeface="Symbol" panose="05050102010706020507" pitchFamily="18" charset="2"/>
              </a:rPr>
              <a:t>katrai </a:t>
            </a:r>
            <a:r>
              <a:rPr lang="lv-LV" altLang="lv-LV" sz="2000" dirty="0" err="1">
                <a:latin typeface="Consolas" panose="020B0609020204030204" pitchFamily="49" charset="0"/>
              </a:rPr>
              <a:t>v</a:t>
            </a:r>
            <a:r>
              <a:rPr lang="lv-LV" altLang="lv-LV" sz="2000" dirty="0" err="1">
                <a:latin typeface="Consolas" panose="020B0609020204030204" pitchFamily="49" charset="0"/>
                <a:sym typeface="Symbol" panose="05050102010706020507" pitchFamily="18" charset="2"/>
              </a:rPr>
              <a:t>V</a:t>
            </a:r>
            <a:endParaRPr lang="lv-LV" altLang="lv-LV" sz="2000" dirty="0">
              <a:latin typeface="Consolas" panose="020B0609020204030204" pitchFamily="49" charset="0"/>
              <a:sym typeface="Symbol" panose="05050102010706020507" pitchFamily="18" charset="2"/>
            </a:endParaRPr>
          </a:p>
          <a:p>
            <a:pPr marL="800100" lvl="2" indent="0" eaLnBrk="1" hangingPunct="1">
              <a:spcAft>
                <a:spcPct val="20000"/>
              </a:spcAft>
              <a:buNone/>
            </a:pPr>
            <a:r>
              <a:rPr lang="lv-LV" altLang="lv-LV" sz="2000" dirty="0">
                <a:latin typeface="Consolas" panose="020B0609020204030204" pitchFamily="49" charset="0"/>
                <a:sym typeface="Symbol" panose="05050102010706020507" pitchFamily="18" charset="2"/>
              </a:rPr>
              <a:t>ja nav </a:t>
            </a:r>
            <a:r>
              <a:rPr lang="lv-LV" altLang="lv-LV" sz="2000" dirty="0" err="1">
                <a:latin typeface="Consolas" panose="020B0609020204030204" pitchFamily="49" charset="0"/>
                <a:sym typeface="Symbol" panose="05050102010706020507" pitchFamily="18" charset="2"/>
              </a:rPr>
              <a:t>apmeklets</a:t>
            </a:r>
            <a:r>
              <a:rPr lang="lv-LV" altLang="lv-LV" sz="2000" dirty="0">
                <a:latin typeface="Consolas" panose="020B0609020204030204" pitchFamily="49" charset="0"/>
                <a:sym typeface="Symbol" panose="05050102010706020507" pitchFamily="18" charset="2"/>
              </a:rPr>
              <a:t>[v] tad DFS(v)</a:t>
            </a:r>
          </a:p>
          <a:p>
            <a:pPr marL="0" indent="0" eaLnBrk="1" hangingPunct="1">
              <a:spcAft>
                <a:spcPct val="20000"/>
              </a:spcAft>
              <a:buNone/>
            </a:pPr>
            <a:r>
              <a:rPr lang="lv-LV" altLang="lv-LV" sz="2000" dirty="0">
                <a:latin typeface="Consolas" panose="020B0609020204030204" pitchFamily="49" charset="0"/>
                <a:sym typeface="Symbol" panose="05050102010706020507" pitchFamily="18" charset="2"/>
              </a:rPr>
              <a:t>Beigas</a:t>
            </a:r>
            <a:endParaRPr lang="lv-LV" altLang="lv-LV" sz="2800" dirty="0">
              <a:latin typeface="Consolas" panose="020B0609020204030204" pitchFamily="49" charset="0"/>
              <a:sym typeface="Symbol" panose="05050102010706020507" pitchFamily="18" charset="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C03001C-34C3-45B7-83F8-10A6404BA030}"/>
              </a:ext>
            </a:extLst>
          </p:cNvPr>
          <p:cNvSpPr>
            <a:spLocks noGrp="1" noChangeArrowheads="1"/>
          </p:cNvSpPr>
          <p:nvPr>
            <p:ph type="title"/>
          </p:nvPr>
        </p:nvSpPr>
        <p:spPr/>
        <p:txBody>
          <a:bodyPr/>
          <a:lstStyle/>
          <a:p>
            <a:pPr eaLnBrk="1" hangingPunct="1"/>
            <a:r>
              <a:rPr lang="lv-LV" altLang="lv-LV"/>
              <a:t>DFS algoritms (ar steku)</a:t>
            </a:r>
            <a:endParaRPr lang="en-US" altLang="lv-LV"/>
          </a:p>
        </p:txBody>
      </p:sp>
      <p:sp>
        <p:nvSpPr>
          <p:cNvPr id="13315" name="Rectangle 3">
            <a:extLst>
              <a:ext uri="{FF2B5EF4-FFF2-40B4-BE49-F238E27FC236}">
                <a16:creationId xmlns:a16="http://schemas.microsoft.com/office/drawing/2014/main" id="{AFA411E6-4D02-42EA-8BB9-2229053F112C}"/>
              </a:ext>
            </a:extLst>
          </p:cNvPr>
          <p:cNvSpPr>
            <a:spLocks noGrp="1" noChangeArrowheads="1"/>
          </p:cNvSpPr>
          <p:nvPr>
            <p:ph type="body" idx="1"/>
          </p:nvPr>
        </p:nvSpPr>
        <p:spPr/>
        <p:txBody>
          <a:bodyPr/>
          <a:lstStyle/>
          <a:p>
            <a:pPr marL="0" indent="0" eaLnBrk="1" hangingPunct="1">
              <a:spcAft>
                <a:spcPct val="20000"/>
              </a:spcAft>
              <a:buNone/>
            </a:pPr>
            <a:r>
              <a:rPr lang="lv-LV" altLang="lv-LV" sz="2400" u="sng" dirty="0">
                <a:latin typeface="Consolas" panose="020B0609020204030204" pitchFamily="49" charset="0"/>
                <a:sym typeface="Symbol" panose="05050102010706020507" pitchFamily="18" charset="2"/>
              </a:rPr>
              <a:t>DFS(v)</a:t>
            </a:r>
          </a:p>
          <a:p>
            <a:pPr marL="457200" lvl="1" indent="0" eaLnBrk="1" hangingPunct="1">
              <a:spcAft>
                <a:spcPct val="20000"/>
              </a:spcAft>
              <a:buNone/>
            </a:pPr>
            <a:r>
              <a:rPr lang="lv-LV" altLang="lv-LV" sz="2400" dirty="0">
                <a:latin typeface="Consolas" panose="020B0609020204030204" pitchFamily="49" charset="0"/>
                <a:sym typeface="Symbol" panose="05050102010706020507" pitchFamily="18" charset="2"/>
              </a:rPr>
              <a:t>iztukšo steku</a:t>
            </a:r>
          </a:p>
          <a:p>
            <a:pPr marL="457200" lvl="1" indent="0" eaLnBrk="1" hangingPunct="1">
              <a:spcAft>
                <a:spcPct val="20000"/>
              </a:spcAft>
              <a:buNone/>
            </a:pPr>
            <a:r>
              <a:rPr lang="lv-LV" altLang="lv-LV" sz="2400" dirty="0" err="1">
                <a:latin typeface="Consolas" panose="020B0609020204030204" pitchFamily="49" charset="0"/>
                <a:sym typeface="Symbol" panose="05050102010706020507" pitchFamily="18" charset="2"/>
              </a:rPr>
              <a:t>steks.push</a:t>
            </a:r>
            <a:r>
              <a:rPr lang="lv-LV" altLang="lv-LV" sz="2400" dirty="0">
                <a:latin typeface="Consolas" panose="020B0609020204030204" pitchFamily="49" charset="0"/>
                <a:sym typeface="Symbol" panose="05050102010706020507" pitchFamily="18" charset="2"/>
              </a:rPr>
              <a:t>(v)</a:t>
            </a:r>
          </a:p>
          <a:p>
            <a:pPr marL="457200" lvl="1" indent="0" eaLnBrk="1" hangingPunct="1">
              <a:spcAft>
                <a:spcPct val="20000"/>
              </a:spcAft>
              <a:buNone/>
            </a:pPr>
            <a:r>
              <a:rPr lang="lv-LV" altLang="lv-LV" sz="2400" dirty="0">
                <a:latin typeface="Consolas" panose="020B0609020204030204" pitchFamily="49" charset="0"/>
                <a:sym typeface="Symbol" panose="05050102010706020507" pitchFamily="18" charset="2"/>
              </a:rPr>
              <a:t>kamēr steks nav tukšs</a:t>
            </a:r>
          </a:p>
          <a:p>
            <a:pPr marL="914400" lvl="2" indent="0" eaLnBrk="1" hangingPunct="1">
              <a:spcAft>
                <a:spcPct val="20000"/>
              </a:spcAft>
              <a:buNone/>
            </a:pPr>
            <a:r>
              <a:rPr lang="lv-LV" altLang="lv-LV" dirty="0">
                <a:latin typeface="Consolas" panose="020B0609020204030204" pitchFamily="49" charset="0"/>
                <a:sym typeface="Symbol" panose="05050102010706020507" pitchFamily="18" charset="2"/>
              </a:rPr>
              <a:t>t = </a:t>
            </a:r>
            <a:r>
              <a:rPr lang="lv-LV" altLang="lv-LV" dirty="0" err="1">
                <a:latin typeface="Consolas" panose="020B0609020204030204" pitchFamily="49" charset="0"/>
                <a:sym typeface="Symbol" panose="05050102010706020507" pitchFamily="18" charset="2"/>
              </a:rPr>
              <a:t>steks.pop</a:t>
            </a:r>
            <a:r>
              <a:rPr lang="lv-LV" altLang="lv-LV" dirty="0">
                <a:latin typeface="Consolas" panose="020B0609020204030204" pitchFamily="49" charset="0"/>
                <a:sym typeface="Symbol" panose="05050102010706020507" pitchFamily="18" charset="2"/>
              </a:rPr>
              <a:t>()</a:t>
            </a:r>
          </a:p>
          <a:p>
            <a:pPr marL="914400" lvl="2" indent="0" eaLnBrk="1" hangingPunct="1">
              <a:spcAft>
                <a:spcPct val="20000"/>
              </a:spcAft>
              <a:buNone/>
            </a:pPr>
            <a:r>
              <a:rPr lang="lv-LV" altLang="lv-LV" dirty="0">
                <a:latin typeface="Consolas" panose="020B0609020204030204" pitchFamily="49" charset="0"/>
                <a:sym typeface="Symbol" panose="05050102010706020507" pitchFamily="18" charset="2"/>
              </a:rPr>
              <a:t>Ja nav </a:t>
            </a:r>
            <a:r>
              <a:rPr lang="lv-LV" altLang="lv-LV" dirty="0" err="1">
                <a:latin typeface="Consolas" panose="020B0609020204030204" pitchFamily="49" charset="0"/>
                <a:sym typeface="Symbol" panose="05050102010706020507" pitchFamily="18" charset="2"/>
              </a:rPr>
              <a:t>apmeklets</a:t>
            </a:r>
            <a:r>
              <a:rPr lang="lv-LV" altLang="lv-LV" dirty="0">
                <a:latin typeface="Consolas" panose="020B0609020204030204" pitchFamily="49" charset="0"/>
                <a:sym typeface="Symbol" panose="05050102010706020507" pitchFamily="18" charset="2"/>
              </a:rPr>
              <a:t>[t] tad </a:t>
            </a:r>
          </a:p>
          <a:p>
            <a:pPr marL="1371600" lvl="3" indent="0" eaLnBrk="1" hangingPunct="1">
              <a:spcAft>
                <a:spcPct val="20000"/>
              </a:spcAft>
              <a:buNone/>
            </a:pPr>
            <a:r>
              <a:rPr lang="lv-LV" altLang="lv-LV" sz="2400" dirty="0" err="1">
                <a:latin typeface="Consolas" panose="020B0609020204030204" pitchFamily="49" charset="0"/>
                <a:sym typeface="Symbol" panose="05050102010706020507" pitchFamily="18" charset="2"/>
              </a:rPr>
              <a:t>apmeklets</a:t>
            </a:r>
            <a:r>
              <a:rPr lang="lv-LV" altLang="lv-LV" sz="2400" dirty="0">
                <a:latin typeface="Consolas" panose="020B0609020204030204" pitchFamily="49" charset="0"/>
                <a:sym typeface="Symbol" panose="05050102010706020507" pitchFamily="18" charset="2"/>
              </a:rPr>
              <a:t>[t]=</a:t>
            </a:r>
            <a:r>
              <a:rPr lang="lv-LV" altLang="lv-LV" sz="2400" dirty="0" err="1">
                <a:latin typeface="Consolas" panose="020B0609020204030204" pitchFamily="49" charset="0"/>
                <a:sym typeface="Symbol" panose="05050102010706020507" pitchFamily="18" charset="2"/>
              </a:rPr>
              <a:t>true</a:t>
            </a:r>
            <a:endParaRPr lang="lv-LV" altLang="lv-LV" sz="2400" dirty="0">
              <a:latin typeface="Consolas" panose="020B0609020204030204" pitchFamily="49" charset="0"/>
              <a:sym typeface="Symbol" panose="05050102010706020507" pitchFamily="18" charset="2"/>
            </a:endParaRPr>
          </a:p>
          <a:p>
            <a:pPr marL="1371600" lvl="3" indent="0" eaLnBrk="1" hangingPunct="1">
              <a:spcAft>
                <a:spcPct val="20000"/>
              </a:spcAft>
              <a:buNone/>
            </a:pPr>
            <a:r>
              <a:rPr lang="lv-LV" altLang="lv-LV" sz="2400" dirty="0">
                <a:latin typeface="Consolas" panose="020B0609020204030204" pitchFamily="49" charset="0"/>
                <a:sym typeface="Symbol" panose="05050102010706020507" pitchFamily="18" charset="2"/>
              </a:rPr>
              <a:t>katrai </a:t>
            </a:r>
            <a:r>
              <a:rPr lang="lv-LV" altLang="lv-LV" sz="2400" dirty="0" err="1">
                <a:latin typeface="Consolas" panose="020B0609020204030204" pitchFamily="49" charset="0"/>
                <a:sym typeface="Symbol" panose="05050102010706020507" pitchFamily="18" charset="2"/>
              </a:rPr>
              <a:t>t</a:t>
            </a:r>
            <a:r>
              <a:rPr lang="lv-LV" altLang="lv-LV" sz="2400" baseline="-25000" dirty="0" err="1">
                <a:latin typeface="Consolas" panose="020B0609020204030204" pitchFamily="49" charset="0"/>
                <a:sym typeface="Symbol" panose="05050102010706020507" pitchFamily="18" charset="2"/>
              </a:rPr>
              <a:t>k</a:t>
            </a:r>
            <a:r>
              <a:rPr lang="lv-LV" altLang="lv-LV" sz="2400" dirty="0">
                <a:latin typeface="Consolas" panose="020B0609020204030204" pitchFamily="49" charset="0"/>
                <a:sym typeface="Symbol" panose="05050102010706020507" pitchFamily="18" charset="2"/>
              </a:rPr>
              <a:t>  </a:t>
            </a:r>
            <a:r>
              <a:rPr lang="lv-LV" altLang="lv-LV" sz="2400" dirty="0" err="1">
                <a:latin typeface="Consolas" panose="020B0609020204030204" pitchFamily="49" charset="0"/>
                <a:sym typeface="Symbol" panose="05050102010706020507" pitchFamily="18" charset="2"/>
              </a:rPr>
              <a:t>t</a:t>
            </a:r>
            <a:r>
              <a:rPr lang="lv-LV" altLang="lv-LV" sz="2400" baseline="-25000" dirty="0" err="1">
                <a:latin typeface="Consolas" panose="020B0609020204030204" pitchFamily="49" charset="0"/>
                <a:sym typeface="Symbol" panose="05050102010706020507" pitchFamily="18" charset="2"/>
              </a:rPr>
              <a:t>kaimiņi</a:t>
            </a:r>
            <a:endParaRPr lang="lv-LV" altLang="lv-LV" sz="2400" baseline="-25000" dirty="0">
              <a:latin typeface="Consolas" panose="020B0609020204030204" pitchFamily="49" charset="0"/>
              <a:sym typeface="Symbol" panose="05050102010706020507" pitchFamily="18" charset="2"/>
            </a:endParaRPr>
          </a:p>
          <a:p>
            <a:pPr marL="1828800" lvl="4" indent="0" eaLnBrk="1" hangingPunct="1">
              <a:spcAft>
                <a:spcPct val="20000"/>
              </a:spcAft>
              <a:buNone/>
            </a:pPr>
            <a:r>
              <a:rPr lang="lv-LV" altLang="lv-LV" sz="2400" dirty="0">
                <a:latin typeface="Consolas" panose="020B0609020204030204" pitchFamily="49" charset="0"/>
                <a:sym typeface="Symbol" panose="05050102010706020507" pitchFamily="18" charset="2"/>
              </a:rPr>
              <a:t>ja nav </a:t>
            </a:r>
            <a:r>
              <a:rPr lang="lv-LV" altLang="lv-LV" sz="2400" dirty="0" err="1">
                <a:latin typeface="Consolas" panose="020B0609020204030204" pitchFamily="49" charset="0"/>
                <a:sym typeface="Symbol" panose="05050102010706020507" pitchFamily="18" charset="2"/>
              </a:rPr>
              <a:t>apmeklets</a:t>
            </a:r>
            <a:r>
              <a:rPr lang="lv-LV" altLang="lv-LV" sz="2400" dirty="0">
                <a:latin typeface="Consolas" panose="020B0609020204030204" pitchFamily="49" charset="0"/>
                <a:sym typeface="Symbol" panose="05050102010706020507" pitchFamily="18" charset="2"/>
              </a:rPr>
              <a:t>[</a:t>
            </a:r>
            <a:r>
              <a:rPr lang="lv-LV" altLang="lv-LV" sz="2400" dirty="0" err="1">
                <a:latin typeface="Consolas" panose="020B0609020204030204" pitchFamily="49" charset="0"/>
                <a:sym typeface="Symbol" panose="05050102010706020507" pitchFamily="18" charset="2"/>
              </a:rPr>
              <a:t>t</a:t>
            </a:r>
            <a:r>
              <a:rPr lang="lv-LV" altLang="lv-LV" sz="2400" baseline="-25000" dirty="0" err="1">
                <a:latin typeface="Consolas" panose="020B0609020204030204" pitchFamily="49" charset="0"/>
                <a:sym typeface="Symbol" panose="05050102010706020507" pitchFamily="18" charset="2"/>
              </a:rPr>
              <a:t>k</a:t>
            </a:r>
            <a:r>
              <a:rPr lang="lv-LV" altLang="lv-LV" sz="2400" dirty="0">
                <a:latin typeface="Consolas" panose="020B0609020204030204" pitchFamily="49" charset="0"/>
                <a:sym typeface="Symbol" panose="05050102010706020507" pitchFamily="18" charset="2"/>
              </a:rPr>
              <a:t>], tad </a:t>
            </a:r>
          </a:p>
          <a:p>
            <a:pPr marL="2286000" lvl="5" indent="0">
              <a:spcAft>
                <a:spcPct val="20000"/>
              </a:spcAft>
              <a:buNone/>
            </a:pPr>
            <a:r>
              <a:rPr lang="lv-LV" altLang="lv-LV" sz="2400" dirty="0" err="1">
                <a:latin typeface="Consolas" panose="020B0609020204030204" pitchFamily="49" charset="0"/>
                <a:sym typeface="Symbol" panose="05050102010706020507" pitchFamily="18" charset="2"/>
              </a:rPr>
              <a:t>steks.push</a:t>
            </a:r>
            <a:r>
              <a:rPr lang="lv-LV" altLang="lv-LV" sz="2400" dirty="0">
                <a:latin typeface="Consolas" panose="020B0609020204030204" pitchFamily="49" charset="0"/>
                <a:sym typeface="Symbol" panose="05050102010706020507" pitchFamily="18" charset="2"/>
              </a:rPr>
              <a:t>(</a:t>
            </a:r>
            <a:r>
              <a:rPr lang="lv-LV" altLang="lv-LV" sz="2400" dirty="0" err="1">
                <a:latin typeface="Consolas" panose="020B0609020204030204" pitchFamily="49" charset="0"/>
                <a:sym typeface="Symbol" panose="05050102010706020507" pitchFamily="18" charset="2"/>
              </a:rPr>
              <a:t>t</a:t>
            </a:r>
            <a:r>
              <a:rPr lang="lv-LV" altLang="lv-LV" sz="2400" baseline="-25000" dirty="0" err="1">
                <a:latin typeface="Consolas" panose="020B0609020204030204" pitchFamily="49" charset="0"/>
                <a:sym typeface="Symbol" panose="05050102010706020507" pitchFamily="18" charset="2"/>
              </a:rPr>
              <a:t>k</a:t>
            </a:r>
            <a:r>
              <a:rPr lang="lv-LV" altLang="lv-LV" sz="2400" dirty="0">
                <a:latin typeface="Consolas" panose="020B0609020204030204" pitchFamily="49" charset="0"/>
                <a:sym typeface="Symbol" panose="05050102010706020507" pitchFamily="18" charset="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4F11D57-FD00-4EF6-B09E-15B6FF6C99E8}"/>
              </a:ext>
            </a:extLst>
          </p:cNvPr>
          <p:cNvSpPr>
            <a:spLocks noGrp="1" noChangeArrowheads="1"/>
          </p:cNvSpPr>
          <p:nvPr>
            <p:ph type="title"/>
          </p:nvPr>
        </p:nvSpPr>
        <p:spPr/>
        <p:txBody>
          <a:bodyPr/>
          <a:lstStyle/>
          <a:p>
            <a:pPr eaLnBrk="1" hangingPunct="1"/>
            <a:r>
              <a:rPr lang="lv-LV" altLang="lv-LV"/>
              <a:t>BFS algoritms</a:t>
            </a:r>
            <a:endParaRPr lang="en-US" altLang="lv-LV"/>
          </a:p>
        </p:txBody>
      </p:sp>
      <p:sp>
        <p:nvSpPr>
          <p:cNvPr id="14339" name="Rectangle 3">
            <a:extLst>
              <a:ext uri="{FF2B5EF4-FFF2-40B4-BE49-F238E27FC236}">
                <a16:creationId xmlns:a16="http://schemas.microsoft.com/office/drawing/2014/main" id="{8680A164-9CDD-49F4-8B67-3757064D2C03}"/>
              </a:ext>
            </a:extLst>
          </p:cNvPr>
          <p:cNvSpPr>
            <a:spLocks noGrp="1" noChangeArrowheads="1"/>
          </p:cNvSpPr>
          <p:nvPr>
            <p:ph type="body" idx="1"/>
          </p:nvPr>
        </p:nvSpPr>
        <p:spPr/>
        <p:txBody>
          <a:bodyPr/>
          <a:lstStyle/>
          <a:p>
            <a:pPr marL="0" indent="0" eaLnBrk="1" hangingPunct="1">
              <a:lnSpc>
                <a:spcPct val="90000"/>
              </a:lnSpc>
              <a:buNone/>
            </a:pPr>
            <a:r>
              <a:rPr lang="lv-LV" altLang="lv-LV" sz="2800" u="sng" dirty="0">
                <a:latin typeface="Consolas" panose="020B0609020204030204" pitchFamily="49" charset="0"/>
              </a:rPr>
              <a:t>BFS(v)</a:t>
            </a:r>
          </a:p>
          <a:p>
            <a:pPr marL="400050" lvl="1" indent="0" eaLnBrk="1" hangingPunct="1">
              <a:lnSpc>
                <a:spcPct val="90000"/>
              </a:lnSpc>
              <a:buNone/>
            </a:pPr>
            <a:r>
              <a:rPr lang="lv-LV" altLang="lv-LV" dirty="0">
                <a:latin typeface="Consolas" panose="020B0609020204030204" pitchFamily="49" charset="0"/>
              </a:rPr>
              <a:t>iztukšo rindu</a:t>
            </a:r>
          </a:p>
          <a:p>
            <a:pPr marL="400050" lvl="1" indent="0" eaLnBrk="1" hangingPunct="1">
              <a:lnSpc>
                <a:spcPct val="90000"/>
              </a:lnSpc>
              <a:buNone/>
            </a:pPr>
            <a:r>
              <a:rPr lang="lv-LV" altLang="lv-LV" dirty="0" err="1">
                <a:latin typeface="Consolas" panose="020B0609020204030204" pitchFamily="49" charset="0"/>
              </a:rPr>
              <a:t>rinda.add</a:t>
            </a:r>
            <a:r>
              <a:rPr lang="lv-LV" altLang="lv-LV" dirty="0">
                <a:latin typeface="Consolas" panose="020B0609020204030204" pitchFamily="49" charset="0"/>
              </a:rPr>
              <a:t>(v)</a:t>
            </a:r>
          </a:p>
          <a:p>
            <a:pPr marL="400050" lvl="1" indent="0" eaLnBrk="1" hangingPunct="1">
              <a:lnSpc>
                <a:spcPct val="90000"/>
              </a:lnSpc>
              <a:buNone/>
            </a:pPr>
            <a:r>
              <a:rPr lang="lv-LV" altLang="lv-LV" dirty="0">
                <a:latin typeface="Consolas" panose="020B0609020204030204" pitchFamily="49" charset="0"/>
              </a:rPr>
              <a:t>kamēr rinda nav tukša</a:t>
            </a:r>
          </a:p>
          <a:p>
            <a:pPr marL="857250" lvl="2" indent="0" eaLnBrk="1" hangingPunct="1">
              <a:lnSpc>
                <a:spcPct val="90000"/>
              </a:lnSpc>
              <a:buNone/>
            </a:pPr>
            <a:r>
              <a:rPr lang="lv-LV" altLang="lv-LV" sz="2800" dirty="0">
                <a:latin typeface="Consolas" panose="020B0609020204030204" pitchFamily="49" charset="0"/>
              </a:rPr>
              <a:t>p=</a:t>
            </a:r>
            <a:r>
              <a:rPr lang="lv-LV" altLang="lv-LV" sz="2800" dirty="0" err="1">
                <a:latin typeface="Consolas" panose="020B0609020204030204" pitchFamily="49" charset="0"/>
              </a:rPr>
              <a:t>rinda.remove</a:t>
            </a:r>
            <a:r>
              <a:rPr lang="lv-LV" altLang="lv-LV" sz="2800" dirty="0">
                <a:latin typeface="Consolas" panose="020B0609020204030204" pitchFamily="49" charset="0"/>
              </a:rPr>
              <a:t>()</a:t>
            </a:r>
          </a:p>
          <a:p>
            <a:pPr marL="857250" lvl="2" indent="0" eaLnBrk="1" hangingPunct="1">
              <a:lnSpc>
                <a:spcPct val="90000"/>
              </a:lnSpc>
              <a:buNone/>
            </a:pPr>
            <a:r>
              <a:rPr lang="lv-LV" altLang="lv-LV" sz="2800" dirty="0">
                <a:latin typeface="Consolas" panose="020B0609020204030204" pitchFamily="49" charset="0"/>
                <a:sym typeface="Symbol" panose="05050102010706020507" pitchFamily="18" charset="2"/>
              </a:rPr>
              <a:t>ja nav </a:t>
            </a:r>
            <a:r>
              <a:rPr lang="lv-LV" altLang="lv-LV" sz="2800" dirty="0" err="1">
                <a:latin typeface="Consolas" panose="020B0609020204030204" pitchFamily="49" charset="0"/>
                <a:sym typeface="Symbol" panose="05050102010706020507" pitchFamily="18" charset="2"/>
              </a:rPr>
              <a:t>apmeklets</a:t>
            </a:r>
            <a:r>
              <a:rPr lang="lv-LV" altLang="lv-LV" sz="2800" dirty="0">
                <a:latin typeface="Consolas" panose="020B0609020204030204" pitchFamily="49" charset="0"/>
                <a:sym typeface="Symbol" panose="05050102010706020507" pitchFamily="18" charset="2"/>
              </a:rPr>
              <a:t>[p] tad </a:t>
            </a:r>
          </a:p>
          <a:p>
            <a:pPr marL="1314450" lvl="3" indent="0" eaLnBrk="1" hangingPunct="1">
              <a:lnSpc>
                <a:spcPct val="90000"/>
              </a:lnSpc>
              <a:buNone/>
            </a:pPr>
            <a:r>
              <a:rPr lang="lv-LV" altLang="lv-LV" sz="2800" dirty="0" err="1">
                <a:latin typeface="Consolas" panose="020B0609020204030204" pitchFamily="49" charset="0"/>
              </a:rPr>
              <a:t>apmeklets</a:t>
            </a:r>
            <a:r>
              <a:rPr lang="lv-LV" altLang="lv-LV" sz="2800" dirty="0">
                <a:latin typeface="Consolas" panose="020B0609020204030204" pitchFamily="49" charset="0"/>
              </a:rPr>
              <a:t>[p]=</a:t>
            </a:r>
            <a:r>
              <a:rPr lang="lv-LV" altLang="lv-LV" sz="2800" dirty="0" err="1">
                <a:latin typeface="Consolas" panose="020B0609020204030204" pitchFamily="49" charset="0"/>
              </a:rPr>
              <a:t>true</a:t>
            </a:r>
            <a:endParaRPr lang="lv-LV" altLang="lv-LV" sz="2800" dirty="0">
              <a:latin typeface="Consolas" panose="020B0609020204030204" pitchFamily="49" charset="0"/>
            </a:endParaRPr>
          </a:p>
          <a:p>
            <a:pPr marL="1314450" lvl="3" indent="0" eaLnBrk="1" hangingPunct="1">
              <a:lnSpc>
                <a:spcPct val="90000"/>
              </a:lnSpc>
              <a:spcAft>
                <a:spcPct val="20000"/>
              </a:spcAft>
              <a:buNone/>
            </a:pPr>
            <a:r>
              <a:rPr lang="lv-LV" altLang="lv-LV" sz="2800" dirty="0">
                <a:latin typeface="Consolas" panose="020B0609020204030204" pitchFamily="49" charset="0"/>
                <a:sym typeface="Symbol" panose="05050102010706020507" pitchFamily="18" charset="2"/>
              </a:rPr>
              <a:t>katrai u  </a:t>
            </a:r>
            <a:r>
              <a:rPr lang="lv-LV" altLang="lv-LV" sz="2800" dirty="0" err="1">
                <a:latin typeface="Consolas" panose="020B0609020204030204" pitchFamily="49" charset="0"/>
                <a:sym typeface="Symbol" panose="05050102010706020507" pitchFamily="18" charset="2"/>
              </a:rPr>
              <a:t>p</a:t>
            </a:r>
            <a:r>
              <a:rPr lang="lv-LV" altLang="lv-LV" sz="2800" baseline="-25000" dirty="0" err="1">
                <a:latin typeface="Consolas" panose="020B0609020204030204" pitchFamily="49" charset="0"/>
                <a:sym typeface="Symbol" panose="05050102010706020507" pitchFamily="18" charset="2"/>
              </a:rPr>
              <a:t>kaimiņi</a:t>
            </a:r>
            <a:endParaRPr lang="lv-LV" altLang="lv-LV" sz="2800" baseline="-25000" dirty="0">
              <a:latin typeface="Consolas" panose="020B0609020204030204" pitchFamily="49" charset="0"/>
              <a:sym typeface="Symbol" panose="05050102010706020507" pitchFamily="18" charset="2"/>
            </a:endParaRPr>
          </a:p>
          <a:p>
            <a:pPr marL="1828800" lvl="4" indent="0" eaLnBrk="1" hangingPunct="1">
              <a:lnSpc>
                <a:spcPct val="90000"/>
              </a:lnSpc>
              <a:spcAft>
                <a:spcPct val="20000"/>
              </a:spcAft>
              <a:buNone/>
            </a:pPr>
            <a:r>
              <a:rPr lang="lv-LV" altLang="lv-LV" sz="2800" dirty="0">
                <a:latin typeface="Consolas" panose="020B0609020204030204" pitchFamily="49" charset="0"/>
                <a:sym typeface="Symbol" panose="05050102010706020507" pitchFamily="18" charset="2"/>
              </a:rPr>
              <a:t>ja nav </a:t>
            </a:r>
            <a:r>
              <a:rPr lang="lv-LV" altLang="lv-LV" sz="2800" dirty="0" err="1">
                <a:latin typeface="Consolas" panose="020B0609020204030204" pitchFamily="49" charset="0"/>
                <a:sym typeface="Symbol" panose="05050102010706020507" pitchFamily="18" charset="2"/>
              </a:rPr>
              <a:t>apmeklets</a:t>
            </a:r>
            <a:r>
              <a:rPr lang="lv-LV" altLang="lv-LV" sz="2800" dirty="0">
                <a:latin typeface="Consolas" panose="020B0609020204030204" pitchFamily="49" charset="0"/>
                <a:sym typeface="Symbol" panose="05050102010706020507" pitchFamily="18" charset="2"/>
              </a:rPr>
              <a:t>[u] tad</a:t>
            </a:r>
          </a:p>
          <a:p>
            <a:pPr marL="2286000" lvl="5" indent="0">
              <a:lnSpc>
                <a:spcPct val="90000"/>
              </a:lnSpc>
              <a:spcAft>
                <a:spcPct val="20000"/>
              </a:spcAft>
              <a:buNone/>
            </a:pPr>
            <a:r>
              <a:rPr lang="lv-LV" altLang="lv-LV" sz="2800" dirty="0" err="1">
                <a:latin typeface="Consolas" panose="020B0609020204030204" pitchFamily="49" charset="0"/>
              </a:rPr>
              <a:t>rinda.add</a:t>
            </a:r>
            <a:r>
              <a:rPr lang="lv-LV" altLang="lv-LV" sz="2800" dirty="0">
                <a:latin typeface="Consolas" panose="020B0609020204030204" pitchFamily="49" charset="0"/>
              </a:rPr>
              <a:t>(u)</a:t>
            </a:r>
          </a:p>
          <a:p>
            <a:pPr lvl="1" eaLnBrk="1" hangingPunct="1">
              <a:lnSpc>
                <a:spcPct val="90000"/>
              </a:lnSpc>
            </a:pPr>
            <a:endParaRPr lang="lv-LV" altLang="lv-LV" sz="2400" dirty="0"/>
          </a:p>
          <a:p>
            <a:pPr eaLnBrk="1" hangingPunct="1">
              <a:lnSpc>
                <a:spcPct val="90000"/>
              </a:lnSpc>
            </a:pPr>
            <a:endParaRPr lang="en-US" altLang="lv-LV"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A291720-06DB-4919-92C6-4C63B8D25C32}"/>
              </a:ext>
            </a:extLst>
          </p:cNvPr>
          <p:cNvSpPr>
            <a:spLocks noGrp="1" noChangeArrowheads="1"/>
          </p:cNvSpPr>
          <p:nvPr>
            <p:ph type="title"/>
          </p:nvPr>
        </p:nvSpPr>
        <p:spPr/>
        <p:txBody>
          <a:bodyPr/>
          <a:lstStyle/>
          <a:p>
            <a:pPr eaLnBrk="1" hangingPunct="1"/>
            <a:r>
              <a:rPr lang="lv-LV" altLang="lv-LV"/>
              <a:t>DFS un BFS salīdzinājums</a:t>
            </a:r>
            <a:endParaRPr lang="en-US" altLang="lv-LV"/>
          </a:p>
        </p:txBody>
      </p:sp>
      <p:sp>
        <p:nvSpPr>
          <p:cNvPr id="15363" name="Rectangle 3">
            <a:extLst>
              <a:ext uri="{FF2B5EF4-FFF2-40B4-BE49-F238E27FC236}">
                <a16:creationId xmlns:a16="http://schemas.microsoft.com/office/drawing/2014/main" id="{56EDEDBA-B1BD-4E1A-A601-693C2F26AB3F}"/>
              </a:ext>
            </a:extLst>
          </p:cNvPr>
          <p:cNvSpPr>
            <a:spLocks noGrp="1" noChangeArrowheads="1"/>
          </p:cNvSpPr>
          <p:nvPr>
            <p:ph type="body" idx="1"/>
          </p:nvPr>
        </p:nvSpPr>
        <p:spPr>
          <a:xfrm>
            <a:off x="457200" y="1412875"/>
            <a:ext cx="8229600" cy="1871663"/>
          </a:xfrm>
        </p:spPr>
        <p:txBody>
          <a:bodyPr/>
          <a:lstStyle/>
          <a:p>
            <a:pPr eaLnBrk="1" hangingPunct="1">
              <a:lnSpc>
                <a:spcPct val="80000"/>
              </a:lnSpc>
            </a:pPr>
            <a:r>
              <a:rPr lang="lv-LV" altLang="lv-LV" sz="2400" dirty="0"/>
              <a:t>Virsotņu apmeklēšanas secība</a:t>
            </a:r>
          </a:p>
          <a:p>
            <a:pPr lvl="1" eaLnBrk="1" hangingPunct="1">
              <a:lnSpc>
                <a:spcPct val="80000"/>
              </a:lnSpc>
            </a:pPr>
            <a:r>
              <a:rPr lang="lv-LV" altLang="lv-LV" sz="2000" dirty="0"/>
              <a:t>DFS (ar rekursiju) – 1, 2, 4, 6, 5, 8, 9, 7, 3,13,12,10,11</a:t>
            </a:r>
          </a:p>
          <a:p>
            <a:pPr lvl="1" eaLnBrk="1" hangingPunct="1">
              <a:lnSpc>
                <a:spcPct val="80000"/>
              </a:lnSpc>
            </a:pPr>
            <a:r>
              <a:rPr lang="lv-LV" altLang="lv-LV" sz="2000" dirty="0"/>
              <a:t>DFS (ar steku) – 1,12,11,10, 4, 7, 6,13, 9, 8, 5, 3, 2 </a:t>
            </a:r>
          </a:p>
          <a:p>
            <a:pPr lvl="1" eaLnBrk="1" hangingPunct="1">
              <a:lnSpc>
                <a:spcPct val="80000"/>
              </a:lnSpc>
            </a:pPr>
            <a:r>
              <a:rPr lang="lv-LV" altLang="lv-LV" sz="2000" dirty="0"/>
              <a:t>BFS – 1, 2, 4,12, 6, 7, 10, 11, 5, 9,13, 3, 8</a:t>
            </a:r>
          </a:p>
          <a:p>
            <a:pPr eaLnBrk="1" hangingPunct="1">
              <a:lnSpc>
                <a:spcPct val="80000"/>
              </a:lnSpc>
            </a:pPr>
            <a:r>
              <a:rPr lang="lv-LV" altLang="lv-LV" sz="2400" dirty="0"/>
              <a:t>Ātrdarbība </a:t>
            </a:r>
            <a:r>
              <a:rPr lang="en-US" altLang="lv-LV" sz="2400" dirty="0"/>
              <a:t> O(V + E)</a:t>
            </a:r>
            <a:endParaRPr lang="lv-LV" altLang="lv-LV" sz="2400" dirty="0"/>
          </a:p>
          <a:p>
            <a:pPr eaLnBrk="1" hangingPunct="1">
              <a:lnSpc>
                <a:spcPct val="80000"/>
              </a:lnSpc>
            </a:pPr>
            <a:r>
              <a:rPr lang="lv-LV" altLang="lv-LV" sz="2400" dirty="0"/>
              <a:t>Vieta atmiņā </a:t>
            </a:r>
            <a:r>
              <a:rPr lang="en-US" altLang="lv-LV" sz="2400" dirty="0"/>
              <a:t>O(V) </a:t>
            </a:r>
          </a:p>
        </p:txBody>
      </p:sp>
      <p:grpSp>
        <p:nvGrpSpPr>
          <p:cNvPr id="15364" name="Group 4">
            <a:extLst>
              <a:ext uri="{FF2B5EF4-FFF2-40B4-BE49-F238E27FC236}">
                <a16:creationId xmlns:a16="http://schemas.microsoft.com/office/drawing/2014/main" id="{229DB435-156C-44BA-9A39-008CCB538D87}"/>
              </a:ext>
            </a:extLst>
          </p:cNvPr>
          <p:cNvGrpSpPr>
            <a:grpSpLocks/>
          </p:cNvGrpSpPr>
          <p:nvPr/>
        </p:nvGrpSpPr>
        <p:grpSpPr bwMode="auto">
          <a:xfrm>
            <a:off x="1908175" y="3141663"/>
            <a:ext cx="5686425" cy="3328987"/>
            <a:chOff x="295" y="1888"/>
            <a:chExt cx="3582" cy="2097"/>
          </a:xfrm>
        </p:grpSpPr>
        <p:sp>
          <p:nvSpPr>
            <p:cNvPr id="15365" name="Text Box 5">
              <a:extLst>
                <a:ext uri="{FF2B5EF4-FFF2-40B4-BE49-F238E27FC236}">
                  <a16:creationId xmlns:a16="http://schemas.microsoft.com/office/drawing/2014/main" id="{357A94AB-FE32-48CD-8008-D62D49E2E729}"/>
                </a:ext>
              </a:extLst>
            </p:cNvPr>
            <p:cNvSpPr txBox="1">
              <a:spLocks noChangeArrowheads="1"/>
            </p:cNvSpPr>
            <p:nvPr/>
          </p:nvSpPr>
          <p:spPr bwMode="auto">
            <a:xfrm>
              <a:off x="295" y="3158"/>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a:t>
              </a:r>
              <a:endParaRPr lang="en-US" altLang="lv-LV" sz="1800"/>
            </a:p>
          </p:txBody>
        </p:sp>
        <p:sp>
          <p:nvSpPr>
            <p:cNvPr id="15366" name="Text Box 6">
              <a:extLst>
                <a:ext uri="{FF2B5EF4-FFF2-40B4-BE49-F238E27FC236}">
                  <a16:creationId xmlns:a16="http://schemas.microsoft.com/office/drawing/2014/main" id="{572E34EE-5FE0-4E78-AB7E-DE50BB9362BC}"/>
                </a:ext>
              </a:extLst>
            </p:cNvPr>
            <p:cNvSpPr txBox="1">
              <a:spLocks noChangeArrowheads="1"/>
            </p:cNvSpPr>
            <p:nvPr/>
          </p:nvSpPr>
          <p:spPr bwMode="auto">
            <a:xfrm>
              <a:off x="839" y="3294"/>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12</a:t>
              </a:r>
              <a:endParaRPr lang="en-US" altLang="lv-LV" sz="1800"/>
            </a:p>
          </p:txBody>
        </p:sp>
        <p:sp>
          <p:nvSpPr>
            <p:cNvPr id="15367" name="Text Box 7">
              <a:extLst>
                <a:ext uri="{FF2B5EF4-FFF2-40B4-BE49-F238E27FC236}">
                  <a16:creationId xmlns:a16="http://schemas.microsoft.com/office/drawing/2014/main" id="{E378E77D-0B17-49DE-A3CA-62329A4EB2D2}"/>
                </a:ext>
              </a:extLst>
            </p:cNvPr>
            <p:cNvSpPr txBox="1">
              <a:spLocks noChangeArrowheads="1"/>
            </p:cNvSpPr>
            <p:nvPr/>
          </p:nvSpPr>
          <p:spPr bwMode="auto">
            <a:xfrm>
              <a:off x="1292" y="2840"/>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4</a:t>
              </a:r>
              <a:endParaRPr lang="en-US" altLang="lv-LV" sz="1800"/>
            </a:p>
          </p:txBody>
        </p:sp>
        <p:sp>
          <p:nvSpPr>
            <p:cNvPr id="15368" name="Text Box 8">
              <a:extLst>
                <a:ext uri="{FF2B5EF4-FFF2-40B4-BE49-F238E27FC236}">
                  <a16:creationId xmlns:a16="http://schemas.microsoft.com/office/drawing/2014/main" id="{8DAF3F7B-4A98-462D-9FD4-82F7E93EBC8C}"/>
                </a:ext>
              </a:extLst>
            </p:cNvPr>
            <p:cNvSpPr txBox="1">
              <a:spLocks noChangeArrowheads="1"/>
            </p:cNvSpPr>
            <p:nvPr/>
          </p:nvSpPr>
          <p:spPr bwMode="auto">
            <a:xfrm>
              <a:off x="793" y="2704"/>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2</a:t>
              </a:r>
              <a:endParaRPr lang="en-US" altLang="lv-LV" sz="1800"/>
            </a:p>
          </p:txBody>
        </p:sp>
        <p:sp>
          <p:nvSpPr>
            <p:cNvPr id="15369" name="Text Box 9">
              <a:extLst>
                <a:ext uri="{FF2B5EF4-FFF2-40B4-BE49-F238E27FC236}">
                  <a16:creationId xmlns:a16="http://schemas.microsoft.com/office/drawing/2014/main" id="{0E35032C-1D08-4BA8-B7F0-147BFDD6FDAD}"/>
                </a:ext>
              </a:extLst>
            </p:cNvPr>
            <p:cNvSpPr txBox="1">
              <a:spLocks noChangeArrowheads="1"/>
            </p:cNvSpPr>
            <p:nvPr/>
          </p:nvSpPr>
          <p:spPr bwMode="auto">
            <a:xfrm>
              <a:off x="2064" y="1888"/>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3</a:t>
              </a:r>
              <a:endParaRPr lang="en-US" altLang="lv-LV" sz="1800"/>
            </a:p>
          </p:txBody>
        </p:sp>
        <p:sp>
          <p:nvSpPr>
            <p:cNvPr id="15370" name="Text Box 10">
              <a:extLst>
                <a:ext uri="{FF2B5EF4-FFF2-40B4-BE49-F238E27FC236}">
                  <a16:creationId xmlns:a16="http://schemas.microsoft.com/office/drawing/2014/main" id="{D6E59791-1D55-4172-8B5A-18088D744B5B}"/>
                </a:ext>
              </a:extLst>
            </p:cNvPr>
            <p:cNvSpPr txBox="1">
              <a:spLocks noChangeArrowheads="1"/>
            </p:cNvSpPr>
            <p:nvPr/>
          </p:nvSpPr>
          <p:spPr bwMode="auto">
            <a:xfrm>
              <a:off x="2109" y="2432"/>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7</a:t>
              </a:r>
              <a:endParaRPr lang="en-US" altLang="lv-LV" sz="1800"/>
            </a:p>
          </p:txBody>
        </p:sp>
        <p:sp>
          <p:nvSpPr>
            <p:cNvPr id="15371" name="Text Box 11">
              <a:extLst>
                <a:ext uri="{FF2B5EF4-FFF2-40B4-BE49-F238E27FC236}">
                  <a16:creationId xmlns:a16="http://schemas.microsoft.com/office/drawing/2014/main" id="{2735E8BA-72D6-46BD-9764-AB07FAFB7820}"/>
                </a:ext>
              </a:extLst>
            </p:cNvPr>
            <p:cNvSpPr txBox="1">
              <a:spLocks noChangeArrowheads="1"/>
            </p:cNvSpPr>
            <p:nvPr/>
          </p:nvSpPr>
          <p:spPr bwMode="auto">
            <a:xfrm>
              <a:off x="3061" y="2069"/>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5</a:t>
              </a:r>
              <a:endParaRPr lang="en-US" altLang="lv-LV" sz="1800"/>
            </a:p>
          </p:txBody>
        </p:sp>
        <p:sp>
          <p:nvSpPr>
            <p:cNvPr id="15372" name="Text Box 12">
              <a:extLst>
                <a:ext uri="{FF2B5EF4-FFF2-40B4-BE49-F238E27FC236}">
                  <a16:creationId xmlns:a16="http://schemas.microsoft.com/office/drawing/2014/main" id="{350041DF-775E-40BD-987C-31A5A97A12A1}"/>
                </a:ext>
              </a:extLst>
            </p:cNvPr>
            <p:cNvSpPr txBox="1">
              <a:spLocks noChangeArrowheads="1"/>
            </p:cNvSpPr>
            <p:nvPr/>
          </p:nvSpPr>
          <p:spPr bwMode="auto">
            <a:xfrm>
              <a:off x="2744" y="3158"/>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13</a:t>
              </a:r>
              <a:endParaRPr lang="en-US" altLang="lv-LV" sz="1800"/>
            </a:p>
          </p:txBody>
        </p:sp>
        <p:sp>
          <p:nvSpPr>
            <p:cNvPr id="15373" name="Text Box 13">
              <a:extLst>
                <a:ext uri="{FF2B5EF4-FFF2-40B4-BE49-F238E27FC236}">
                  <a16:creationId xmlns:a16="http://schemas.microsoft.com/office/drawing/2014/main" id="{4FC6965B-1398-44B5-9B20-A946C98D32CC}"/>
                </a:ext>
              </a:extLst>
            </p:cNvPr>
            <p:cNvSpPr txBox="1">
              <a:spLocks noChangeArrowheads="1"/>
            </p:cNvSpPr>
            <p:nvPr/>
          </p:nvSpPr>
          <p:spPr bwMode="auto">
            <a:xfrm>
              <a:off x="2744" y="2614"/>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6</a:t>
              </a:r>
              <a:endParaRPr lang="en-US" altLang="lv-LV" sz="1800"/>
            </a:p>
          </p:txBody>
        </p:sp>
        <p:sp>
          <p:nvSpPr>
            <p:cNvPr id="15374" name="Text Box 14">
              <a:extLst>
                <a:ext uri="{FF2B5EF4-FFF2-40B4-BE49-F238E27FC236}">
                  <a16:creationId xmlns:a16="http://schemas.microsoft.com/office/drawing/2014/main" id="{38B45AC0-35D4-407D-AAB5-9569F6FE77E5}"/>
                </a:ext>
              </a:extLst>
            </p:cNvPr>
            <p:cNvSpPr txBox="1">
              <a:spLocks noChangeArrowheads="1"/>
            </p:cNvSpPr>
            <p:nvPr/>
          </p:nvSpPr>
          <p:spPr bwMode="auto">
            <a:xfrm>
              <a:off x="3470" y="2795"/>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9</a:t>
              </a:r>
              <a:endParaRPr lang="en-US" altLang="lv-LV" sz="1800"/>
            </a:p>
          </p:txBody>
        </p:sp>
        <p:sp>
          <p:nvSpPr>
            <p:cNvPr id="15375" name="Text Box 15">
              <a:extLst>
                <a:ext uri="{FF2B5EF4-FFF2-40B4-BE49-F238E27FC236}">
                  <a16:creationId xmlns:a16="http://schemas.microsoft.com/office/drawing/2014/main" id="{A2C2AE19-E551-4C37-8081-81080DAB4098}"/>
                </a:ext>
              </a:extLst>
            </p:cNvPr>
            <p:cNvSpPr txBox="1">
              <a:spLocks noChangeArrowheads="1"/>
            </p:cNvSpPr>
            <p:nvPr/>
          </p:nvSpPr>
          <p:spPr bwMode="auto">
            <a:xfrm>
              <a:off x="3651" y="2251"/>
              <a:ext cx="226"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8</a:t>
              </a:r>
              <a:endParaRPr lang="en-US" altLang="lv-LV" sz="1800"/>
            </a:p>
          </p:txBody>
        </p:sp>
        <p:sp>
          <p:nvSpPr>
            <p:cNvPr id="15376" name="Text Box 16">
              <a:extLst>
                <a:ext uri="{FF2B5EF4-FFF2-40B4-BE49-F238E27FC236}">
                  <a16:creationId xmlns:a16="http://schemas.microsoft.com/office/drawing/2014/main" id="{72BF2BEA-5830-4596-92EF-34E053BFB905}"/>
                </a:ext>
              </a:extLst>
            </p:cNvPr>
            <p:cNvSpPr txBox="1">
              <a:spLocks noChangeArrowheads="1"/>
            </p:cNvSpPr>
            <p:nvPr/>
          </p:nvSpPr>
          <p:spPr bwMode="auto">
            <a:xfrm>
              <a:off x="1429" y="3748"/>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10</a:t>
              </a:r>
              <a:endParaRPr lang="en-US" altLang="lv-LV" sz="1800"/>
            </a:p>
          </p:txBody>
        </p:sp>
        <p:sp>
          <p:nvSpPr>
            <p:cNvPr id="15377" name="Text Box 17">
              <a:extLst>
                <a:ext uri="{FF2B5EF4-FFF2-40B4-BE49-F238E27FC236}">
                  <a16:creationId xmlns:a16="http://schemas.microsoft.com/office/drawing/2014/main" id="{8C158764-641E-4FA8-9617-DE18D67DE0E6}"/>
                </a:ext>
              </a:extLst>
            </p:cNvPr>
            <p:cNvSpPr txBox="1">
              <a:spLocks noChangeArrowheads="1"/>
            </p:cNvSpPr>
            <p:nvPr/>
          </p:nvSpPr>
          <p:spPr bwMode="auto">
            <a:xfrm>
              <a:off x="1973" y="3385"/>
              <a:ext cx="317" cy="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800"/>
                <a:t>11</a:t>
              </a:r>
              <a:endParaRPr lang="en-US" altLang="lv-LV" sz="1800"/>
            </a:p>
          </p:txBody>
        </p:sp>
        <p:sp>
          <p:nvSpPr>
            <p:cNvPr id="15378" name="Line 18">
              <a:extLst>
                <a:ext uri="{FF2B5EF4-FFF2-40B4-BE49-F238E27FC236}">
                  <a16:creationId xmlns:a16="http://schemas.microsoft.com/office/drawing/2014/main" id="{38B27746-ACB1-46DB-9D25-89817F7ACBDE}"/>
                </a:ext>
              </a:extLst>
            </p:cNvPr>
            <p:cNvSpPr>
              <a:spLocks noChangeShapeType="1"/>
            </p:cNvSpPr>
            <p:nvPr/>
          </p:nvSpPr>
          <p:spPr bwMode="auto">
            <a:xfrm flipV="1">
              <a:off x="521" y="2931"/>
              <a:ext cx="27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79" name="Line 19">
              <a:extLst>
                <a:ext uri="{FF2B5EF4-FFF2-40B4-BE49-F238E27FC236}">
                  <a16:creationId xmlns:a16="http://schemas.microsoft.com/office/drawing/2014/main" id="{508A9DC5-EA57-447E-904C-6F5B893EF17F}"/>
                </a:ext>
              </a:extLst>
            </p:cNvPr>
            <p:cNvSpPr>
              <a:spLocks noChangeShapeType="1"/>
            </p:cNvSpPr>
            <p:nvPr/>
          </p:nvSpPr>
          <p:spPr bwMode="auto">
            <a:xfrm>
              <a:off x="521" y="3385"/>
              <a:ext cx="318"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0" name="Line 20">
              <a:extLst>
                <a:ext uri="{FF2B5EF4-FFF2-40B4-BE49-F238E27FC236}">
                  <a16:creationId xmlns:a16="http://schemas.microsoft.com/office/drawing/2014/main" id="{CE9B9759-D4EA-47BD-B190-81A06C9D4923}"/>
                </a:ext>
              </a:extLst>
            </p:cNvPr>
            <p:cNvSpPr>
              <a:spLocks noChangeShapeType="1"/>
            </p:cNvSpPr>
            <p:nvPr/>
          </p:nvSpPr>
          <p:spPr bwMode="auto">
            <a:xfrm flipV="1">
              <a:off x="521" y="2976"/>
              <a:ext cx="726"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1" name="Line 21">
              <a:extLst>
                <a:ext uri="{FF2B5EF4-FFF2-40B4-BE49-F238E27FC236}">
                  <a16:creationId xmlns:a16="http://schemas.microsoft.com/office/drawing/2014/main" id="{195039CB-EFBC-496F-B681-321BE2D85971}"/>
                </a:ext>
              </a:extLst>
            </p:cNvPr>
            <p:cNvSpPr>
              <a:spLocks noChangeShapeType="1"/>
            </p:cNvSpPr>
            <p:nvPr/>
          </p:nvSpPr>
          <p:spPr bwMode="auto">
            <a:xfrm>
              <a:off x="1020" y="2886"/>
              <a:ext cx="272"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2" name="Line 22">
              <a:extLst>
                <a:ext uri="{FF2B5EF4-FFF2-40B4-BE49-F238E27FC236}">
                  <a16:creationId xmlns:a16="http://schemas.microsoft.com/office/drawing/2014/main" id="{BA577E92-EF38-49F9-B422-34CB1BA94A71}"/>
                </a:ext>
              </a:extLst>
            </p:cNvPr>
            <p:cNvSpPr>
              <a:spLocks noChangeShapeType="1"/>
            </p:cNvSpPr>
            <p:nvPr/>
          </p:nvSpPr>
          <p:spPr bwMode="auto">
            <a:xfrm flipV="1">
              <a:off x="1156" y="2976"/>
              <a:ext cx="136" cy="4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3" name="Line 23">
              <a:extLst>
                <a:ext uri="{FF2B5EF4-FFF2-40B4-BE49-F238E27FC236}">
                  <a16:creationId xmlns:a16="http://schemas.microsoft.com/office/drawing/2014/main" id="{09A85441-109A-4D31-9BEA-74E103FF1774}"/>
                </a:ext>
              </a:extLst>
            </p:cNvPr>
            <p:cNvSpPr>
              <a:spLocks noChangeShapeType="1"/>
            </p:cNvSpPr>
            <p:nvPr/>
          </p:nvSpPr>
          <p:spPr bwMode="auto">
            <a:xfrm>
              <a:off x="1156" y="3521"/>
              <a:ext cx="273"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4" name="Line 24">
              <a:extLst>
                <a:ext uri="{FF2B5EF4-FFF2-40B4-BE49-F238E27FC236}">
                  <a16:creationId xmlns:a16="http://schemas.microsoft.com/office/drawing/2014/main" id="{8DE5AFCB-6BD3-400D-A72E-57B38CB761D1}"/>
                </a:ext>
              </a:extLst>
            </p:cNvPr>
            <p:cNvSpPr>
              <a:spLocks noChangeShapeType="1"/>
            </p:cNvSpPr>
            <p:nvPr/>
          </p:nvSpPr>
          <p:spPr bwMode="auto">
            <a:xfrm flipV="1">
              <a:off x="1746" y="3612"/>
              <a:ext cx="227"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5" name="Line 25">
              <a:extLst>
                <a:ext uri="{FF2B5EF4-FFF2-40B4-BE49-F238E27FC236}">
                  <a16:creationId xmlns:a16="http://schemas.microsoft.com/office/drawing/2014/main" id="{6A3E6E06-2DD5-407E-8E0B-583D20B416C2}"/>
                </a:ext>
              </a:extLst>
            </p:cNvPr>
            <p:cNvSpPr>
              <a:spLocks noChangeShapeType="1"/>
            </p:cNvSpPr>
            <p:nvPr/>
          </p:nvSpPr>
          <p:spPr bwMode="auto">
            <a:xfrm flipV="1">
              <a:off x="1156" y="3385"/>
              <a:ext cx="817"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6" name="Line 26">
              <a:extLst>
                <a:ext uri="{FF2B5EF4-FFF2-40B4-BE49-F238E27FC236}">
                  <a16:creationId xmlns:a16="http://schemas.microsoft.com/office/drawing/2014/main" id="{CA792877-8424-476B-8C29-9A328381706D}"/>
                </a:ext>
              </a:extLst>
            </p:cNvPr>
            <p:cNvSpPr>
              <a:spLocks noChangeShapeType="1"/>
            </p:cNvSpPr>
            <p:nvPr/>
          </p:nvSpPr>
          <p:spPr bwMode="auto">
            <a:xfrm flipV="1">
              <a:off x="1519" y="2750"/>
              <a:ext cx="1225"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7" name="Line 27">
              <a:extLst>
                <a:ext uri="{FF2B5EF4-FFF2-40B4-BE49-F238E27FC236}">
                  <a16:creationId xmlns:a16="http://schemas.microsoft.com/office/drawing/2014/main" id="{35ED16C2-06CA-4FD9-A987-71A9092990FE}"/>
                </a:ext>
              </a:extLst>
            </p:cNvPr>
            <p:cNvSpPr>
              <a:spLocks noChangeShapeType="1"/>
            </p:cNvSpPr>
            <p:nvPr/>
          </p:nvSpPr>
          <p:spPr bwMode="auto">
            <a:xfrm flipV="1">
              <a:off x="1519" y="2568"/>
              <a:ext cx="590"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8" name="Line 28">
              <a:extLst>
                <a:ext uri="{FF2B5EF4-FFF2-40B4-BE49-F238E27FC236}">
                  <a16:creationId xmlns:a16="http://schemas.microsoft.com/office/drawing/2014/main" id="{C3EDC386-6D9E-4686-B881-63F04C7BDADF}"/>
                </a:ext>
              </a:extLst>
            </p:cNvPr>
            <p:cNvSpPr>
              <a:spLocks noChangeShapeType="1"/>
            </p:cNvSpPr>
            <p:nvPr/>
          </p:nvSpPr>
          <p:spPr bwMode="auto">
            <a:xfrm>
              <a:off x="2200" y="2115"/>
              <a:ext cx="45"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89" name="Line 29">
              <a:extLst>
                <a:ext uri="{FF2B5EF4-FFF2-40B4-BE49-F238E27FC236}">
                  <a16:creationId xmlns:a16="http://schemas.microsoft.com/office/drawing/2014/main" id="{46C365C0-760E-4FE7-8933-401846303AF1}"/>
                </a:ext>
              </a:extLst>
            </p:cNvPr>
            <p:cNvSpPr>
              <a:spLocks noChangeShapeType="1"/>
            </p:cNvSpPr>
            <p:nvPr/>
          </p:nvSpPr>
          <p:spPr bwMode="auto">
            <a:xfrm>
              <a:off x="2336" y="2568"/>
              <a:ext cx="408"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0" name="Line 30">
              <a:extLst>
                <a:ext uri="{FF2B5EF4-FFF2-40B4-BE49-F238E27FC236}">
                  <a16:creationId xmlns:a16="http://schemas.microsoft.com/office/drawing/2014/main" id="{A6F45994-9638-4032-8681-774BADF9FA70}"/>
                </a:ext>
              </a:extLst>
            </p:cNvPr>
            <p:cNvSpPr>
              <a:spLocks noChangeShapeType="1"/>
            </p:cNvSpPr>
            <p:nvPr/>
          </p:nvSpPr>
          <p:spPr bwMode="auto">
            <a:xfrm flipV="1">
              <a:off x="2880" y="2296"/>
              <a:ext cx="181"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1" name="Line 31">
              <a:extLst>
                <a:ext uri="{FF2B5EF4-FFF2-40B4-BE49-F238E27FC236}">
                  <a16:creationId xmlns:a16="http://schemas.microsoft.com/office/drawing/2014/main" id="{B9AC5289-8446-45C1-A32F-8B490CD9DE4F}"/>
                </a:ext>
              </a:extLst>
            </p:cNvPr>
            <p:cNvSpPr>
              <a:spLocks noChangeShapeType="1"/>
            </p:cNvSpPr>
            <p:nvPr/>
          </p:nvSpPr>
          <p:spPr bwMode="auto">
            <a:xfrm>
              <a:off x="2880" y="2840"/>
              <a:ext cx="0"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2" name="Line 32">
              <a:extLst>
                <a:ext uri="{FF2B5EF4-FFF2-40B4-BE49-F238E27FC236}">
                  <a16:creationId xmlns:a16="http://schemas.microsoft.com/office/drawing/2014/main" id="{16A13DB6-511A-4481-A4B1-D09C4247653D}"/>
                </a:ext>
              </a:extLst>
            </p:cNvPr>
            <p:cNvSpPr>
              <a:spLocks noChangeShapeType="1"/>
            </p:cNvSpPr>
            <p:nvPr/>
          </p:nvSpPr>
          <p:spPr bwMode="auto">
            <a:xfrm>
              <a:off x="2971" y="2750"/>
              <a:ext cx="499"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3" name="Line 33">
              <a:extLst>
                <a:ext uri="{FF2B5EF4-FFF2-40B4-BE49-F238E27FC236}">
                  <a16:creationId xmlns:a16="http://schemas.microsoft.com/office/drawing/2014/main" id="{52892877-99CD-4610-9FBD-1EB64D1CAF5C}"/>
                </a:ext>
              </a:extLst>
            </p:cNvPr>
            <p:cNvSpPr>
              <a:spLocks noChangeShapeType="1"/>
            </p:cNvSpPr>
            <p:nvPr/>
          </p:nvSpPr>
          <p:spPr bwMode="auto">
            <a:xfrm>
              <a:off x="3288" y="2160"/>
              <a:ext cx="363"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4" name="Line 34">
              <a:extLst>
                <a:ext uri="{FF2B5EF4-FFF2-40B4-BE49-F238E27FC236}">
                  <a16:creationId xmlns:a16="http://schemas.microsoft.com/office/drawing/2014/main" id="{61A5D4ED-503C-4D08-972F-FC95CF88DE96}"/>
                </a:ext>
              </a:extLst>
            </p:cNvPr>
            <p:cNvSpPr>
              <a:spLocks noChangeShapeType="1"/>
            </p:cNvSpPr>
            <p:nvPr/>
          </p:nvSpPr>
          <p:spPr bwMode="auto">
            <a:xfrm>
              <a:off x="3198" y="2296"/>
              <a:ext cx="272" cy="49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5395" name="Line 35">
              <a:extLst>
                <a:ext uri="{FF2B5EF4-FFF2-40B4-BE49-F238E27FC236}">
                  <a16:creationId xmlns:a16="http://schemas.microsoft.com/office/drawing/2014/main" id="{48613F2E-9785-4260-950B-A9747BCB2F1D}"/>
                </a:ext>
              </a:extLst>
            </p:cNvPr>
            <p:cNvSpPr>
              <a:spLocks noChangeShapeType="1"/>
            </p:cNvSpPr>
            <p:nvPr/>
          </p:nvSpPr>
          <p:spPr bwMode="auto">
            <a:xfrm flipV="1">
              <a:off x="3606" y="2478"/>
              <a:ext cx="136"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3B2271C-A49B-4D2D-A74B-0F9EBC0B1528}"/>
              </a:ext>
            </a:extLst>
          </p:cNvPr>
          <p:cNvSpPr>
            <a:spLocks noGrp="1" noChangeArrowheads="1"/>
          </p:cNvSpPr>
          <p:nvPr>
            <p:ph type="title"/>
          </p:nvPr>
        </p:nvSpPr>
        <p:spPr/>
        <p:txBody>
          <a:bodyPr/>
          <a:lstStyle/>
          <a:p>
            <a:r>
              <a:rPr lang="lv-LV" altLang="lv-LV" dirty="0"/>
              <a:t>Vingrinājums</a:t>
            </a:r>
            <a:endParaRPr lang="en-US" altLang="lv-LV" dirty="0"/>
          </a:p>
        </p:txBody>
      </p:sp>
      <p:sp>
        <p:nvSpPr>
          <p:cNvPr id="16387" name="Content Placeholder 2">
            <a:extLst>
              <a:ext uri="{FF2B5EF4-FFF2-40B4-BE49-F238E27FC236}">
                <a16:creationId xmlns:a16="http://schemas.microsoft.com/office/drawing/2014/main" id="{2F5D09CC-F6D0-4332-980D-D4590DC08EFE}"/>
              </a:ext>
            </a:extLst>
          </p:cNvPr>
          <p:cNvSpPr>
            <a:spLocks noGrp="1" noChangeArrowheads="1"/>
          </p:cNvSpPr>
          <p:nvPr>
            <p:ph idx="1"/>
          </p:nvPr>
        </p:nvSpPr>
        <p:spPr>
          <a:xfrm>
            <a:off x="457200" y="1628800"/>
            <a:ext cx="8229600" cy="4954562"/>
          </a:xfrm>
        </p:spPr>
        <p:txBody>
          <a:bodyPr/>
          <a:lstStyle/>
          <a:p>
            <a:pPr marL="0" indent="0">
              <a:buFontTx/>
              <a:buNone/>
            </a:pPr>
            <a:r>
              <a:rPr lang="lv-LV" altLang="lv-LV" sz="2400" dirty="0"/>
              <a:t>Uzrakstīt kādā secībā tiks apmeklētas 3.slaidā dotā grafa (labirinta) virsotnes (rūtiņas), ja grafu apstaigās pēc:</a:t>
            </a:r>
          </a:p>
          <a:p>
            <a:pPr marL="514350" indent="-514350">
              <a:buFont typeface="+mj-lt"/>
              <a:buAutoNum type="arabicPeriod"/>
            </a:pPr>
            <a:r>
              <a:rPr lang="lv-LV" altLang="lv-LV" sz="2400" dirty="0"/>
              <a:t>DFS metodes</a:t>
            </a:r>
          </a:p>
          <a:p>
            <a:pPr marL="514350" indent="-514350">
              <a:buFont typeface="+mj-lt"/>
              <a:buAutoNum type="arabicPeriod"/>
            </a:pPr>
            <a:r>
              <a:rPr lang="lv-LV" altLang="lv-LV" sz="2400" dirty="0"/>
              <a:t>BFS metodes</a:t>
            </a:r>
          </a:p>
          <a:p>
            <a:pPr marL="0" indent="0">
              <a:buNone/>
            </a:pPr>
            <a:r>
              <a:rPr lang="lv-LV" altLang="lv-LV" sz="2400" dirty="0"/>
              <a:t>Atbildes iegūšanai uz papīra ir vērts pa soļiem pildīt algoritmus un pierakstīt steka vai rindas saturu. Ja vienai virsotnei ir vairāki kaimiņi, tad vispirms rindā vai stekā liek kaimiņu ar mazāko virsotnes numuru.</a:t>
            </a:r>
          </a:p>
          <a:p>
            <a:pPr marL="0" indent="0">
              <a:buNone/>
            </a:pPr>
            <a:r>
              <a:rPr lang="lv-LV" altLang="lv-LV" sz="2400" dirty="0"/>
              <a:t>Atbildes ir paslēptas te, tās var ieraudzīt, mainot burtu krāsu. Taču darām to tikai tad, kad esam ieguvuši savu atbildi!</a:t>
            </a:r>
          </a:p>
          <a:p>
            <a:pPr marL="0" indent="0">
              <a:buNone/>
            </a:pPr>
            <a:r>
              <a:rPr lang="lv-LV" altLang="lv-LV" sz="1200" dirty="0">
                <a:solidFill>
                  <a:schemeClr val="bg1"/>
                </a:solidFill>
              </a:rPr>
              <a:t>DFS 1-6-11-12-17-16-13 -18 -14 -19 -15 -20 -10 -9 -8-3-2-7 </a:t>
            </a:r>
          </a:p>
          <a:p>
            <a:pPr marL="0" indent="0">
              <a:buNone/>
            </a:pPr>
            <a:r>
              <a:rPr lang="lv-LV" altLang="lv-LV" sz="1200" dirty="0">
                <a:solidFill>
                  <a:schemeClr val="bg1"/>
                </a:solidFill>
              </a:rPr>
              <a:t>BFS 1-6-7-11-12-13-17-14-18-16-9-15-19-4-8-10-20-5-3-2</a:t>
            </a:r>
          </a:p>
          <a:p>
            <a:pPr marL="0" indent="0">
              <a:buNone/>
            </a:pPr>
            <a:r>
              <a:rPr lang="lv-LV" altLang="lv-LV" sz="1200" dirty="0">
                <a:solidFill>
                  <a:schemeClr val="bg1"/>
                </a:solidFill>
              </a:rPr>
              <a:t>BFS (programmas darba secība) 1-6-7-11-12-13-17-18-14-16-15-9-19-10-20-4-8-5-3-2</a:t>
            </a:r>
          </a:p>
          <a:p>
            <a:pPr marL="514350" indent="-514350">
              <a:buFont typeface="+mj-lt"/>
              <a:buAutoNum type="arabicPeriod"/>
            </a:pPr>
            <a:endParaRPr lang="en-US" altLang="lv-LV"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2D59A01-5E12-4A05-A54A-83B7EFDC7282}"/>
              </a:ext>
            </a:extLst>
          </p:cNvPr>
          <p:cNvSpPr>
            <a:spLocks noGrp="1" noChangeArrowheads="1"/>
          </p:cNvSpPr>
          <p:nvPr>
            <p:ph type="title"/>
          </p:nvPr>
        </p:nvSpPr>
        <p:spPr/>
        <p:txBody>
          <a:bodyPr/>
          <a:lstStyle/>
          <a:p>
            <a:pPr eaLnBrk="1" hangingPunct="1"/>
            <a:r>
              <a:rPr lang="lv-LV" altLang="lv-LV"/>
              <a:t>Ceļa atrašana grafā no v</a:t>
            </a:r>
            <a:r>
              <a:rPr lang="lv-LV" altLang="lv-LV" baseline="-25000"/>
              <a:t>s</a:t>
            </a:r>
            <a:r>
              <a:rPr lang="lv-LV" altLang="lv-LV"/>
              <a:t> uz v</a:t>
            </a:r>
            <a:r>
              <a:rPr lang="lv-LV" altLang="lv-LV" baseline="-25000"/>
              <a:t>e</a:t>
            </a:r>
            <a:endParaRPr lang="en-US" altLang="lv-LV"/>
          </a:p>
        </p:txBody>
      </p:sp>
      <p:sp>
        <p:nvSpPr>
          <p:cNvPr id="17411" name="Rectangle 3">
            <a:extLst>
              <a:ext uri="{FF2B5EF4-FFF2-40B4-BE49-F238E27FC236}">
                <a16:creationId xmlns:a16="http://schemas.microsoft.com/office/drawing/2014/main" id="{421BBBB8-5610-4673-BFBD-B6F3EE993FCA}"/>
              </a:ext>
            </a:extLst>
          </p:cNvPr>
          <p:cNvSpPr>
            <a:spLocks noGrp="1" noChangeArrowheads="1"/>
          </p:cNvSpPr>
          <p:nvPr>
            <p:ph type="body" idx="1"/>
          </p:nvPr>
        </p:nvSpPr>
        <p:spPr/>
        <p:txBody>
          <a:bodyPr/>
          <a:lstStyle/>
          <a:p>
            <a:pPr marL="0" indent="0" eaLnBrk="1" hangingPunct="1">
              <a:buNone/>
            </a:pPr>
            <a:r>
              <a:rPr lang="lv-LV" altLang="lv-LV" dirty="0"/>
              <a:t>Izmantosim BFS(</a:t>
            </a:r>
            <a:r>
              <a:rPr lang="lv-LV" altLang="lv-LV" dirty="0" err="1"/>
              <a:t>v</a:t>
            </a:r>
            <a:r>
              <a:rPr lang="lv-LV" altLang="lv-LV" baseline="-25000" dirty="0" err="1"/>
              <a:t>s</a:t>
            </a:r>
            <a:r>
              <a:rPr lang="lv-LV" altLang="lv-LV" dirty="0"/>
              <a:t>) algoritmu</a:t>
            </a:r>
          </a:p>
          <a:p>
            <a:pPr marL="0" indent="0" eaLnBrk="1" hangingPunct="1">
              <a:buNone/>
            </a:pPr>
            <a:r>
              <a:rPr lang="lv-LV" altLang="lv-LV" dirty="0"/>
              <a:t>Ceļa pierakstīšanai papildus vajadzīgs masīvs no[ ]</a:t>
            </a:r>
          </a:p>
          <a:p>
            <a:pPr marL="0" indent="0" eaLnBrk="1" hangingPunct="1">
              <a:buNone/>
            </a:pPr>
            <a:r>
              <a:rPr lang="lv-LV" altLang="lv-LV" dirty="0"/>
              <a:t>no[</a:t>
            </a:r>
            <a:r>
              <a:rPr lang="lv-LV" altLang="lv-LV" dirty="0" err="1"/>
              <a:t>v</a:t>
            </a:r>
            <a:r>
              <a:rPr lang="lv-LV" altLang="lv-LV" baseline="-25000" dirty="0" err="1"/>
              <a:t>s</a:t>
            </a:r>
            <a:r>
              <a:rPr lang="lv-LV" altLang="lv-LV" dirty="0"/>
              <a:t>] = -1</a:t>
            </a:r>
          </a:p>
          <a:p>
            <a:pPr marL="0" indent="0" eaLnBrk="1" hangingPunct="1">
              <a:buNone/>
            </a:pPr>
            <a:r>
              <a:rPr lang="lv-LV" altLang="lv-LV" dirty="0"/>
              <a:t>papildinām BFS algoritmu: </a:t>
            </a:r>
          </a:p>
          <a:p>
            <a:pPr marL="457200" lvl="1" indent="0" eaLnBrk="1" hangingPunct="1">
              <a:buNone/>
            </a:pPr>
            <a:r>
              <a:rPr lang="lv-LV" altLang="lv-LV" dirty="0"/>
              <a:t>ja nav </a:t>
            </a:r>
            <a:r>
              <a:rPr lang="lv-LV" altLang="lv-LV" dirty="0" err="1"/>
              <a:t>apmeklets</a:t>
            </a:r>
            <a:r>
              <a:rPr lang="lv-LV" altLang="lv-LV" dirty="0"/>
              <a:t>[u] tad</a:t>
            </a:r>
          </a:p>
          <a:p>
            <a:pPr marL="857250" lvl="2" indent="0" eaLnBrk="1" hangingPunct="1">
              <a:buNone/>
            </a:pPr>
            <a:r>
              <a:rPr lang="lv-LV" altLang="lv-LV" dirty="0">
                <a:solidFill>
                  <a:srgbClr val="FF0000"/>
                </a:solidFill>
              </a:rPr>
              <a:t>no[u]=p</a:t>
            </a:r>
          </a:p>
          <a:p>
            <a:pPr marL="857250" lvl="2" indent="0" eaLnBrk="1" hangingPunct="1">
              <a:buNone/>
            </a:pPr>
            <a:r>
              <a:rPr lang="lv-LV" altLang="lv-LV" dirty="0">
                <a:solidFill>
                  <a:srgbClr val="FF0000"/>
                </a:solidFill>
              </a:rPr>
              <a:t>ja u=v</a:t>
            </a:r>
            <a:r>
              <a:rPr lang="lv-LV" altLang="lv-LV" baseline="-25000" dirty="0">
                <a:solidFill>
                  <a:srgbClr val="FF0000"/>
                </a:solidFill>
              </a:rPr>
              <a:t>e</a:t>
            </a:r>
            <a:r>
              <a:rPr lang="lv-LV" altLang="lv-LV" dirty="0">
                <a:solidFill>
                  <a:srgbClr val="FF0000"/>
                </a:solidFill>
              </a:rPr>
              <a:t> tad darbu beidz</a:t>
            </a:r>
          </a:p>
          <a:p>
            <a:pPr eaLnBrk="1" hangingPunct="1"/>
            <a:endParaRPr lang="en-US" altLang="lv-LV"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3B2271C-A49B-4D2D-A74B-0F9EBC0B1528}"/>
              </a:ext>
            </a:extLst>
          </p:cNvPr>
          <p:cNvSpPr>
            <a:spLocks noGrp="1" noChangeArrowheads="1"/>
          </p:cNvSpPr>
          <p:nvPr>
            <p:ph type="title"/>
          </p:nvPr>
        </p:nvSpPr>
        <p:spPr>
          <a:xfrm>
            <a:off x="251520" y="274638"/>
            <a:ext cx="8784976" cy="1143000"/>
          </a:xfrm>
        </p:spPr>
        <p:txBody>
          <a:bodyPr/>
          <a:lstStyle/>
          <a:p>
            <a:r>
              <a:rPr lang="lv-LV" altLang="lv-LV" sz="3000" dirty="0"/>
              <a:t>Piemērs - ceļa meklēšana no 3(</a:t>
            </a:r>
            <a:r>
              <a:rPr lang="lv-LV" altLang="lv-LV" sz="2400" dirty="0"/>
              <a:t>2</a:t>
            </a:r>
            <a:r>
              <a:rPr lang="lv-LV" altLang="lv-LV" sz="3000" dirty="0"/>
              <a:t>). uz 4(</a:t>
            </a:r>
            <a:r>
              <a:rPr lang="lv-LV" altLang="lv-LV" sz="2400" dirty="0"/>
              <a:t>3</a:t>
            </a:r>
            <a:r>
              <a:rPr lang="lv-LV" altLang="lv-LV" sz="3000" dirty="0"/>
              <a:t>). rūtiņu</a:t>
            </a:r>
            <a:endParaRPr lang="en-US" altLang="lv-LV" sz="3000" dirty="0"/>
          </a:p>
        </p:txBody>
      </p:sp>
      <p:pic>
        <p:nvPicPr>
          <p:cNvPr id="4" name="Picture 6">
            <a:extLst>
              <a:ext uri="{FF2B5EF4-FFF2-40B4-BE49-F238E27FC236}">
                <a16:creationId xmlns:a16="http://schemas.microsoft.com/office/drawing/2014/main" id="{7A8E9EB9-F5AD-4039-91B5-3ABBCB999E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273" t="26663" r="57237" b="47417"/>
          <a:stretch/>
        </p:blipFill>
        <p:spPr bwMode="auto">
          <a:xfrm>
            <a:off x="6444208" y="1312173"/>
            <a:ext cx="2030485" cy="1579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A square white text&#10;&#10;Description automatically generated">
            <a:extLst>
              <a:ext uri="{FF2B5EF4-FFF2-40B4-BE49-F238E27FC236}">
                <a16:creationId xmlns:a16="http://schemas.microsoft.com/office/drawing/2014/main" id="{01F09A2B-3363-4FCD-8CB5-AFFABEC0D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1417638"/>
            <a:ext cx="2304789" cy="1512168"/>
          </a:xfrm>
          <a:prstGeom prst="rect">
            <a:avLst/>
          </a:prstGeom>
        </p:spPr>
      </p:pic>
      <p:sp>
        <p:nvSpPr>
          <p:cNvPr id="7" name="TextBox 6">
            <a:extLst>
              <a:ext uri="{FF2B5EF4-FFF2-40B4-BE49-F238E27FC236}">
                <a16:creationId xmlns:a16="http://schemas.microsoft.com/office/drawing/2014/main" id="{FFE4CC3A-AD1C-4FF9-B185-FFA7D6022F17}"/>
              </a:ext>
            </a:extLst>
          </p:cNvPr>
          <p:cNvSpPr txBox="1"/>
          <p:nvPr/>
        </p:nvSpPr>
        <p:spPr>
          <a:xfrm>
            <a:off x="463776" y="5013997"/>
            <a:ext cx="8212680" cy="1477328"/>
          </a:xfrm>
          <a:prstGeom prst="rect">
            <a:avLst/>
          </a:prstGeom>
          <a:noFill/>
        </p:spPr>
        <p:txBody>
          <a:bodyPr wrap="square" rtlCol="0">
            <a:spAutoFit/>
          </a:bodyPr>
          <a:lstStyle/>
          <a:p>
            <a:r>
              <a:rPr lang="lv-LV" dirty="0"/>
              <a:t>Ceļu ieliek </a:t>
            </a:r>
            <a:r>
              <a:rPr lang="lv-LV" i="1" dirty="0"/>
              <a:t>stekā</a:t>
            </a:r>
            <a:r>
              <a:rPr lang="lv-LV" dirty="0"/>
              <a:t>, masīvā </a:t>
            </a:r>
            <a:r>
              <a:rPr lang="lv-LV" b="1" dirty="0"/>
              <a:t>no</a:t>
            </a:r>
            <a:r>
              <a:rPr lang="lv-LV" dirty="0"/>
              <a:t> kāpjoties atpakaļ no beigu rūtiņas uz sākumu: </a:t>
            </a:r>
          </a:p>
          <a:p>
            <a:r>
              <a:rPr lang="lv-LV" dirty="0"/>
              <a:t>3. rūtiņā nokļuva no 8.</a:t>
            </a:r>
          </a:p>
          <a:p>
            <a:r>
              <a:rPr lang="lv-LV" dirty="0"/>
              <a:t>8. rūtiņā nokļuva no 7.</a:t>
            </a:r>
          </a:p>
          <a:p>
            <a:r>
              <a:rPr lang="lv-LV" dirty="0"/>
              <a:t>7. rūtiņā nokļuva no 2.</a:t>
            </a:r>
          </a:p>
          <a:p>
            <a:r>
              <a:rPr lang="lv-LV" dirty="0"/>
              <a:t>2. rūtiņā ir -1, tāpēc ceļš ir galā</a:t>
            </a:r>
          </a:p>
        </p:txBody>
      </p:sp>
      <p:pic>
        <p:nvPicPr>
          <p:cNvPr id="8" name="Picture 7">
            <a:extLst>
              <a:ext uri="{FF2B5EF4-FFF2-40B4-BE49-F238E27FC236}">
                <a16:creationId xmlns:a16="http://schemas.microsoft.com/office/drawing/2014/main" id="{A843ACDC-EC81-4A60-8D5B-4562A6FB6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0587" y="1366292"/>
            <a:ext cx="2362644" cy="1563514"/>
          </a:xfrm>
          <a:prstGeom prst="rect">
            <a:avLst/>
          </a:prstGeom>
        </p:spPr>
      </p:pic>
      <p:pic>
        <p:nvPicPr>
          <p:cNvPr id="10" name="Picture 9">
            <a:extLst>
              <a:ext uri="{FF2B5EF4-FFF2-40B4-BE49-F238E27FC236}">
                <a16:creationId xmlns:a16="http://schemas.microsoft.com/office/drawing/2014/main" id="{602A90B0-6305-43F1-A66F-64FC94E5B9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600" y="3140968"/>
            <a:ext cx="5976664" cy="1746123"/>
          </a:xfrm>
          <a:prstGeom prst="rect">
            <a:avLst/>
          </a:prstGeom>
        </p:spPr>
      </p:pic>
    </p:spTree>
    <p:extLst>
      <p:ext uri="{BB962C8B-B14F-4D97-AF65-F5344CB8AC3E}">
        <p14:creationId xmlns:p14="http://schemas.microsoft.com/office/powerpoint/2010/main" val="127031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3656-6E08-4BE1-B1B5-1C97D0120CAF}"/>
              </a:ext>
            </a:extLst>
          </p:cNvPr>
          <p:cNvSpPr>
            <a:spLocks noGrp="1"/>
          </p:cNvSpPr>
          <p:nvPr>
            <p:ph type="title"/>
          </p:nvPr>
        </p:nvSpPr>
        <p:spPr/>
        <p:txBody>
          <a:bodyPr/>
          <a:lstStyle/>
          <a:p>
            <a:r>
              <a:rPr lang="lv-LV" dirty="0"/>
              <a:t>Vingrinājums</a:t>
            </a:r>
          </a:p>
        </p:txBody>
      </p:sp>
      <p:sp>
        <p:nvSpPr>
          <p:cNvPr id="3" name="Content Placeholder 2">
            <a:extLst>
              <a:ext uri="{FF2B5EF4-FFF2-40B4-BE49-F238E27FC236}">
                <a16:creationId xmlns:a16="http://schemas.microsoft.com/office/drawing/2014/main" id="{41B96DBB-1AD9-458C-8AFE-A547D15A74E4}"/>
              </a:ext>
            </a:extLst>
          </p:cNvPr>
          <p:cNvSpPr>
            <a:spLocks noGrp="1"/>
          </p:cNvSpPr>
          <p:nvPr>
            <p:ph idx="1"/>
          </p:nvPr>
        </p:nvSpPr>
        <p:spPr>
          <a:xfrm>
            <a:off x="457200" y="1539851"/>
            <a:ext cx="8229600" cy="2260848"/>
          </a:xfrm>
        </p:spPr>
        <p:txBody>
          <a:bodyPr/>
          <a:lstStyle/>
          <a:p>
            <a:r>
              <a:rPr lang="lv-LV" dirty="0"/>
              <a:t>Veiciet ceļa meklēšanas algoritma trasēšanu jeb izpildi uz papīra, aizpildot masīva </a:t>
            </a:r>
            <a:r>
              <a:rPr lang="lv-LV" b="1" dirty="0"/>
              <a:t>no</a:t>
            </a:r>
            <a:r>
              <a:rPr lang="lv-LV" dirty="0"/>
              <a:t> un rindas saturu. Jāmeklē ceļš no 7. uz 17. rūtiņu.</a:t>
            </a:r>
          </a:p>
          <a:p>
            <a:r>
              <a:rPr lang="lv-LV" dirty="0"/>
              <a:t>Atbilde paslēpta zem balta laukuma.</a:t>
            </a:r>
          </a:p>
        </p:txBody>
      </p:sp>
      <p:pic>
        <p:nvPicPr>
          <p:cNvPr id="7" name="Picture 6">
            <a:extLst>
              <a:ext uri="{FF2B5EF4-FFF2-40B4-BE49-F238E27FC236}">
                <a16:creationId xmlns:a16="http://schemas.microsoft.com/office/drawing/2014/main" id="{396A8149-42DF-45D4-B482-CB542554E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4221088"/>
            <a:ext cx="7272808" cy="2019440"/>
          </a:xfrm>
          <a:prstGeom prst="rect">
            <a:avLst/>
          </a:prstGeom>
        </p:spPr>
      </p:pic>
      <p:sp>
        <p:nvSpPr>
          <p:cNvPr id="6" name="Rectangle 5">
            <a:extLst>
              <a:ext uri="{FF2B5EF4-FFF2-40B4-BE49-F238E27FC236}">
                <a16:creationId xmlns:a16="http://schemas.microsoft.com/office/drawing/2014/main" id="{00DC01C3-792B-4DA6-8ADE-46D9B3538554}"/>
              </a:ext>
            </a:extLst>
          </p:cNvPr>
          <p:cNvSpPr/>
          <p:nvPr/>
        </p:nvSpPr>
        <p:spPr>
          <a:xfrm>
            <a:off x="611560" y="4221088"/>
            <a:ext cx="7704856" cy="2434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v-LV"/>
          </a:p>
        </p:txBody>
      </p:sp>
    </p:spTree>
    <p:extLst>
      <p:ext uri="{BB962C8B-B14F-4D97-AF65-F5344CB8AC3E}">
        <p14:creationId xmlns:p14="http://schemas.microsoft.com/office/powerpoint/2010/main" val="3077530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4DFC98-AF87-4C05-A02D-0F6AD40965A2}"/>
              </a:ext>
            </a:extLst>
          </p:cNvPr>
          <p:cNvSpPr>
            <a:spLocks noGrp="1" noChangeArrowheads="1"/>
          </p:cNvSpPr>
          <p:nvPr>
            <p:ph type="title"/>
          </p:nvPr>
        </p:nvSpPr>
        <p:spPr/>
        <p:txBody>
          <a:bodyPr/>
          <a:lstStyle/>
          <a:p>
            <a:pPr eaLnBrk="1" hangingPunct="1"/>
            <a:r>
              <a:rPr lang="lv-LV" altLang="lv-LV" sz="4000" dirty="0"/>
              <a:t>Projekts Labirints – 2. uzdevums</a:t>
            </a:r>
            <a:endParaRPr lang="en-US" altLang="lv-LV" sz="4000" dirty="0"/>
          </a:p>
        </p:txBody>
      </p:sp>
      <p:sp>
        <p:nvSpPr>
          <p:cNvPr id="4099" name="Rectangle 3">
            <a:extLst>
              <a:ext uri="{FF2B5EF4-FFF2-40B4-BE49-F238E27FC236}">
                <a16:creationId xmlns:a16="http://schemas.microsoft.com/office/drawing/2014/main" id="{49D6090E-6879-4FC2-99EB-95EDDE23E1E9}"/>
              </a:ext>
            </a:extLst>
          </p:cNvPr>
          <p:cNvSpPr>
            <a:spLocks noGrp="1" noChangeArrowheads="1"/>
          </p:cNvSpPr>
          <p:nvPr>
            <p:ph type="body" idx="1"/>
          </p:nvPr>
        </p:nvSpPr>
        <p:spPr>
          <a:xfrm>
            <a:off x="207963" y="1600200"/>
            <a:ext cx="8396485" cy="4525963"/>
          </a:xfrm>
        </p:spPr>
        <p:txBody>
          <a:bodyPr/>
          <a:lstStyle/>
          <a:p>
            <a:pPr eaLnBrk="1" hangingPunct="1"/>
            <a:r>
              <a:rPr lang="lv-LV" altLang="lv-LV" sz="2000" dirty="0"/>
              <a:t>Papildināt projektu tā, lai nospiežot pogu </a:t>
            </a:r>
            <a:r>
              <a:rPr lang="lv-LV" altLang="lv-LV" sz="2000" i="1" dirty="0"/>
              <a:t>Uzzīmēt labirintu</a:t>
            </a:r>
            <a:r>
              <a:rPr lang="lv-LV" altLang="lv-LV" sz="2000" dirty="0"/>
              <a:t>, dati par labirintu tiktu ne tikai nolasīti un attēloti zīmējumā, bet arī ielasīti piemērotā datu struktūrā (10. slaids)</a:t>
            </a:r>
          </a:p>
          <a:p>
            <a:pPr eaLnBrk="1" hangingPunct="1"/>
            <a:r>
              <a:rPr lang="lv-LV" altLang="lv-LV" sz="2000" dirty="0"/>
              <a:t>Papildināt projektu tā, lai nospiežot pogu </a:t>
            </a:r>
            <a:r>
              <a:rPr lang="lv-LV" altLang="lv-LV" sz="2000" i="1" dirty="0"/>
              <a:t>Uzzīmēt ceļu</a:t>
            </a:r>
            <a:r>
              <a:rPr lang="lv-LV" altLang="lv-LV" sz="2000" dirty="0"/>
              <a:t>, tiktu nolasīti lietotāja ievadītie 2 rūtiņu numuri A un B un pēc tam labirintā atrasts un uzzīmēts ceļš no A uz B rūtiņu:</a:t>
            </a:r>
          </a:p>
          <a:p>
            <a:pPr lvl="1" eaLnBrk="1" hangingPunct="1"/>
            <a:r>
              <a:rPr lang="lv-LV" altLang="lv-LV" sz="1600" dirty="0"/>
              <a:t>Izveidot grafisko lietotāja </a:t>
            </a:r>
            <a:r>
              <a:rPr lang="lv-LV" altLang="lv-LV" sz="1600" dirty="0" err="1"/>
              <a:t>saskarni</a:t>
            </a:r>
            <a:r>
              <a:rPr lang="lv-LV" altLang="lv-LV" sz="1600" dirty="0"/>
              <a:t>, izmantojot </a:t>
            </a:r>
            <a:r>
              <a:rPr lang="lv-LV" altLang="lv-LV" sz="1600" dirty="0" err="1"/>
              <a:t>Spiner</a:t>
            </a:r>
            <a:r>
              <a:rPr lang="lv-LV" altLang="lv-LV" sz="1600" dirty="0"/>
              <a:t> objektus;</a:t>
            </a:r>
          </a:p>
          <a:p>
            <a:pPr lvl="1" eaLnBrk="1" hangingPunct="1"/>
            <a:r>
              <a:rPr lang="lv-LV" altLang="lv-LV" sz="1600" dirty="0"/>
              <a:t>Izveidot funkciju, kas atgriež atrasto ceļu kā steku ar rūtiņu numuriem</a:t>
            </a:r>
          </a:p>
          <a:p>
            <a:pPr marL="0" indent="0" eaLnBrk="1" hangingPunct="1">
              <a:buNone/>
            </a:pPr>
            <a:r>
              <a:rPr lang="lv-LV" altLang="lv-LV" sz="2000" dirty="0" err="1">
                <a:latin typeface="Consolas" panose="020B0609020204030204" pitchFamily="49" charset="0"/>
              </a:rPr>
              <a:t>public</a:t>
            </a:r>
            <a:r>
              <a:rPr lang="lv-LV" altLang="lv-LV" sz="2000" dirty="0">
                <a:latin typeface="Consolas" panose="020B0609020204030204" pitchFamily="49" charset="0"/>
              </a:rPr>
              <a:t> </a:t>
            </a:r>
            <a:r>
              <a:rPr lang="lv-LV" altLang="lv-LV" sz="2000" dirty="0" err="1">
                <a:latin typeface="Consolas" panose="020B0609020204030204" pitchFamily="49" charset="0"/>
              </a:rPr>
              <a:t>Stack</a:t>
            </a:r>
            <a:r>
              <a:rPr lang="lv-LV" altLang="lv-LV" sz="2000" dirty="0">
                <a:latin typeface="Consolas" panose="020B0609020204030204" pitchFamily="49" charset="0"/>
              </a:rPr>
              <a:t>&lt;</a:t>
            </a:r>
            <a:r>
              <a:rPr lang="lv-LV" altLang="lv-LV" sz="2000" dirty="0" err="1">
                <a:latin typeface="Consolas" panose="020B0609020204030204" pitchFamily="49" charset="0"/>
              </a:rPr>
              <a:t>Integer</a:t>
            </a:r>
            <a:r>
              <a:rPr lang="lv-LV" altLang="lv-LV" sz="2000" dirty="0">
                <a:latin typeface="Consolas" panose="020B0609020204030204" pitchFamily="49" charset="0"/>
              </a:rPr>
              <a:t>&gt; </a:t>
            </a:r>
            <a:r>
              <a:rPr lang="lv-LV" altLang="lv-LV" sz="2000" dirty="0" err="1">
                <a:latin typeface="Consolas" panose="020B0609020204030204" pitchFamily="49" charset="0"/>
              </a:rPr>
              <a:t>mekletCelu</a:t>
            </a:r>
            <a:r>
              <a:rPr lang="lv-LV" altLang="lv-LV" sz="2000" dirty="0">
                <a:latin typeface="Consolas" panose="020B0609020204030204" pitchFamily="49" charset="0"/>
              </a:rPr>
              <a:t>(</a:t>
            </a:r>
            <a:r>
              <a:rPr lang="lv-LV" altLang="lv-LV" sz="2000" dirty="0" err="1">
                <a:latin typeface="Consolas" panose="020B0609020204030204" pitchFamily="49" charset="0"/>
              </a:rPr>
              <a:t>int</a:t>
            </a:r>
            <a:r>
              <a:rPr lang="lv-LV" altLang="lv-LV" sz="2000" dirty="0">
                <a:latin typeface="Consolas" panose="020B0609020204030204" pitchFamily="49" charset="0"/>
              </a:rPr>
              <a:t> a, </a:t>
            </a:r>
            <a:r>
              <a:rPr lang="lv-LV" altLang="lv-LV" sz="2000" dirty="0" err="1">
                <a:latin typeface="Consolas" panose="020B0609020204030204" pitchFamily="49" charset="0"/>
              </a:rPr>
              <a:t>int</a:t>
            </a:r>
            <a:r>
              <a:rPr lang="lv-LV" altLang="lv-LV" sz="2000" dirty="0">
                <a:latin typeface="Consolas" panose="020B0609020204030204" pitchFamily="49" charset="0"/>
              </a:rPr>
              <a:t> b)</a:t>
            </a:r>
          </a:p>
          <a:p>
            <a:pPr lvl="1" eaLnBrk="1" hangingPunct="1"/>
            <a:r>
              <a:rPr lang="lv-LV" altLang="lv-LV" sz="1600" dirty="0"/>
              <a:t>Izveidot metodi ceļa zīmēšanai</a:t>
            </a:r>
          </a:p>
          <a:p>
            <a:pPr marL="0" indent="0" eaLnBrk="1" hangingPunct="1">
              <a:buNone/>
            </a:pPr>
            <a:r>
              <a:rPr lang="lv-LV" altLang="lv-LV" sz="2000" dirty="0" err="1">
                <a:latin typeface="Consolas" panose="020B0609020204030204" pitchFamily="49" charset="0"/>
              </a:rPr>
              <a:t>public</a:t>
            </a:r>
            <a:r>
              <a:rPr lang="lv-LV" altLang="lv-LV" sz="2000" dirty="0">
                <a:latin typeface="Consolas" panose="020B0609020204030204" pitchFamily="49" charset="0"/>
              </a:rPr>
              <a:t> </a:t>
            </a:r>
            <a:r>
              <a:rPr lang="lv-LV" altLang="lv-LV" sz="2000" dirty="0" err="1">
                <a:latin typeface="Consolas" panose="020B0609020204030204" pitchFamily="49" charset="0"/>
              </a:rPr>
              <a:t>void</a:t>
            </a:r>
            <a:r>
              <a:rPr lang="lv-LV" altLang="lv-LV" sz="2000" dirty="0">
                <a:latin typeface="Consolas" panose="020B0609020204030204" pitchFamily="49" charset="0"/>
              </a:rPr>
              <a:t> </a:t>
            </a:r>
            <a:r>
              <a:rPr lang="lv-LV" altLang="lv-LV" sz="2000" dirty="0" err="1">
                <a:latin typeface="Consolas" panose="020B0609020204030204" pitchFamily="49" charset="0"/>
              </a:rPr>
              <a:t>zimetCelu</a:t>
            </a:r>
            <a:r>
              <a:rPr lang="lv-LV" altLang="lv-LV" sz="2000" dirty="0">
                <a:latin typeface="Consolas" panose="020B0609020204030204" pitchFamily="49" charset="0"/>
              </a:rPr>
              <a:t>(</a:t>
            </a:r>
            <a:r>
              <a:rPr lang="lv-LV" altLang="lv-LV" sz="2000" dirty="0" err="1">
                <a:latin typeface="Consolas" panose="020B0609020204030204" pitchFamily="49" charset="0"/>
              </a:rPr>
              <a:t>Stack</a:t>
            </a:r>
            <a:r>
              <a:rPr lang="lv-LV" altLang="lv-LV" sz="2000" dirty="0">
                <a:latin typeface="Consolas" panose="020B0609020204030204" pitchFamily="49" charset="0"/>
              </a:rPr>
              <a:t>&lt;</a:t>
            </a:r>
            <a:r>
              <a:rPr lang="lv-LV" altLang="lv-LV" sz="2000" dirty="0" err="1">
                <a:latin typeface="Consolas" panose="020B0609020204030204" pitchFamily="49" charset="0"/>
              </a:rPr>
              <a:t>Integer</a:t>
            </a:r>
            <a:r>
              <a:rPr lang="lv-LV" altLang="lv-LV" sz="2000" dirty="0">
                <a:latin typeface="Consolas" panose="020B0609020204030204" pitchFamily="49" charset="0"/>
              </a:rPr>
              <a:t>&gt; cels)</a:t>
            </a:r>
          </a:p>
          <a:p>
            <a:pPr marL="0" indent="0" eaLnBrk="1" hangingPunct="1">
              <a:buNone/>
            </a:pPr>
            <a:endParaRPr lang="lv-LV" altLang="lv-LV" sz="2000" dirty="0"/>
          </a:p>
          <a:p>
            <a:pPr eaLnBrk="1" hangingPunct="1"/>
            <a:endParaRPr lang="lv-LV" altLang="lv-LV" sz="2000" dirty="0"/>
          </a:p>
        </p:txBody>
      </p:sp>
      <p:pic>
        <p:nvPicPr>
          <p:cNvPr id="4102" name="Picture 6">
            <a:extLst>
              <a:ext uri="{FF2B5EF4-FFF2-40B4-BE49-F238E27FC236}">
                <a16:creationId xmlns:a16="http://schemas.microsoft.com/office/drawing/2014/main" id="{C7094C8E-B7FD-4AA8-8234-26E6B556A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8450" y="4681538"/>
            <a:ext cx="235743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reeform: Shape 2">
            <a:extLst>
              <a:ext uri="{FF2B5EF4-FFF2-40B4-BE49-F238E27FC236}">
                <a16:creationId xmlns:a16="http://schemas.microsoft.com/office/drawing/2014/main" id="{DF4CC24E-FD1E-44D4-8C3B-6DFED361E6AA}"/>
              </a:ext>
            </a:extLst>
          </p:cNvPr>
          <p:cNvSpPr/>
          <p:nvPr/>
        </p:nvSpPr>
        <p:spPr>
          <a:xfrm>
            <a:off x="7126288" y="5287963"/>
            <a:ext cx="330200" cy="320675"/>
          </a:xfrm>
          <a:custGeom>
            <a:avLst/>
            <a:gdLst>
              <a:gd name="connsiteX0" fmla="*/ 0 w 329938"/>
              <a:gd name="connsiteY0" fmla="*/ 0 h 320511"/>
              <a:gd name="connsiteX1" fmla="*/ 0 w 329938"/>
              <a:gd name="connsiteY1" fmla="*/ 235670 h 320511"/>
              <a:gd name="connsiteX2" fmla="*/ 329938 w 329938"/>
              <a:gd name="connsiteY2" fmla="*/ 235670 h 320511"/>
              <a:gd name="connsiteX3" fmla="*/ 311084 w 329938"/>
              <a:gd name="connsiteY3" fmla="*/ 320511 h 320511"/>
              <a:gd name="connsiteX4" fmla="*/ 311084 w 329938"/>
              <a:gd name="connsiteY4" fmla="*/ 320511 h 320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938" h="320511">
                <a:moveTo>
                  <a:pt x="0" y="0"/>
                </a:moveTo>
                <a:lnTo>
                  <a:pt x="0" y="235670"/>
                </a:lnTo>
                <a:lnTo>
                  <a:pt x="329938" y="235670"/>
                </a:lnTo>
                <a:lnTo>
                  <a:pt x="311084" y="320511"/>
                </a:lnTo>
                <a:lnTo>
                  <a:pt x="311084" y="320511"/>
                </a:lnTo>
              </a:path>
            </a:pathLst>
          </a:custGeom>
        </p:spPr>
        <p:style>
          <a:lnRef idx="3">
            <a:schemeClr val="accent6"/>
          </a:lnRef>
          <a:fillRef idx="0">
            <a:schemeClr val="accent6"/>
          </a:fillRef>
          <a:effectRef idx="2">
            <a:schemeClr val="accent6"/>
          </a:effectRef>
          <a:fontRef idx="minor">
            <a:schemeClr val="tx1"/>
          </a:fontRef>
        </p:style>
        <p:txBody>
          <a:bodyPr anchor="ctr"/>
          <a:lstStyle/>
          <a:p>
            <a:pPr algn="ctr" eaLnBrk="1" hangingPunct="1">
              <a:defRPr/>
            </a:pPr>
            <a:endParaRPr lang="lv-LV"/>
          </a:p>
        </p:txBody>
      </p:sp>
    </p:spTree>
    <p:extLst>
      <p:ext uri="{BB962C8B-B14F-4D97-AF65-F5344CB8AC3E}">
        <p14:creationId xmlns:p14="http://schemas.microsoft.com/office/powerpoint/2010/main" val="1031856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F40DE-EE52-489F-9761-AE809D4C6F5A}"/>
              </a:ext>
            </a:extLst>
          </p:cNvPr>
          <p:cNvSpPr>
            <a:spLocks noGrp="1"/>
          </p:cNvSpPr>
          <p:nvPr>
            <p:ph type="title"/>
          </p:nvPr>
        </p:nvSpPr>
        <p:spPr/>
        <p:txBody>
          <a:bodyPr/>
          <a:lstStyle/>
          <a:p>
            <a:r>
              <a:rPr lang="lv-LV" sz="3200" dirty="0"/>
              <a:t>Izejama labirinta ģenerēšana - </a:t>
            </a:r>
            <a:r>
              <a:rPr lang="lv-LV" sz="3200" dirty="0" err="1"/>
              <a:t>Kraskāla</a:t>
            </a:r>
            <a:r>
              <a:rPr lang="lv-LV" sz="3200" dirty="0"/>
              <a:t> algoritms.</a:t>
            </a:r>
            <a:endParaRPr lang="lv-LV" dirty="0"/>
          </a:p>
        </p:txBody>
      </p:sp>
      <p:sp>
        <p:nvSpPr>
          <p:cNvPr id="6" name="Rectangle 5">
            <a:extLst>
              <a:ext uri="{FF2B5EF4-FFF2-40B4-BE49-F238E27FC236}">
                <a16:creationId xmlns:a16="http://schemas.microsoft.com/office/drawing/2014/main" id="{20CF9BCE-853D-4017-AAC7-715CE204E6A4}"/>
              </a:ext>
            </a:extLst>
          </p:cNvPr>
          <p:cNvSpPr/>
          <p:nvPr/>
        </p:nvSpPr>
        <p:spPr>
          <a:xfrm>
            <a:off x="448328" y="1720840"/>
            <a:ext cx="8300136" cy="3816429"/>
          </a:xfrm>
          <a:prstGeom prst="rect">
            <a:avLst/>
          </a:prstGeom>
        </p:spPr>
        <p:txBody>
          <a:bodyPr wrap="square">
            <a:spAutoFit/>
          </a:bodyPr>
          <a:lstStyle/>
          <a:p>
            <a:endParaRPr lang="lv-LV" dirty="0"/>
          </a:p>
          <a:p>
            <a:r>
              <a:rPr lang="lv-LV" sz="2800" dirty="0"/>
              <a:t>Kamēr nav apskatītas visas sienas atkārtot</a:t>
            </a:r>
          </a:p>
          <a:p>
            <a:pPr lvl="1"/>
            <a:r>
              <a:rPr lang="lv-LV" sz="2800" dirty="0"/>
              <a:t>Izvēlas gadījuma sienu, kura vēl nav apskatīta</a:t>
            </a:r>
          </a:p>
          <a:p>
            <a:pPr lvl="1"/>
            <a:r>
              <a:rPr lang="lv-LV" sz="2800" dirty="0"/>
              <a:t>Nosaka rūtiņas </a:t>
            </a:r>
            <a:r>
              <a:rPr lang="lv-LV" sz="2800" b="1" dirty="0"/>
              <a:t>a</a:t>
            </a:r>
            <a:r>
              <a:rPr lang="lv-LV" sz="2800" dirty="0"/>
              <a:t> un </a:t>
            </a:r>
            <a:r>
              <a:rPr lang="lv-LV" sz="2800" b="1" dirty="0"/>
              <a:t>b</a:t>
            </a:r>
            <a:r>
              <a:rPr lang="lv-LV" sz="2800" dirty="0"/>
              <a:t>, kuras atdala siena</a:t>
            </a:r>
          </a:p>
          <a:p>
            <a:pPr lvl="1"/>
            <a:r>
              <a:rPr lang="lv-LV" sz="2800" dirty="0"/>
              <a:t>Ja starp </a:t>
            </a:r>
            <a:r>
              <a:rPr lang="lv-LV" sz="2800" b="1" dirty="0"/>
              <a:t>a</a:t>
            </a:r>
            <a:r>
              <a:rPr lang="lv-LV" sz="2800" dirty="0"/>
              <a:t> un </a:t>
            </a:r>
            <a:r>
              <a:rPr lang="lv-LV" sz="2800" b="1" dirty="0"/>
              <a:t>b</a:t>
            </a:r>
            <a:r>
              <a:rPr lang="lv-LV" sz="2800" dirty="0"/>
              <a:t> nav ceļa, </a:t>
            </a:r>
          </a:p>
          <a:p>
            <a:pPr lvl="2"/>
            <a:r>
              <a:rPr lang="lv-LV" sz="2800" dirty="0"/>
              <a:t>“noārda” šo sienu</a:t>
            </a:r>
          </a:p>
          <a:p>
            <a:pPr lvl="2"/>
            <a:r>
              <a:rPr lang="lv-LV" sz="2800" dirty="0"/>
              <a:t>saglabā informāciju, ka var nokļūt no </a:t>
            </a:r>
            <a:r>
              <a:rPr lang="lv-LV" sz="2800" b="1" dirty="0"/>
              <a:t>a</a:t>
            </a:r>
            <a:r>
              <a:rPr lang="lv-LV" sz="2800" dirty="0"/>
              <a:t> uz </a:t>
            </a:r>
            <a:r>
              <a:rPr lang="lv-LV" sz="2800" b="1" dirty="0"/>
              <a:t>b</a:t>
            </a:r>
            <a:r>
              <a:rPr lang="lv-LV" sz="2800" dirty="0"/>
              <a:t> un no </a:t>
            </a:r>
            <a:r>
              <a:rPr lang="lv-LV" sz="2800" b="1" dirty="0"/>
              <a:t>b </a:t>
            </a:r>
            <a:r>
              <a:rPr lang="lv-LV" sz="2800" dirty="0"/>
              <a:t>uz </a:t>
            </a:r>
            <a:r>
              <a:rPr lang="lv-LV" sz="2800" b="1" dirty="0"/>
              <a:t>a</a:t>
            </a:r>
            <a:r>
              <a:rPr lang="lv-LV" sz="2800" dirty="0"/>
              <a:t> </a:t>
            </a:r>
          </a:p>
          <a:p>
            <a:r>
              <a:rPr lang="lv-LV" sz="2800" dirty="0"/>
              <a:t>Viss</a:t>
            </a:r>
          </a:p>
        </p:txBody>
      </p:sp>
    </p:spTree>
    <p:extLst>
      <p:ext uri="{BB962C8B-B14F-4D97-AF65-F5344CB8AC3E}">
        <p14:creationId xmlns:p14="http://schemas.microsoft.com/office/powerpoint/2010/main" val="915278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FCD8D-4A97-4263-9236-76B1277034DB}"/>
              </a:ext>
            </a:extLst>
          </p:cNvPr>
          <p:cNvSpPr>
            <a:spLocks noGrp="1"/>
          </p:cNvSpPr>
          <p:nvPr>
            <p:ph type="title"/>
          </p:nvPr>
        </p:nvSpPr>
        <p:spPr>
          <a:xfrm>
            <a:off x="246484" y="62153"/>
            <a:ext cx="8229600" cy="1143000"/>
          </a:xfrm>
        </p:spPr>
        <p:txBody>
          <a:bodyPr/>
          <a:lstStyle/>
          <a:p>
            <a:r>
              <a:rPr lang="lv-LV" altLang="lv-LV" dirty="0">
                <a:solidFill>
                  <a:schemeClr val="tx1"/>
                </a:solidFill>
                <a:latin typeface="Tahoma" panose="020B0604030504040204" pitchFamily="34" charset="0"/>
                <a:ea typeface="Times New Roman" panose="02020603050405020304" pitchFamily="18" charset="0"/>
                <a:cs typeface="Tahoma" panose="020B0604030504040204" pitchFamily="34" charset="0"/>
              </a:rPr>
              <a:t>Kā izvēlēties gadījuma sienu</a:t>
            </a:r>
            <a:endParaRPr lang="lv-LV" dirty="0"/>
          </a:p>
        </p:txBody>
      </p:sp>
      <p:graphicFrame>
        <p:nvGraphicFramePr>
          <p:cNvPr id="4" name="Content Placeholder 3">
            <a:extLst>
              <a:ext uri="{FF2B5EF4-FFF2-40B4-BE49-F238E27FC236}">
                <a16:creationId xmlns:a16="http://schemas.microsoft.com/office/drawing/2014/main" id="{4017C227-D902-46A8-9060-D7078623C517}"/>
              </a:ext>
            </a:extLst>
          </p:cNvPr>
          <p:cNvGraphicFramePr>
            <a:graphicFrameLocks noGrp="1"/>
          </p:cNvGraphicFramePr>
          <p:nvPr>
            <p:ph idx="1"/>
            <p:extLst>
              <p:ext uri="{D42A27DB-BD31-4B8C-83A1-F6EECF244321}">
                <p14:modId xmlns:p14="http://schemas.microsoft.com/office/powerpoint/2010/main" val="2177872533"/>
              </p:ext>
            </p:extLst>
          </p:nvPr>
        </p:nvGraphicFramePr>
        <p:xfrm>
          <a:off x="2176878" y="3516486"/>
          <a:ext cx="4495800" cy="1155715"/>
        </p:xfrm>
        <a:graphic>
          <a:graphicData uri="http://schemas.openxmlformats.org/drawingml/2006/table">
            <a:tbl>
              <a:tblPr>
                <a:tableStyleId>{5C22544A-7EE6-4342-B048-85BDC9FD1C3A}</a:tableStyleId>
              </a:tblPr>
              <a:tblGrid>
                <a:gridCol w="899160">
                  <a:extLst>
                    <a:ext uri="{9D8B030D-6E8A-4147-A177-3AD203B41FA5}">
                      <a16:colId xmlns:a16="http://schemas.microsoft.com/office/drawing/2014/main" val="3287159066"/>
                    </a:ext>
                  </a:extLst>
                </a:gridCol>
                <a:gridCol w="899160">
                  <a:extLst>
                    <a:ext uri="{9D8B030D-6E8A-4147-A177-3AD203B41FA5}">
                      <a16:colId xmlns:a16="http://schemas.microsoft.com/office/drawing/2014/main" val="1968012962"/>
                    </a:ext>
                  </a:extLst>
                </a:gridCol>
                <a:gridCol w="899160">
                  <a:extLst>
                    <a:ext uri="{9D8B030D-6E8A-4147-A177-3AD203B41FA5}">
                      <a16:colId xmlns:a16="http://schemas.microsoft.com/office/drawing/2014/main" val="346224280"/>
                    </a:ext>
                  </a:extLst>
                </a:gridCol>
                <a:gridCol w="899160">
                  <a:extLst>
                    <a:ext uri="{9D8B030D-6E8A-4147-A177-3AD203B41FA5}">
                      <a16:colId xmlns:a16="http://schemas.microsoft.com/office/drawing/2014/main" val="977567503"/>
                    </a:ext>
                  </a:extLst>
                </a:gridCol>
                <a:gridCol w="899160">
                  <a:extLst>
                    <a:ext uri="{9D8B030D-6E8A-4147-A177-3AD203B41FA5}">
                      <a16:colId xmlns:a16="http://schemas.microsoft.com/office/drawing/2014/main" val="536794075"/>
                    </a:ext>
                  </a:extLst>
                </a:gridCol>
              </a:tblGrid>
              <a:tr h="0">
                <a:tc>
                  <a:txBody>
                    <a:bodyPr/>
                    <a:lstStyle/>
                    <a:p>
                      <a:pPr>
                        <a:spcAft>
                          <a:spcPts val="0"/>
                        </a:spcAft>
                      </a:pPr>
                      <a:r>
                        <a:rPr lang="lv-LV" sz="1200">
                          <a:effectLst/>
                        </a:rPr>
                        <a:t>siena</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randoms</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 </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siena</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randoms</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24825021"/>
                  </a:ext>
                </a:extLst>
              </a:tr>
              <a:tr h="0">
                <a:tc>
                  <a:txBody>
                    <a:bodyPr/>
                    <a:lstStyle/>
                    <a:p>
                      <a:pPr>
                        <a:spcAft>
                          <a:spcPts val="0"/>
                        </a:spcAft>
                      </a:pPr>
                      <a:r>
                        <a:rPr lang="lv-LV" sz="1200">
                          <a:effectLst/>
                        </a:rPr>
                        <a:t>1,2</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14</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 </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2, m+2</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5</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33535323"/>
                  </a:ext>
                </a:extLst>
              </a:tr>
              <a:tr h="0">
                <a:tc>
                  <a:txBody>
                    <a:bodyPr/>
                    <a:lstStyle/>
                    <a:p>
                      <a:pPr>
                        <a:spcAft>
                          <a:spcPts val="0"/>
                        </a:spcAft>
                      </a:pPr>
                      <a:br>
                        <a:rPr lang="lv-LV" sz="1200">
                          <a:effectLst/>
                        </a:rPr>
                      </a:br>
                      <a:r>
                        <a:rPr lang="lv-LV" sz="1200">
                          <a:effectLst/>
                        </a:rPr>
                        <a:t>1,m+1</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5</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dirty="0">
                          <a:effectLst/>
                        </a:rPr>
                        <a:t> </a:t>
                      </a:r>
                      <a:endParaRPr lang="lv-LV" sz="1200" dirty="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1,m+1</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5</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6566714"/>
                  </a:ext>
                </a:extLst>
              </a:tr>
              <a:tr h="0">
                <a:tc>
                  <a:txBody>
                    <a:bodyPr/>
                    <a:lstStyle/>
                    <a:p>
                      <a:pPr>
                        <a:spcAft>
                          <a:spcPts val="0"/>
                        </a:spcAft>
                      </a:pPr>
                      <a:r>
                        <a:rPr lang="lv-LV" sz="1200">
                          <a:effectLst/>
                        </a:rPr>
                        <a:t>2,3</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7</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 </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2,3</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7</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42549392"/>
                  </a:ext>
                </a:extLst>
              </a:tr>
              <a:tr h="241315">
                <a:tc>
                  <a:txBody>
                    <a:bodyPr/>
                    <a:lstStyle/>
                    <a:p>
                      <a:pPr>
                        <a:spcAft>
                          <a:spcPts val="0"/>
                        </a:spcAft>
                      </a:pPr>
                      <a:r>
                        <a:rPr lang="lv-LV" sz="1200">
                          <a:effectLst/>
                        </a:rPr>
                        <a:t>2, m+2</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5</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 </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a:effectLst/>
                        </a:rPr>
                        <a:t>1,2 </a:t>
                      </a:r>
                      <a:endParaRPr lang="lv-LV" sz="120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lv-LV" sz="1200" dirty="0">
                          <a:effectLst/>
                        </a:rPr>
                        <a:t>14</a:t>
                      </a:r>
                      <a:endParaRPr lang="lv-LV" sz="1200" dirty="0">
                        <a:effectLst/>
                        <a:latin typeface="Tahom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7888997"/>
                  </a:ext>
                </a:extLst>
              </a:tr>
            </a:tbl>
          </a:graphicData>
        </a:graphic>
      </p:graphicFrame>
      <p:sp>
        <p:nvSpPr>
          <p:cNvPr id="5" name="Rectangle 2">
            <a:extLst>
              <a:ext uri="{FF2B5EF4-FFF2-40B4-BE49-F238E27FC236}">
                <a16:creationId xmlns:a16="http://schemas.microsoft.com/office/drawing/2014/main" id="{C0A3EDB6-E300-4A60-B33B-E24EA26B2EB9}"/>
              </a:ext>
            </a:extLst>
          </p:cNvPr>
          <p:cNvSpPr>
            <a:spLocks noChangeArrowheads="1"/>
          </p:cNvSpPr>
          <p:nvPr/>
        </p:nvSpPr>
        <p:spPr bwMode="auto">
          <a:xfrm rot="10800000" flipV="1">
            <a:off x="152900" y="1436111"/>
            <a:ext cx="8718004"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lv-LV" altLang="lv-LV" sz="1600" dirty="0">
                <a:latin typeface="Tahoma" panose="020B0604030504040204" pitchFamily="34" charset="0"/>
                <a:ea typeface="Times New Roman" panose="02020603050405020304" pitchFamily="18" charset="0"/>
                <a:cs typeface="Tahoma" panose="020B0604030504040204" pitchFamily="34" charset="0"/>
              </a:rPr>
              <a:t>J</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ānodro</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š</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ina, lai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random</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process neizvēlētos tādu sienu, kas jau ir apskatīta. Var izmantot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boolean</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masīvu un katrreiz pārbaudīt, kamēr trāpās neapskatīta siena. Tas būs lēni.</a:t>
            </a:r>
          </a:p>
          <a:p>
            <a:pPr marR="0" lvl="0" algn="l" defTabSz="914400" rtl="0" eaLnBrk="0" fontAlgn="base" latinLnBrk="0" hangingPunct="0">
              <a:lnSpc>
                <a:spcPct val="100000"/>
              </a:lnSpc>
              <a:spcBef>
                <a:spcPct val="0"/>
              </a:spcBef>
              <a:spcAft>
                <a:spcPct val="0"/>
              </a:spcAft>
              <a:buClrTx/>
              <a:buSzTx/>
              <a:tabLst/>
            </a:pP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Cits risinājums - izveidot un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random</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secībā sakārtot sienu masīvu:</a:t>
            </a:r>
          </a:p>
          <a:p>
            <a:pPr marL="342900" indent="-342900">
              <a:buFont typeface="+mj-lt"/>
              <a:buAutoNum type="arabicParenR"/>
            </a:pPr>
            <a:r>
              <a:rPr lang="lv-LV" altLang="lv-LV" sz="1600" dirty="0">
                <a:latin typeface="Tahoma" panose="020B0604030504040204" pitchFamily="34" charset="0"/>
                <a:ea typeface="Times New Roman" panose="02020603050405020304" pitchFamily="18" charset="0"/>
                <a:cs typeface="Tahoma" panose="020B0604030504040204" pitchFamily="34" charset="0"/>
              </a:rPr>
              <a:t>i</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zveido objektu </a:t>
            </a:r>
            <a:r>
              <a:rPr kumimoji="0" lang="lv-LV" altLang="lv-LV" sz="1600" b="1"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Siena</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ar blakus rūtiņu numuriem un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random</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skaitli. Katrai rūtiņai piekārto tikai 2 sienas - apak</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š</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ējo un labo. Pēdējās rindas un kolonnas rūtiņu sienas līdz ar to nav jāapskata. </a:t>
            </a:r>
          </a:p>
          <a:p>
            <a:pPr marL="342900" indent="-342900">
              <a:buFont typeface="+mj-lt"/>
              <a:buAutoNum type="arabicParenR"/>
            </a:pP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Visas apskatāmās sienas saraksta masīvā. Pēc tam masīvu sakārto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Random</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skaitļu pieaug</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š</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anas secībā un pēc kārtas apskata visas labirinta sienas:</a:t>
            </a:r>
            <a:endParaRPr kumimoji="0" lang="lv-LV" altLang="lv-LV" sz="1800" b="0" i="0" u="none" strike="noStrike" cap="none" normalizeH="0" baseline="0" dirty="0">
              <a:ln>
                <a:noFill/>
              </a:ln>
              <a:solidFill>
                <a:schemeClr val="tx1"/>
              </a:solidFill>
              <a:effectLst/>
              <a:latin typeface="Arial" panose="020B0604020202020204" pitchFamily="34" charset="0"/>
            </a:endParaRPr>
          </a:p>
        </p:txBody>
      </p:sp>
      <p:sp>
        <p:nvSpPr>
          <p:cNvPr id="6" name="Line 1">
            <a:extLst>
              <a:ext uri="{FF2B5EF4-FFF2-40B4-BE49-F238E27FC236}">
                <a16:creationId xmlns:a16="http://schemas.microsoft.com/office/drawing/2014/main" id="{548C16B4-DDD6-4DC3-955A-58FD85EED911}"/>
              </a:ext>
            </a:extLst>
          </p:cNvPr>
          <p:cNvSpPr>
            <a:spLocks noChangeShapeType="1"/>
          </p:cNvSpPr>
          <p:nvPr/>
        </p:nvSpPr>
        <p:spPr bwMode="auto">
          <a:xfrm>
            <a:off x="3997876" y="3861048"/>
            <a:ext cx="6397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v-LV"/>
          </a:p>
        </p:txBody>
      </p:sp>
      <p:sp>
        <p:nvSpPr>
          <p:cNvPr id="7" name="Rectangle 3">
            <a:extLst>
              <a:ext uri="{FF2B5EF4-FFF2-40B4-BE49-F238E27FC236}">
                <a16:creationId xmlns:a16="http://schemas.microsoft.com/office/drawing/2014/main" id="{00E90C93-7902-447A-BF83-972B067C421E}"/>
              </a:ext>
            </a:extLst>
          </p:cNvPr>
          <p:cNvSpPr>
            <a:spLocks noChangeArrowheads="1"/>
          </p:cNvSpPr>
          <p:nvPr/>
        </p:nvSpPr>
        <p:spPr bwMode="auto">
          <a:xfrm>
            <a:off x="269690" y="4672201"/>
            <a:ext cx="8463672"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Lai to realizētu Javā, var izveidot </a:t>
            </a:r>
            <a:r>
              <a:rPr kumimoji="0" lang="lv-LV" altLang="lv-LV" sz="1600" b="0" i="1"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comparable</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klasi </a:t>
            </a:r>
            <a:r>
              <a:rPr kumimoji="0" lang="lv-LV" altLang="lv-LV" sz="1600" b="0" i="1"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Siena</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ar trim laukiem (nr1, nr2,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random</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un masīvu no objektiem </a:t>
            </a:r>
            <a:r>
              <a:rPr kumimoji="0" lang="lv-LV" altLang="lv-LV" sz="1600" b="0" i="1"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Siena</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Tad masīvu sakārto, izmantojot </a:t>
            </a:r>
            <a:r>
              <a:rPr kumimoji="0" lang="lv-LV" altLang="lv-LV" sz="1600" b="0" i="0" u="none" strike="noStrike" cap="none" normalizeH="0" baseline="0" dirty="0" err="1">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Arrays.sort</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un pēc kārtas apskata visas sienas kā teikts algoritmā.</a:t>
            </a:r>
            <a:endParaRPr kumimoji="0" lang="lv-LV" altLang="lv-LV"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b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Lai veidotos dati par labirintu, jāuzmanto tāda pati datu struktūra kā iepriek</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š</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ējos uzdevumos </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 sākotnēji tuk</a:t>
            </a:r>
            <a:r>
              <a:rPr kumimoji="0" lang="lv-LV" altLang="lv-LV"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Tahoma" panose="020B0604030504040204" pitchFamily="34" charset="0"/>
              </a:rPr>
              <a:t>š</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s </a:t>
            </a:r>
            <a:r>
              <a:rPr kumimoji="0" lang="lv-LV" altLang="lv-LV" sz="1600" b="0" i="0" u="none" strike="noStrike" cap="none" normalizeH="0" baseline="0" dirty="0" err="1">
                <a:ln>
                  <a:noFill/>
                </a:ln>
                <a:solidFill>
                  <a:schemeClr val="tx1"/>
                </a:solidFill>
                <a:effectLst/>
                <a:latin typeface="Consolas" panose="020B0609020204030204" pitchFamily="49" charset="0"/>
                <a:ea typeface="Times New Roman" panose="02020603050405020304" pitchFamily="18" charset="0"/>
                <a:cs typeface="Tahoma" panose="020B0604030504040204" pitchFamily="34" charset="0"/>
              </a:rPr>
              <a:t>ArrayList</a:t>
            </a:r>
            <a:r>
              <a:rPr kumimoji="0" lang="lv-LV" altLang="lv-LV" sz="1600" b="0" i="0" u="none" strike="noStrike" cap="none" normalizeH="0" baseline="0" dirty="0">
                <a:ln>
                  <a:noFill/>
                </a:ln>
                <a:solidFill>
                  <a:schemeClr val="tx1"/>
                </a:solidFill>
                <a:effectLst/>
                <a:latin typeface="Consolas" panose="020B0609020204030204" pitchFamily="49" charset="0"/>
                <a:ea typeface="Times New Roman" panose="02020603050405020304" pitchFamily="18" charset="0"/>
                <a:cs typeface="Tahoma" panose="020B0604030504040204" pitchFamily="34" charset="0"/>
              </a:rPr>
              <a:t>&lt;</a:t>
            </a:r>
            <a:r>
              <a:rPr kumimoji="0" lang="lv-LV" altLang="lv-LV" sz="1600" b="0" i="0" u="none" strike="noStrike" cap="none" normalizeH="0" baseline="0" dirty="0" err="1">
                <a:ln>
                  <a:noFill/>
                </a:ln>
                <a:solidFill>
                  <a:schemeClr val="tx1"/>
                </a:solidFill>
                <a:effectLst/>
                <a:latin typeface="Consolas" panose="020B0609020204030204" pitchFamily="49" charset="0"/>
                <a:ea typeface="Times New Roman" panose="02020603050405020304" pitchFamily="18" charset="0"/>
                <a:cs typeface="Tahoma" panose="020B0604030504040204" pitchFamily="34" charset="0"/>
              </a:rPr>
              <a:t>Integer</a:t>
            </a:r>
            <a:r>
              <a:rPr kumimoji="0" lang="lv-LV" altLang="lv-LV" sz="1600" b="0" i="0" u="none" strike="noStrike" cap="none" normalizeH="0" baseline="0" dirty="0">
                <a:ln>
                  <a:noFill/>
                </a:ln>
                <a:solidFill>
                  <a:schemeClr val="tx1"/>
                </a:solidFill>
                <a:effectLst/>
                <a:latin typeface="Consolas" panose="020B0609020204030204" pitchFamily="49" charset="0"/>
                <a:ea typeface="Times New Roman" panose="02020603050405020304" pitchFamily="18" charset="0"/>
                <a:cs typeface="Tahoma" panose="020B0604030504040204" pitchFamily="34" charset="0"/>
              </a:rPr>
              <a:t>&gt;[] labirints2</a:t>
            </a: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a:t>
            </a:r>
            <a:endParaRPr kumimoji="0" lang="lv-LV" altLang="lv-LV"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lv-LV" altLang="lv-LV" sz="16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ahoma" panose="020B0604030504040204" pitchFamily="34" charset="0"/>
              </a:rPr>
              <a:t>Katru reizi, kad tiek nojaukta siena, labirints2 jāpapildina ar datiem. Beigās tos var ierakstīt failā.</a:t>
            </a:r>
            <a:endParaRPr kumimoji="0" lang="lv-LV" altLang="lv-LV"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8129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1383D89-4418-4B1F-B5B6-BDE2DCF62833}"/>
              </a:ext>
            </a:extLst>
          </p:cNvPr>
          <p:cNvSpPr>
            <a:spLocks noGrp="1" noChangeArrowheads="1"/>
          </p:cNvSpPr>
          <p:nvPr>
            <p:ph type="title"/>
          </p:nvPr>
        </p:nvSpPr>
        <p:spPr>
          <a:xfrm>
            <a:off x="250825" y="188913"/>
            <a:ext cx="8651875" cy="1143000"/>
          </a:xfrm>
        </p:spPr>
        <p:txBody>
          <a:bodyPr/>
          <a:lstStyle/>
          <a:p>
            <a:pPr eaLnBrk="1" hangingPunct="1"/>
            <a:r>
              <a:rPr lang="lv-LV" altLang="lv-LV"/>
              <a:t>Īsākā ceļa atrašana svērtā grafā</a:t>
            </a:r>
            <a:r>
              <a:rPr lang="lv-LV" altLang="lv-LV" baseline="-25000"/>
              <a:t> </a:t>
            </a:r>
            <a:endParaRPr lang="en-US" altLang="lv-LV"/>
          </a:p>
        </p:txBody>
      </p:sp>
      <p:sp>
        <p:nvSpPr>
          <p:cNvPr id="19459" name="Rectangle 3">
            <a:extLst>
              <a:ext uri="{FF2B5EF4-FFF2-40B4-BE49-F238E27FC236}">
                <a16:creationId xmlns:a16="http://schemas.microsoft.com/office/drawing/2014/main" id="{7AC9FCCD-30D3-480D-AB72-8F5DD346ACC8}"/>
              </a:ext>
            </a:extLst>
          </p:cNvPr>
          <p:cNvSpPr>
            <a:spLocks noGrp="1" noChangeArrowheads="1"/>
          </p:cNvSpPr>
          <p:nvPr>
            <p:ph type="body" idx="1"/>
          </p:nvPr>
        </p:nvSpPr>
        <p:spPr>
          <a:xfrm>
            <a:off x="457200" y="1600200"/>
            <a:ext cx="3683000" cy="3197225"/>
          </a:xfrm>
        </p:spPr>
        <p:txBody>
          <a:bodyPr/>
          <a:lstStyle/>
          <a:p>
            <a:pPr eaLnBrk="1" hangingPunct="1">
              <a:lnSpc>
                <a:spcPct val="90000"/>
              </a:lnSpc>
            </a:pPr>
            <a:r>
              <a:rPr lang="lv-LV" altLang="lv-LV" sz="2800"/>
              <a:t>Dots svērts grafs</a:t>
            </a:r>
          </a:p>
          <a:p>
            <a:pPr eaLnBrk="1" hangingPunct="1">
              <a:lnSpc>
                <a:spcPct val="90000"/>
              </a:lnSpc>
            </a:pPr>
            <a:r>
              <a:rPr lang="lv-LV" altLang="lv-LV" sz="2800"/>
              <a:t>A[u,v] – šķautņu svaru matrica</a:t>
            </a:r>
          </a:p>
          <a:p>
            <a:pPr eaLnBrk="1" hangingPunct="1">
              <a:lnSpc>
                <a:spcPct val="90000"/>
              </a:lnSpc>
            </a:pPr>
            <a:r>
              <a:rPr lang="lv-LV" altLang="lv-LV" sz="2800"/>
              <a:t>D[1] – īsākie attālumi no 1. līdz visām pārējām virsotnēm</a:t>
            </a:r>
            <a:endParaRPr lang="en-US" altLang="lv-LV" sz="2800"/>
          </a:p>
        </p:txBody>
      </p:sp>
      <p:grpSp>
        <p:nvGrpSpPr>
          <p:cNvPr id="19460" name="Group 52">
            <a:extLst>
              <a:ext uri="{FF2B5EF4-FFF2-40B4-BE49-F238E27FC236}">
                <a16:creationId xmlns:a16="http://schemas.microsoft.com/office/drawing/2014/main" id="{050BEB04-D4B2-4D59-BBDD-A25C345D72AB}"/>
              </a:ext>
            </a:extLst>
          </p:cNvPr>
          <p:cNvGrpSpPr>
            <a:grpSpLocks/>
          </p:cNvGrpSpPr>
          <p:nvPr/>
        </p:nvGrpSpPr>
        <p:grpSpPr bwMode="auto">
          <a:xfrm>
            <a:off x="5940425" y="1484313"/>
            <a:ext cx="2665413" cy="1714500"/>
            <a:chOff x="3742" y="935"/>
            <a:chExt cx="1679" cy="1080"/>
          </a:xfrm>
        </p:grpSpPr>
        <p:sp>
          <p:nvSpPr>
            <p:cNvPr id="19463" name="Text Box 5">
              <a:extLst>
                <a:ext uri="{FF2B5EF4-FFF2-40B4-BE49-F238E27FC236}">
                  <a16:creationId xmlns:a16="http://schemas.microsoft.com/office/drawing/2014/main" id="{76B2B82F-8C6F-4D9D-ADB7-3D2291BD8B02}"/>
                </a:ext>
              </a:extLst>
            </p:cNvPr>
            <p:cNvSpPr txBox="1">
              <a:spLocks noChangeArrowheads="1"/>
            </p:cNvSpPr>
            <p:nvPr/>
          </p:nvSpPr>
          <p:spPr bwMode="auto">
            <a:xfrm>
              <a:off x="4195" y="138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8</a:t>
              </a:r>
              <a:endParaRPr lang="en-US" altLang="lv-LV" sz="1200"/>
            </a:p>
          </p:txBody>
        </p:sp>
        <p:sp>
          <p:nvSpPr>
            <p:cNvPr id="19464" name="Text Box 6">
              <a:extLst>
                <a:ext uri="{FF2B5EF4-FFF2-40B4-BE49-F238E27FC236}">
                  <a16:creationId xmlns:a16="http://schemas.microsoft.com/office/drawing/2014/main" id="{EF309146-93CE-45F7-9A5B-A4BC6F26BC3E}"/>
                </a:ext>
              </a:extLst>
            </p:cNvPr>
            <p:cNvSpPr txBox="1">
              <a:spLocks noChangeArrowheads="1"/>
            </p:cNvSpPr>
            <p:nvPr/>
          </p:nvSpPr>
          <p:spPr bwMode="auto">
            <a:xfrm>
              <a:off x="4876" y="138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2</a:t>
              </a:r>
              <a:endParaRPr lang="en-US" altLang="lv-LV" sz="1200"/>
            </a:p>
          </p:txBody>
        </p:sp>
        <p:sp>
          <p:nvSpPr>
            <p:cNvPr id="19465" name="Oval 13">
              <a:extLst>
                <a:ext uri="{FF2B5EF4-FFF2-40B4-BE49-F238E27FC236}">
                  <a16:creationId xmlns:a16="http://schemas.microsoft.com/office/drawing/2014/main" id="{697EB463-0E6A-4674-8D5E-762040EDB69F}"/>
                </a:ext>
              </a:extLst>
            </p:cNvPr>
            <p:cNvSpPr>
              <a:spLocks noChangeArrowheads="1"/>
            </p:cNvSpPr>
            <p:nvPr/>
          </p:nvSpPr>
          <p:spPr bwMode="auto">
            <a:xfrm>
              <a:off x="5012" y="1752"/>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19466" name="Oval 14">
              <a:extLst>
                <a:ext uri="{FF2B5EF4-FFF2-40B4-BE49-F238E27FC236}">
                  <a16:creationId xmlns:a16="http://schemas.microsoft.com/office/drawing/2014/main" id="{36B204E3-2820-4BDD-A4BE-EC687FF094DE}"/>
                </a:ext>
              </a:extLst>
            </p:cNvPr>
            <p:cNvSpPr>
              <a:spLocks noChangeArrowheads="1"/>
            </p:cNvSpPr>
            <p:nvPr/>
          </p:nvSpPr>
          <p:spPr bwMode="auto">
            <a:xfrm>
              <a:off x="4921" y="1071"/>
              <a:ext cx="45"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19467" name="Oval 15">
              <a:extLst>
                <a:ext uri="{FF2B5EF4-FFF2-40B4-BE49-F238E27FC236}">
                  <a16:creationId xmlns:a16="http://schemas.microsoft.com/office/drawing/2014/main" id="{1AD834C6-67E1-431D-9B95-50852F0D44BE}"/>
                </a:ext>
              </a:extLst>
            </p:cNvPr>
            <p:cNvSpPr>
              <a:spLocks noChangeArrowheads="1"/>
            </p:cNvSpPr>
            <p:nvPr/>
          </p:nvSpPr>
          <p:spPr bwMode="auto">
            <a:xfrm>
              <a:off x="4332" y="1797"/>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19468" name="Oval 16">
              <a:extLst>
                <a:ext uri="{FF2B5EF4-FFF2-40B4-BE49-F238E27FC236}">
                  <a16:creationId xmlns:a16="http://schemas.microsoft.com/office/drawing/2014/main" id="{58A794C6-15EE-419B-AC12-397DFF31C68D}"/>
                </a:ext>
              </a:extLst>
            </p:cNvPr>
            <p:cNvSpPr>
              <a:spLocks noChangeArrowheads="1"/>
            </p:cNvSpPr>
            <p:nvPr/>
          </p:nvSpPr>
          <p:spPr bwMode="auto">
            <a:xfrm>
              <a:off x="4286" y="1071"/>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19469" name="Oval 17">
              <a:extLst>
                <a:ext uri="{FF2B5EF4-FFF2-40B4-BE49-F238E27FC236}">
                  <a16:creationId xmlns:a16="http://schemas.microsoft.com/office/drawing/2014/main" id="{1E5D4566-D987-4003-83B1-E153884C964A}"/>
                </a:ext>
              </a:extLst>
            </p:cNvPr>
            <p:cNvSpPr>
              <a:spLocks noChangeArrowheads="1"/>
            </p:cNvSpPr>
            <p:nvPr/>
          </p:nvSpPr>
          <p:spPr bwMode="auto">
            <a:xfrm>
              <a:off x="3878" y="1389"/>
              <a:ext cx="46" cy="4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lv-LV" altLang="lv-LV" sz="1800"/>
            </a:p>
          </p:txBody>
        </p:sp>
        <p:sp>
          <p:nvSpPr>
            <p:cNvPr id="19470" name="Text Box 18">
              <a:extLst>
                <a:ext uri="{FF2B5EF4-FFF2-40B4-BE49-F238E27FC236}">
                  <a16:creationId xmlns:a16="http://schemas.microsoft.com/office/drawing/2014/main" id="{3054CCEE-C118-4213-B118-0CB3D0955590}"/>
                </a:ext>
              </a:extLst>
            </p:cNvPr>
            <p:cNvSpPr txBox="1">
              <a:spLocks noChangeArrowheads="1"/>
            </p:cNvSpPr>
            <p:nvPr/>
          </p:nvSpPr>
          <p:spPr bwMode="auto">
            <a:xfrm>
              <a:off x="3923" y="1117"/>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1</a:t>
              </a:r>
              <a:endParaRPr lang="en-US" altLang="lv-LV" sz="1200"/>
            </a:p>
          </p:txBody>
        </p:sp>
        <p:sp>
          <p:nvSpPr>
            <p:cNvPr id="19471" name="Text Box 19">
              <a:extLst>
                <a:ext uri="{FF2B5EF4-FFF2-40B4-BE49-F238E27FC236}">
                  <a16:creationId xmlns:a16="http://schemas.microsoft.com/office/drawing/2014/main" id="{DE53E18B-F77D-4C13-8288-814191D454F1}"/>
                </a:ext>
              </a:extLst>
            </p:cNvPr>
            <p:cNvSpPr txBox="1">
              <a:spLocks noChangeArrowheads="1"/>
            </p:cNvSpPr>
            <p:nvPr/>
          </p:nvSpPr>
          <p:spPr bwMode="auto">
            <a:xfrm>
              <a:off x="4014" y="1616"/>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3</a:t>
              </a:r>
              <a:endParaRPr lang="en-US" altLang="lv-LV" sz="1200"/>
            </a:p>
          </p:txBody>
        </p:sp>
        <p:grpSp>
          <p:nvGrpSpPr>
            <p:cNvPr id="19472" name="Group 21">
              <a:extLst>
                <a:ext uri="{FF2B5EF4-FFF2-40B4-BE49-F238E27FC236}">
                  <a16:creationId xmlns:a16="http://schemas.microsoft.com/office/drawing/2014/main" id="{153B1691-54C9-4EF2-B798-DB70A0A2D7F9}"/>
                </a:ext>
              </a:extLst>
            </p:cNvPr>
            <p:cNvGrpSpPr>
              <a:grpSpLocks/>
            </p:cNvGrpSpPr>
            <p:nvPr/>
          </p:nvGrpSpPr>
          <p:grpSpPr bwMode="auto">
            <a:xfrm>
              <a:off x="3923" y="1434"/>
              <a:ext cx="409" cy="408"/>
              <a:chOff x="3923" y="1434"/>
              <a:chExt cx="409" cy="408"/>
            </a:xfrm>
          </p:grpSpPr>
          <p:sp>
            <p:nvSpPr>
              <p:cNvPr id="19503" name="Line 9">
                <a:extLst>
                  <a:ext uri="{FF2B5EF4-FFF2-40B4-BE49-F238E27FC236}">
                    <a16:creationId xmlns:a16="http://schemas.microsoft.com/office/drawing/2014/main" id="{25E735B9-8259-445D-B661-7074CBDA392F}"/>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504" name="Line 20">
                <a:extLst>
                  <a:ext uri="{FF2B5EF4-FFF2-40B4-BE49-F238E27FC236}">
                    <a16:creationId xmlns:a16="http://schemas.microsoft.com/office/drawing/2014/main" id="{EC64E550-7401-4AE1-8310-06D99B2CD49C}"/>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3" name="Group 22">
              <a:extLst>
                <a:ext uri="{FF2B5EF4-FFF2-40B4-BE49-F238E27FC236}">
                  <a16:creationId xmlns:a16="http://schemas.microsoft.com/office/drawing/2014/main" id="{EC40FC93-30AF-465F-8217-26EFC6C1C5E1}"/>
                </a:ext>
              </a:extLst>
            </p:cNvPr>
            <p:cNvGrpSpPr>
              <a:grpSpLocks/>
            </p:cNvGrpSpPr>
            <p:nvPr/>
          </p:nvGrpSpPr>
          <p:grpSpPr bwMode="auto">
            <a:xfrm>
              <a:off x="4332" y="1071"/>
              <a:ext cx="680" cy="681"/>
              <a:chOff x="3923" y="1434"/>
              <a:chExt cx="409" cy="408"/>
            </a:xfrm>
          </p:grpSpPr>
          <p:sp>
            <p:nvSpPr>
              <p:cNvPr id="19501" name="Line 23">
                <a:extLst>
                  <a:ext uri="{FF2B5EF4-FFF2-40B4-BE49-F238E27FC236}">
                    <a16:creationId xmlns:a16="http://schemas.microsoft.com/office/drawing/2014/main" id="{D85C8D68-6873-4D78-9991-EA4C753659F8}"/>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502" name="Line 24">
                <a:extLst>
                  <a:ext uri="{FF2B5EF4-FFF2-40B4-BE49-F238E27FC236}">
                    <a16:creationId xmlns:a16="http://schemas.microsoft.com/office/drawing/2014/main" id="{69E6D64A-0297-430F-A35E-150604B82686}"/>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4" name="Group 25">
              <a:extLst>
                <a:ext uri="{FF2B5EF4-FFF2-40B4-BE49-F238E27FC236}">
                  <a16:creationId xmlns:a16="http://schemas.microsoft.com/office/drawing/2014/main" id="{7ED516C1-F2BC-471E-8A97-D0D18A0CB9F1}"/>
                </a:ext>
              </a:extLst>
            </p:cNvPr>
            <p:cNvGrpSpPr>
              <a:grpSpLocks/>
            </p:cNvGrpSpPr>
            <p:nvPr/>
          </p:nvGrpSpPr>
          <p:grpSpPr bwMode="auto">
            <a:xfrm flipV="1">
              <a:off x="4377" y="1797"/>
              <a:ext cx="680" cy="46"/>
              <a:chOff x="3923" y="1434"/>
              <a:chExt cx="409" cy="408"/>
            </a:xfrm>
          </p:grpSpPr>
          <p:sp>
            <p:nvSpPr>
              <p:cNvPr id="19499" name="Line 26">
                <a:extLst>
                  <a:ext uri="{FF2B5EF4-FFF2-40B4-BE49-F238E27FC236}">
                    <a16:creationId xmlns:a16="http://schemas.microsoft.com/office/drawing/2014/main" id="{B75C5EF8-87A2-42E8-BB4A-844DBAB6EA0F}"/>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500" name="Line 27">
                <a:extLst>
                  <a:ext uri="{FF2B5EF4-FFF2-40B4-BE49-F238E27FC236}">
                    <a16:creationId xmlns:a16="http://schemas.microsoft.com/office/drawing/2014/main" id="{4ED6202E-0E7E-434E-B56D-9791B2982347}"/>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5" name="Group 28">
              <a:extLst>
                <a:ext uri="{FF2B5EF4-FFF2-40B4-BE49-F238E27FC236}">
                  <a16:creationId xmlns:a16="http://schemas.microsoft.com/office/drawing/2014/main" id="{67220231-BFA7-4236-BB57-D7475A4570D9}"/>
                </a:ext>
              </a:extLst>
            </p:cNvPr>
            <p:cNvGrpSpPr>
              <a:grpSpLocks/>
            </p:cNvGrpSpPr>
            <p:nvPr/>
          </p:nvGrpSpPr>
          <p:grpSpPr bwMode="auto">
            <a:xfrm flipV="1">
              <a:off x="3923" y="1071"/>
              <a:ext cx="409" cy="317"/>
              <a:chOff x="3923" y="1434"/>
              <a:chExt cx="409" cy="408"/>
            </a:xfrm>
          </p:grpSpPr>
          <p:sp>
            <p:nvSpPr>
              <p:cNvPr id="19497" name="Line 29">
                <a:extLst>
                  <a:ext uri="{FF2B5EF4-FFF2-40B4-BE49-F238E27FC236}">
                    <a16:creationId xmlns:a16="http://schemas.microsoft.com/office/drawing/2014/main" id="{9C75E02C-3AF7-4763-A2FF-788137591FA6}"/>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498" name="Line 30">
                <a:extLst>
                  <a:ext uri="{FF2B5EF4-FFF2-40B4-BE49-F238E27FC236}">
                    <a16:creationId xmlns:a16="http://schemas.microsoft.com/office/drawing/2014/main" id="{70B0D9DB-0993-4F50-B969-E79BE12419F4}"/>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6" name="Group 31">
              <a:extLst>
                <a:ext uri="{FF2B5EF4-FFF2-40B4-BE49-F238E27FC236}">
                  <a16:creationId xmlns:a16="http://schemas.microsoft.com/office/drawing/2014/main" id="{9D9228D8-027C-45B6-8D0F-2C226A366E17}"/>
                </a:ext>
              </a:extLst>
            </p:cNvPr>
            <p:cNvGrpSpPr>
              <a:grpSpLocks/>
            </p:cNvGrpSpPr>
            <p:nvPr/>
          </p:nvGrpSpPr>
          <p:grpSpPr bwMode="auto">
            <a:xfrm>
              <a:off x="4332" y="1071"/>
              <a:ext cx="45" cy="771"/>
              <a:chOff x="3923" y="1434"/>
              <a:chExt cx="409" cy="408"/>
            </a:xfrm>
          </p:grpSpPr>
          <p:sp>
            <p:nvSpPr>
              <p:cNvPr id="19495" name="Line 32">
                <a:extLst>
                  <a:ext uri="{FF2B5EF4-FFF2-40B4-BE49-F238E27FC236}">
                    <a16:creationId xmlns:a16="http://schemas.microsoft.com/office/drawing/2014/main" id="{636E68A3-23B5-42D2-B524-03E610A55A2E}"/>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496" name="Line 33">
                <a:extLst>
                  <a:ext uri="{FF2B5EF4-FFF2-40B4-BE49-F238E27FC236}">
                    <a16:creationId xmlns:a16="http://schemas.microsoft.com/office/drawing/2014/main" id="{5B260FD8-ED70-4843-9B6D-0610E594B3AA}"/>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7" name="Group 34">
              <a:extLst>
                <a:ext uri="{FF2B5EF4-FFF2-40B4-BE49-F238E27FC236}">
                  <a16:creationId xmlns:a16="http://schemas.microsoft.com/office/drawing/2014/main" id="{05BB6A5E-0829-44B4-8B20-1E9C4E248B1F}"/>
                </a:ext>
              </a:extLst>
            </p:cNvPr>
            <p:cNvGrpSpPr>
              <a:grpSpLocks/>
            </p:cNvGrpSpPr>
            <p:nvPr/>
          </p:nvGrpSpPr>
          <p:grpSpPr bwMode="auto">
            <a:xfrm rot="-442576">
              <a:off x="4340" y="1028"/>
              <a:ext cx="544" cy="91"/>
              <a:chOff x="3923" y="1434"/>
              <a:chExt cx="409" cy="408"/>
            </a:xfrm>
          </p:grpSpPr>
          <p:sp>
            <p:nvSpPr>
              <p:cNvPr id="19493" name="Line 35">
                <a:extLst>
                  <a:ext uri="{FF2B5EF4-FFF2-40B4-BE49-F238E27FC236}">
                    <a16:creationId xmlns:a16="http://schemas.microsoft.com/office/drawing/2014/main" id="{AAAA38B4-8BB4-4FF5-B3F0-E925280F76B6}"/>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494" name="Line 36">
                <a:extLst>
                  <a:ext uri="{FF2B5EF4-FFF2-40B4-BE49-F238E27FC236}">
                    <a16:creationId xmlns:a16="http://schemas.microsoft.com/office/drawing/2014/main" id="{E7D69DDD-B59A-4EC2-994C-0A70A45AD0F7}"/>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19478" name="Group 37">
              <a:extLst>
                <a:ext uri="{FF2B5EF4-FFF2-40B4-BE49-F238E27FC236}">
                  <a16:creationId xmlns:a16="http://schemas.microsoft.com/office/drawing/2014/main" id="{51244E40-B760-4342-9DC6-19CAD8EF8E42}"/>
                </a:ext>
              </a:extLst>
            </p:cNvPr>
            <p:cNvGrpSpPr>
              <a:grpSpLocks/>
            </p:cNvGrpSpPr>
            <p:nvPr/>
          </p:nvGrpSpPr>
          <p:grpSpPr bwMode="auto">
            <a:xfrm flipH="1">
              <a:off x="4377" y="1071"/>
              <a:ext cx="590" cy="771"/>
              <a:chOff x="3923" y="1434"/>
              <a:chExt cx="409" cy="408"/>
            </a:xfrm>
          </p:grpSpPr>
          <p:sp>
            <p:nvSpPr>
              <p:cNvPr id="19491" name="Line 38">
                <a:extLst>
                  <a:ext uri="{FF2B5EF4-FFF2-40B4-BE49-F238E27FC236}">
                    <a16:creationId xmlns:a16="http://schemas.microsoft.com/office/drawing/2014/main" id="{8468321A-DE93-42BE-BFA2-506FEFA01249}"/>
                  </a:ext>
                </a:extLst>
              </p:cNvPr>
              <p:cNvSpPr>
                <a:spLocks noChangeShapeType="1"/>
              </p:cNvSpPr>
              <p:nvPr/>
            </p:nvSpPr>
            <p:spPr bwMode="auto">
              <a:xfrm>
                <a:off x="3923" y="1434"/>
                <a:ext cx="18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19492" name="Line 39">
                <a:extLst>
                  <a:ext uri="{FF2B5EF4-FFF2-40B4-BE49-F238E27FC236}">
                    <a16:creationId xmlns:a16="http://schemas.microsoft.com/office/drawing/2014/main" id="{D51ADF53-336E-48BB-8857-0430678438C9}"/>
                  </a:ext>
                </a:extLst>
              </p:cNvPr>
              <p:cNvSpPr>
                <a:spLocks noChangeShapeType="1"/>
              </p:cNvSpPr>
              <p:nvPr/>
            </p:nvSpPr>
            <p:spPr bwMode="auto">
              <a:xfrm>
                <a:off x="4105" y="1616"/>
                <a:ext cx="227"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cxnSp>
          <p:nvCxnSpPr>
            <p:cNvPr id="19479" name="AutoShape 40">
              <a:extLst>
                <a:ext uri="{FF2B5EF4-FFF2-40B4-BE49-F238E27FC236}">
                  <a16:creationId xmlns:a16="http://schemas.microsoft.com/office/drawing/2014/main" id="{5A2354FE-9987-4DF8-80B7-6BBE73EABCC3}"/>
                </a:ext>
              </a:extLst>
            </p:cNvPr>
            <p:cNvCxnSpPr>
              <a:cxnSpLocks noChangeShapeType="1"/>
            </p:cNvCxnSpPr>
            <p:nvPr/>
          </p:nvCxnSpPr>
          <p:spPr bwMode="auto">
            <a:xfrm rot="5400000" flipV="1">
              <a:off x="4660" y="1378"/>
              <a:ext cx="704" cy="89"/>
            </a:xfrm>
            <a:prstGeom prst="curvedConnector4">
              <a:avLst>
                <a:gd name="adj1" fmla="val 2981"/>
                <a:gd name="adj2" fmla="val 260676"/>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80" name="AutoShape 41">
              <a:extLst>
                <a:ext uri="{FF2B5EF4-FFF2-40B4-BE49-F238E27FC236}">
                  <a16:creationId xmlns:a16="http://schemas.microsoft.com/office/drawing/2014/main" id="{3D264790-30FE-49C9-BCF4-AC7792EE0BCD}"/>
                </a:ext>
              </a:extLst>
            </p:cNvPr>
            <p:cNvCxnSpPr>
              <a:cxnSpLocks noChangeShapeType="1"/>
              <a:stCxn id="19500" idx="1"/>
              <a:endCxn id="19466" idx="5"/>
            </p:cNvCxnSpPr>
            <p:nvPr/>
          </p:nvCxnSpPr>
          <p:spPr bwMode="auto">
            <a:xfrm rot="5400000" flipH="1">
              <a:off x="4663" y="1405"/>
              <a:ext cx="689" cy="98"/>
            </a:xfrm>
            <a:prstGeom prst="curvedConnector3">
              <a:avLst>
                <a:gd name="adj1" fmla="val 4963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81" name="Text Box 42">
              <a:extLst>
                <a:ext uri="{FF2B5EF4-FFF2-40B4-BE49-F238E27FC236}">
                  <a16:creationId xmlns:a16="http://schemas.microsoft.com/office/drawing/2014/main" id="{57651799-5933-487D-8225-00F33E598361}"/>
                </a:ext>
              </a:extLst>
            </p:cNvPr>
            <p:cNvSpPr txBox="1">
              <a:spLocks noChangeArrowheads="1"/>
            </p:cNvSpPr>
            <p:nvPr/>
          </p:nvSpPr>
          <p:spPr bwMode="auto">
            <a:xfrm>
              <a:off x="5148" y="1207"/>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1</a:t>
              </a:r>
              <a:endParaRPr lang="en-US" altLang="lv-LV" sz="1200"/>
            </a:p>
          </p:txBody>
        </p:sp>
        <p:sp>
          <p:nvSpPr>
            <p:cNvPr id="19482" name="Text Box 43">
              <a:extLst>
                <a:ext uri="{FF2B5EF4-FFF2-40B4-BE49-F238E27FC236}">
                  <a16:creationId xmlns:a16="http://schemas.microsoft.com/office/drawing/2014/main" id="{4035C379-1B61-4CE8-A780-1D5D4234CAAA}"/>
                </a:ext>
              </a:extLst>
            </p:cNvPr>
            <p:cNvSpPr txBox="1">
              <a:spLocks noChangeArrowheads="1"/>
            </p:cNvSpPr>
            <p:nvPr/>
          </p:nvSpPr>
          <p:spPr bwMode="auto">
            <a:xfrm>
              <a:off x="4422" y="1480"/>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-5</a:t>
              </a:r>
              <a:endParaRPr lang="en-US" altLang="lv-LV" sz="1200"/>
            </a:p>
          </p:txBody>
        </p:sp>
        <p:sp>
          <p:nvSpPr>
            <p:cNvPr id="19483" name="Text Box 44">
              <a:extLst>
                <a:ext uri="{FF2B5EF4-FFF2-40B4-BE49-F238E27FC236}">
                  <a16:creationId xmlns:a16="http://schemas.microsoft.com/office/drawing/2014/main" id="{51151101-5902-4768-A4B6-47EE5F8F52ED}"/>
                </a:ext>
              </a:extLst>
            </p:cNvPr>
            <p:cNvSpPr txBox="1">
              <a:spLocks noChangeArrowheads="1"/>
            </p:cNvSpPr>
            <p:nvPr/>
          </p:nvSpPr>
          <p:spPr bwMode="auto">
            <a:xfrm>
              <a:off x="4558" y="1842"/>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4</a:t>
              </a:r>
              <a:endParaRPr lang="en-US" altLang="lv-LV" sz="1200"/>
            </a:p>
          </p:txBody>
        </p:sp>
        <p:sp>
          <p:nvSpPr>
            <p:cNvPr id="19484" name="Text Box 45">
              <a:extLst>
                <a:ext uri="{FF2B5EF4-FFF2-40B4-BE49-F238E27FC236}">
                  <a16:creationId xmlns:a16="http://schemas.microsoft.com/office/drawing/2014/main" id="{43955D6F-4F66-4519-83EB-5BD137C818A6}"/>
                </a:ext>
              </a:extLst>
            </p:cNvPr>
            <p:cNvSpPr txBox="1">
              <a:spLocks noChangeArrowheads="1"/>
            </p:cNvSpPr>
            <p:nvPr/>
          </p:nvSpPr>
          <p:spPr bwMode="auto">
            <a:xfrm>
              <a:off x="4558" y="935"/>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3</a:t>
              </a:r>
              <a:endParaRPr lang="en-US" altLang="lv-LV" sz="1200"/>
            </a:p>
          </p:txBody>
        </p:sp>
        <p:sp>
          <p:nvSpPr>
            <p:cNvPr id="19485" name="Text Box 46">
              <a:extLst>
                <a:ext uri="{FF2B5EF4-FFF2-40B4-BE49-F238E27FC236}">
                  <a16:creationId xmlns:a16="http://schemas.microsoft.com/office/drawing/2014/main" id="{D73BE1FF-7DAB-41C4-8D96-975828EF2404}"/>
                </a:ext>
              </a:extLst>
            </p:cNvPr>
            <p:cNvSpPr txBox="1">
              <a:spLocks noChangeArrowheads="1"/>
            </p:cNvSpPr>
            <p:nvPr/>
          </p:nvSpPr>
          <p:spPr bwMode="auto">
            <a:xfrm>
              <a:off x="4513" y="1162"/>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t>3</a:t>
              </a:r>
              <a:endParaRPr lang="en-US" altLang="lv-LV" sz="1200"/>
            </a:p>
          </p:txBody>
        </p:sp>
        <p:sp>
          <p:nvSpPr>
            <p:cNvPr id="19486" name="Text Box 47">
              <a:extLst>
                <a:ext uri="{FF2B5EF4-FFF2-40B4-BE49-F238E27FC236}">
                  <a16:creationId xmlns:a16="http://schemas.microsoft.com/office/drawing/2014/main" id="{8BD9BCFE-C949-40F6-8C06-56FCCEBBAF1D}"/>
                </a:ext>
              </a:extLst>
            </p:cNvPr>
            <p:cNvSpPr txBox="1">
              <a:spLocks noChangeArrowheads="1"/>
            </p:cNvSpPr>
            <p:nvPr/>
          </p:nvSpPr>
          <p:spPr bwMode="auto">
            <a:xfrm>
              <a:off x="3742" y="1344"/>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solidFill>
                    <a:srgbClr val="0033CC"/>
                  </a:solidFill>
                </a:rPr>
                <a:t>1</a:t>
              </a:r>
              <a:endParaRPr lang="en-US" altLang="lv-LV" sz="1200">
                <a:solidFill>
                  <a:srgbClr val="0033CC"/>
                </a:solidFill>
              </a:endParaRPr>
            </a:p>
          </p:txBody>
        </p:sp>
        <p:sp>
          <p:nvSpPr>
            <p:cNvPr id="19487" name="Text Box 48">
              <a:extLst>
                <a:ext uri="{FF2B5EF4-FFF2-40B4-BE49-F238E27FC236}">
                  <a16:creationId xmlns:a16="http://schemas.microsoft.com/office/drawing/2014/main" id="{9F907D20-7C69-43CC-A931-C856EC8F4838}"/>
                </a:ext>
              </a:extLst>
            </p:cNvPr>
            <p:cNvSpPr txBox="1">
              <a:spLocks noChangeArrowheads="1"/>
            </p:cNvSpPr>
            <p:nvPr/>
          </p:nvSpPr>
          <p:spPr bwMode="auto">
            <a:xfrm>
              <a:off x="4150" y="935"/>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solidFill>
                    <a:srgbClr val="0033CC"/>
                  </a:solidFill>
                </a:rPr>
                <a:t>2</a:t>
              </a:r>
              <a:endParaRPr lang="en-US" altLang="lv-LV" sz="1200">
                <a:solidFill>
                  <a:srgbClr val="0033CC"/>
                </a:solidFill>
              </a:endParaRPr>
            </a:p>
          </p:txBody>
        </p:sp>
        <p:sp>
          <p:nvSpPr>
            <p:cNvPr id="19488" name="Text Box 49">
              <a:extLst>
                <a:ext uri="{FF2B5EF4-FFF2-40B4-BE49-F238E27FC236}">
                  <a16:creationId xmlns:a16="http://schemas.microsoft.com/office/drawing/2014/main" id="{3D8BE989-4AA0-4564-98A2-B2DA3CD3EF0A}"/>
                </a:ext>
              </a:extLst>
            </p:cNvPr>
            <p:cNvSpPr txBox="1">
              <a:spLocks noChangeArrowheads="1"/>
            </p:cNvSpPr>
            <p:nvPr/>
          </p:nvSpPr>
          <p:spPr bwMode="auto">
            <a:xfrm>
              <a:off x="4830" y="935"/>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solidFill>
                    <a:srgbClr val="0033CC"/>
                  </a:solidFill>
                </a:rPr>
                <a:t>3</a:t>
              </a:r>
              <a:endParaRPr lang="en-US" altLang="lv-LV" sz="1200">
                <a:solidFill>
                  <a:srgbClr val="0033CC"/>
                </a:solidFill>
              </a:endParaRPr>
            </a:p>
          </p:txBody>
        </p:sp>
        <p:sp>
          <p:nvSpPr>
            <p:cNvPr id="19489" name="Text Box 50">
              <a:extLst>
                <a:ext uri="{FF2B5EF4-FFF2-40B4-BE49-F238E27FC236}">
                  <a16:creationId xmlns:a16="http://schemas.microsoft.com/office/drawing/2014/main" id="{01A99CBE-6CB8-4A40-A608-AB4CC807178D}"/>
                </a:ext>
              </a:extLst>
            </p:cNvPr>
            <p:cNvSpPr txBox="1">
              <a:spLocks noChangeArrowheads="1"/>
            </p:cNvSpPr>
            <p:nvPr/>
          </p:nvSpPr>
          <p:spPr bwMode="auto">
            <a:xfrm>
              <a:off x="4967" y="1797"/>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solidFill>
                    <a:srgbClr val="0033CC"/>
                  </a:solidFill>
                </a:rPr>
                <a:t>4</a:t>
              </a:r>
              <a:endParaRPr lang="en-US" altLang="lv-LV" sz="1200">
                <a:solidFill>
                  <a:srgbClr val="0033CC"/>
                </a:solidFill>
              </a:endParaRPr>
            </a:p>
          </p:txBody>
        </p:sp>
        <p:sp>
          <p:nvSpPr>
            <p:cNvPr id="19490" name="Text Box 51">
              <a:extLst>
                <a:ext uri="{FF2B5EF4-FFF2-40B4-BE49-F238E27FC236}">
                  <a16:creationId xmlns:a16="http://schemas.microsoft.com/office/drawing/2014/main" id="{A0B6DD13-C561-47C3-A117-2F1D52B65687}"/>
                </a:ext>
              </a:extLst>
            </p:cNvPr>
            <p:cNvSpPr txBox="1">
              <a:spLocks noChangeArrowheads="1"/>
            </p:cNvSpPr>
            <p:nvPr/>
          </p:nvSpPr>
          <p:spPr bwMode="auto">
            <a:xfrm>
              <a:off x="4241" y="1842"/>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a:solidFill>
                    <a:srgbClr val="0033CC"/>
                  </a:solidFill>
                </a:rPr>
                <a:t>5</a:t>
              </a:r>
              <a:endParaRPr lang="en-US" altLang="lv-LV" sz="1200">
                <a:solidFill>
                  <a:srgbClr val="0033CC"/>
                </a:solidFill>
              </a:endParaRPr>
            </a:p>
          </p:txBody>
        </p:sp>
      </p:grpSp>
      <p:pic>
        <p:nvPicPr>
          <p:cNvPr id="19461" name="Picture 53">
            <a:extLst>
              <a:ext uri="{FF2B5EF4-FFF2-40B4-BE49-F238E27FC236}">
                <a16:creationId xmlns:a16="http://schemas.microsoft.com/office/drawing/2014/main" id="{40238CDC-011C-465E-B00B-9CE51CF36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3141663"/>
            <a:ext cx="360045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54">
            <a:extLst>
              <a:ext uri="{FF2B5EF4-FFF2-40B4-BE49-F238E27FC236}">
                <a16:creationId xmlns:a16="http://schemas.microsoft.com/office/drawing/2014/main" id="{9B599C00-7830-4999-935E-3C921DE19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5445125"/>
            <a:ext cx="5076825"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B21A534-F149-43D6-9CFB-47176056A507}"/>
              </a:ext>
            </a:extLst>
          </p:cNvPr>
          <p:cNvSpPr>
            <a:spLocks noGrp="1" noChangeArrowheads="1"/>
          </p:cNvSpPr>
          <p:nvPr>
            <p:ph type="title"/>
          </p:nvPr>
        </p:nvSpPr>
        <p:spPr/>
        <p:txBody>
          <a:bodyPr/>
          <a:lstStyle/>
          <a:p>
            <a:pPr eaLnBrk="1" hangingPunct="1"/>
            <a:r>
              <a:rPr lang="lv-LV" altLang="lv-LV" sz="3600"/>
              <a:t>Īsākā ceļa atrašana grafā no virsotnes s - </a:t>
            </a:r>
            <a:r>
              <a:rPr lang="lv-LV" altLang="lv-LV" sz="3200"/>
              <a:t>Forda-Bellmana</a:t>
            </a:r>
            <a:r>
              <a:rPr lang="lv-LV" altLang="lv-LV" sz="3600"/>
              <a:t> algoritms</a:t>
            </a:r>
            <a:endParaRPr lang="en-US" altLang="lv-LV" sz="3600" baseline="-25000"/>
          </a:p>
        </p:txBody>
      </p:sp>
      <p:sp>
        <p:nvSpPr>
          <p:cNvPr id="20483" name="Rectangle 3">
            <a:extLst>
              <a:ext uri="{FF2B5EF4-FFF2-40B4-BE49-F238E27FC236}">
                <a16:creationId xmlns:a16="http://schemas.microsoft.com/office/drawing/2014/main" id="{51D489F8-E6F0-47FE-B611-584CE60E8C88}"/>
              </a:ext>
            </a:extLst>
          </p:cNvPr>
          <p:cNvSpPr>
            <a:spLocks noGrp="1" noChangeArrowheads="1"/>
          </p:cNvSpPr>
          <p:nvPr>
            <p:ph type="body" idx="1"/>
          </p:nvPr>
        </p:nvSpPr>
        <p:spPr/>
        <p:txBody>
          <a:bodyPr/>
          <a:lstStyle/>
          <a:p>
            <a:pPr eaLnBrk="1" hangingPunct="1"/>
            <a:r>
              <a:rPr lang="lv-LV" altLang="lv-LV"/>
              <a:t>Katrai v</a:t>
            </a:r>
            <a:r>
              <a:rPr lang="lv-LV" altLang="lv-LV" sz="2800">
                <a:sym typeface="Symbol" panose="05050102010706020507" pitchFamily="18" charset="2"/>
              </a:rPr>
              <a:t>V</a:t>
            </a:r>
          </a:p>
          <a:p>
            <a:pPr eaLnBrk="1" hangingPunct="1"/>
            <a:r>
              <a:rPr lang="lv-LV" altLang="lv-LV" sz="2800">
                <a:sym typeface="Symbol" panose="05050102010706020507" pitchFamily="18" charset="2"/>
              </a:rPr>
              <a:t>D[v]=A[s,v]</a:t>
            </a:r>
          </a:p>
          <a:p>
            <a:pPr eaLnBrk="1" hangingPunct="1"/>
            <a:r>
              <a:rPr lang="lv-LV" altLang="lv-LV" sz="2800">
                <a:sym typeface="Symbol" panose="05050102010706020507" pitchFamily="18" charset="2"/>
              </a:rPr>
              <a:t>D[s]=0</a:t>
            </a:r>
          </a:p>
          <a:p>
            <a:pPr eaLnBrk="1" hangingPunct="1"/>
            <a:r>
              <a:rPr lang="lv-LV" altLang="lv-LV" sz="2800">
                <a:sym typeface="Symbol" panose="05050102010706020507" pitchFamily="18" charset="2"/>
              </a:rPr>
              <a:t>For k=1 to n-2</a:t>
            </a:r>
          </a:p>
          <a:p>
            <a:pPr lvl="1" eaLnBrk="1" hangingPunct="1"/>
            <a:r>
              <a:rPr lang="lv-LV" altLang="lv-LV" sz="2400">
                <a:sym typeface="Symbol" panose="05050102010706020507" pitchFamily="18" charset="2"/>
              </a:rPr>
              <a:t>Katrai vV-{s</a:t>
            </a:r>
            <a:r>
              <a:rPr lang="lv-LV" altLang="lv-LV"/>
              <a:t>}</a:t>
            </a:r>
          </a:p>
          <a:p>
            <a:pPr lvl="2" eaLnBrk="1" hangingPunct="1"/>
            <a:r>
              <a:rPr lang="lv-LV" altLang="lv-LV"/>
              <a:t>Katrai u</a:t>
            </a:r>
            <a:r>
              <a:rPr lang="lv-LV" altLang="lv-LV" sz="2000">
                <a:sym typeface="Symbol" panose="05050102010706020507" pitchFamily="18" charset="2"/>
              </a:rPr>
              <a:t>V</a:t>
            </a:r>
          </a:p>
          <a:p>
            <a:pPr lvl="3" eaLnBrk="1" hangingPunct="1"/>
            <a:r>
              <a:rPr lang="lv-LV" altLang="lv-LV" sz="1800">
                <a:sym typeface="Symbol" panose="05050102010706020507" pitchFamily="18" charset="2"/>
              </a:rPr>
              <a:t>D[v]=min(D[v],D[u]+A[u,v])</a:t>
            </a:r>
            <a:endParaRPr lang="lv-LV" altLang="lv-LV"/>
          </a:p>
          <a:p>
            <a:pPr eaLnBrk="1" hangingPunct="1"/>
            <a:endParaRPr lang="en-US" altLang="lv-LV"/>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9C3D13F-C54A-4DBD-A699-12358C550C97}"/>
              </a:ext>
            </a:extLst>
          </p:cNvPr>
          <p:cNvSpPr>
            <a:spLocks noGrp="1" noChangeArrowheads="1"/>
          </p:cNvSpPr>
          <p:nvPr>
            <p:ph type="title"/>
          </p:nvPr>
        </p:nvSpPr>
        <p:spPr/>
        <p:txBody>
          <a:bodyPr/>
          <a:lstStyle/>
          <a:p>
            <a:pPr eaLnBrk="1" hangingPunct="1"/>
            <a:r>
              <a:rPr lang="lv-LV" altLang="lv-LV" sz="4000"/>
              <a:t>Īsākā ceļa atrašana grafā no virsotnes s</a:t>
            </a:r>
            <a:r>
              <a:rPr lang="lv-LV" altLang="lv-LV" sz="4000" baseline="-25000"/>
              <a:t> </a:t>
            </a:r>
            <a:r>
              <a:rPr lang="lv-LV" altLang="lv-LV" sz="4000"/>
              <a:t>– Dijkstras algoritms</a:t>
            </a:r>
            <a:endParaRPr lang="en-US" altLang="lv-LV" sz="4000"/>
          </a:p>
        </p:txBody>
      </p:sp>
      <p:sp>
        <p:nvSpPr>
          <p:cNvPr id="21507" name="Rectangle 3">
            <a:extLst>
              <a:ext uri="{FF2B5EF4-FFF2-40B4-BE49-F238E27FC236}">
                <a16:creationId xmlns:a16="http://schemas.microsoft.com/office/drawing/2014/main" id="{2816214C-D15E-4414-8756-EBFBF042E121}"/>
              </a:ext>
            </a:extLst>
          </p:cNvPr>
          <p:cNvSpPr>
            <a:spLocks noGrp="1" noChangeArrowheads="1"/>
          </p:cNvSpPr>
          <p:nvPr>
            <p:ph type="body" idx="1"/>
          </p:nvPr>
        </p:nvSpPr>
        <p:spPr>
          <a:xfrm>
            <a:off x="457200" y="1600200"/>
            <a:ext cx="4546600" cy="4525963"/>
          </a:xfrm>
        </p:spPr>
        <p:txBody>
          <a:bodyPr/>
          <a:lstStyle/>
          <a:p>
            <a:pPr eaLnBrk="1" hangingPunct="1"/>
            <a:r>
              <a:rPr lang="lv-LV" altLang="lv-LV" sz="2400"/>
              <a:t>Katrai</a:t>
            </a:r>
            <a:r>
              <a:rPr lang="lv-LV" altLang="lv-LV" sz="2800"/>
              <a:t> v</a:t>
            </a:r>
            <a:r>
              <a:rPr lang="lv-LV" altLang="lv-LV" sz="2400">
                <a:sym typeface="Symbol" panose="05050102010706020507" pitchFamily="18" charset="2"/>
              </a:rPr>
              <a:t>V</a:t>
            </a:r>
          </a:p>
          <a:p>
            <a:pPr lvl="1" eaLnBrk="1" hangingPunct="1"/>
            <a:r>
              <a:rPr lang="lv-LV" altLang="lv-LV" sz="2000">
                <a:sym typeface="Symbol" panose="05050102010706020507" pitchFamily="18" charset="2"/>
              </a:rPr>
              <a:t>D[v]=A[s,v], iepriekseja[v]=-1</a:t>
            </a:r>
          </a:p>
          <a:p>
            <a:pPr eaLnBrk="1" hangingPunct="1"/>
            <a:r>
              <a:rPr lang="lv-LV" altLang="lv-LV" sz="2400">
                <a:sym typeface="Symbol" panose="05050102010706020507" pitchFamily="18" charset="2"/>
              </a:rPr>
              <a:t>D[s]=0</a:t>
            </a:r>
          </a:p>
          <a:p>
            <a:pPr eaLnBrk="1" hangingPunct="1"/>
            <a:r>
              <a:rPr lang="lv-LV" altLang="lv-LV" sz="2400">
                <a:sym typeface="Symbol" panose="05050102010706020507" pitchFamily="18" charset="2"/>
              </a:rPr>
              <a:t>T=V-{s}</a:t>
            </a:r>
          </a:p>
          <a:p>
            <a:pPr eaLnBrk="1" hangingPunct="1"/>
            <a:r>
              <a:rPr lang="lv-LV" altLang="lv-LV" sz="2400">
                <a:sym typeface="Symbol" panose="05050102010706020507" pitchFamily="18" charset="2"/>
              </a:rPr>
              <a:t>Kamēr T nav tukša</a:t>
            </a:r>
          </a:p>
          <a:p>
            <a:pPr lvl="1" eaLnBrk="1" hangingPunct="1"/>
            <a:r>
              <a:rPr lang="lv-LV" altLang="lv-LV" sz="2000">
                <a:sym typeface="Symbol" panose="05050102010706020507" pitchFamily="18" charset="2"/>
              </a:rPr>
              <a:t>u=p, kur p T un min(D[p])</a:t>
            </a:r>
          </a:p>
          <a:p>
            <a:pPr lvl="1" eaLnBrk="1" hangingPunct="1"/>
            <a:r>
              <a:rPr lang="lv-LV" altLang="lv-LV" sz="2000">
                <a:sym typeface="Symbol" panose="05050102010706020507" pitchFamily="18" charset="2"/>
              </a:rPr>
              <a:t>T=T-{u}</a:t>
            </a:r>
          </a:p>
          <a:p>
            <a:pPr lvl="1" eaLnBrk="1" hangingPunct="1"/>
            <a:r>
              <a:rPr lang="lv-LV" altLang="lv-LV" sz="2400"/>
              <a:t>Katrai v</a:t>
            </a:r>
            <a:r>
              <a:rPr lang="lv-LV" altLang="lv-LV" sz="2000">
                <a:sym typeface="Symbol" panose="05050102010706020507" pitchFamily="18" charset="2"/>
              </a:rPr>
              <a:t>T</a:t>
            </a:r>
          </a:p>
          <a:p>
            <a:pPr lvl="2" eaLnBrk="1" hangingPunct="1"/>
            <a:r>
              <a:rPr lang="lv-LV" altLang="lv-LV" sz="1800">
                <a:sym typeface="Symbol" panose="05050102010706020507" pitchFamily="18" charset="2"/>
              </a:rPr>
              <a:t>D[v]=min(D[v],D[u]+A[u,v]</a:t>
            </a:r>
          </a:p>
          <a:p>
            <a:pPr lvl="2" eaLnBrk="1" hangingPunct="1"/>
            <a:r>
              <a:rPr lang="lv-LV" altLang="lv-LV" sz="1800">
                <a:sym typeface="Symbol" panose="05050102010706020507" pitchFamily="18" charset="2"/>
              </a:rPr>
              <a:t>iepriekseja[v]=u</a:t>
            </a:r>
            <a:endParaRPr lang="en-US" altLang="lv-LV" sz="2000"/>
          </a:p>
        </p:txBody>
      </p:sp>
      <p:grpSp>
        <p:nvGrpSpPr>
          <p:cNvPr id="21508" name="Group 54">
            <a:extLst>
              <a:ext uri="{FF2B5EF4-FFF2-40B4-BE49-F238E27FC236}">
                <a16:creationId xmlns:a16="http://schemas.microsoft.com/office/drawing/2014/main" id="{0FE5E8CC-2AC7-4325-8CD4-DE831B3F13E0}"/>
              </a:ext>
            </a:extLst>
          </p:cNvPr>
          <p:cNvGrpSpPr>
            <a:grpSpLocks/>
          </p:cNvGrpSpPr>
          <p:nvPr/>
        </p:nvGrpSpPr>
        <p:grpSpPr bwMode="auto">
          <a:xfrm>
            <a:off x="5795963" y="1484313"/>
            <a:ext cx="2303462" cy="1787525"/>
            <a:chOff x="3288" y="1162"/>
            <a:chExt cx="1451" cy="1126"/>
          </a:xfrm>
        </p:grpSpPr>
        <p:grpSp>
          <p:nvGrpSpPr>
            <p:cNvPr id="21511" name="Group 8">
              <a:extLst>
                <a:ext uri="{FF2B5EF4-FFF2-40B4-BE49-F238E27FC236}">
                  <a16:creationId xmlns:a16="http://schemas.microsoft.com/office/drawing/2014/main" id="{590366B2-9DB4-4B8D-8EB3-583578525D8E}"/>
                </a:ext>
              </a:extLst>
            </p:cNvPr>
            <p:cNvGrpSpPr>
              <a:grpSpLocks/>
            </p:cNvGrpSpPr>
            <p:nvPr/>
          </p:nvGrpSpPr>
          <p:grpSpPr bwMode="auto">
            <a:xfrm>
              <a:off x="3288" y="1480"/>
              <a:ext cx="227" cy="626"/>
              <a:chOff x="3288" y="1480"/>
              <a:chExt cx="227" cy="626"/>
            </a:xfrm>
          </p:grpSpPr>
          <p:sp>
            <p:nvSpPr>
              <p:cNvPr id="21551" name="Line 5">
                <a:extLst>
                  <a:ext uri="{FF2B5EF4-FFF2-40B4-BE49-F238E27FC236}">
                    <a16:creationId xmlns:a16="http://schemas.microsoft.com/office/drawing/2014/main" id="{AC53D17B-0CDF-4DF8-81E6-1B4934BAC95B}"/>
                  </a:ext>
                </a:extLst>
              </p:cNvPr>
              <p:cNvSpPr>
                <a:spLocks noChangeShapeType="1"/>
              </p:cNvSpPr>
              <p:nvPr/>
            </p:nvSpPr>
            <p:spPr bwMode="auto">
              <a:xfrm flipV="1">
                <a:off x="3515" y="161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52" name="Line 6">
                <a:extLst>
                  <a:ext uri="{FF2B5EF4-FFF2-40B4-BE49-F238E27FC236}">
                    <a16:creationId xmlns:a16="http://schemas.microsoft.com/office/drawing/2014/main" id="{66DC9614-DD7E-4975-B300-8FF2111C1F40}"/>
                  </a:ext>
                </a:extLst>
              </p:cNvPr>
              <p:cNvSpPr>
                <a:spLocks noChangeShapeType="1"/>
              </p:cNvSpPr>
              <p:nvPr/>
            </p:nvSpPr>
            <p:spPr bwMode="auto">
              <a:xfrm flipV="1">
                <a:off x="3515" y="148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53" name="Text Box 7">
                <a:extLst>
                  <a:ext uri="{FF2B5EF4-FFF2-40B4-BE49-F238E27FC236}">
                    <a16:creationId xmlns:a16="http://schemas.microsoft.com/office/drawing/2014/main" id="{A3811837-74BC-4A6F-9963-E6AA9280B427}"/>
                  </a:ext>
                </a:extLst>
              </p:cNvPr>
              <p:cNvSpPr txBox="1">
                <a:spLocks noChangeArrowheads="1"/>
              </p:cNvSpPr>
              <p:nvPr/>
            </p:nvSpPr>
            <p:spPr bwMode="auto">
              <a:xfrm>
                <a:off x="3288" y="1933"/>
                <a:ext cx="18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1</a:t>
                </a:r>
                <a:endParaRPr lang="en-US" altLang="lv-LV" sz="1200" b="1">
                  <a:solidFill>
                    <a:schemeClr val="accent2"/>
                  </a:solidFill>
                </a:endParaRPr>
              </a:p>
            </p:txBody>
          </p:sp>
        </p:grpSp>
        <p:grpSp>
          <p:nvGrpSpPr>
            <p:cNvPr id="21512" name="Group 53">
              <a:extLst>
                <a:ext uri="{FF2B5EF4-FFF2-40B4-BE49-F238E27FC236}">
                  <a16:creationId xmlns:a16="http://schemas.microsoft.com/office/drawing/2014/main" id="{C09FE794-760F-467B-A6C4-46FE24B824D6}"/>
                </a:ext>
              </a:extLst>
            </p:cNvPr>
            <p:cNvGrpSpPr>
              <a:grpSpLocks/>
            </p:cNvGrpSpPr>
            <p:nvPr/>
          </p:nvGrpSpPr>
          <p:grpSpPr bwMode="auto">
            <a:xfrm>
              <a:off x="3334" y="1162"/>
              <a:ext cx="1405" cy="1126"/>
              <a:chOff x="3334" y="1162"/>
              <a:chExt cx="1405" cy="1126"/>
            </a:xfrm>
          </p:grpSpPr>
          <p:grpSp>
            <p:nvGrpSpPr>
              <p:cNvPr id="21513" name="Group 14">
                <a:extLst>
                  <a:ext uri="{FF2B5EF4-FFF2-40B4-BE49-F238E27FC236}">
                    <a16:creationId xmlns:a16="http://schemas.microsoft.com/office/drawing/2014/main" id="{A1E38D49-6C67-435A-B254-E2B278981E00}"/>
                  </a:ext>
                </a:extLst>
              </p:cNvPr>
              <p:cNvGrpSpPr>
                <a:grpSpLocks/>
              </p:cNvGrpSpPr>
              <p:nvPr/>
            </p:nvGrpSpPr>
            <p:grpSpPr bwMode="auto">
              <a:xfrm>
                <a:off x="3518" y="1478"/>
                <a:ext cx="499" cy="0"/>
                <a:chOff x="3518" y="1478"/>
                <a:chExt cx="499" cy="0"/>
              </a:xfrm>
            </p:grpSpPr>
            <p:sp>
              <p:nvSpPr>
                <p:cNvPr id="21549" name="Line 11">
                  <a:extLst>
                    <a:ext uri="{FF2B5EF4-FFF2-40B4-BE49-F238E27FC236}">
                      <a16:creationId xmlns:a16="http://schemas.microsoft.com/office/drawing/2014/main" id="{459D0862-3A36-4B56-AEDE-BDC7C1F19EE4}"/>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50" name="Line 12">
                  <a:extLst>
                    <a:ext uri="{FF2B5EF4-FFF2-40B4-BE49-F238E27FC236}">
                      <a16:creationId xmlns:a16="http://schemas.microsoft.com/office/drawing/2014/main" id="{C314F709-E56C-462B-A9FC-AF131BAB8461}"/>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21514" name="Group 15">
                <a:extLst>
                  <a:ext uri="{FF2B5EF4-FFF2-40B4-BE49-F238E27FC236}">
                    <a16:creationId xmlns:a16="http://schemas.microsoft.com/office/drawing/2014/main" id="{E7CD8051-244F-4EE3-8F7A-914917F9D55D}"/>
                  </a:ext>
                </a:extLst>
              </p:cNvPr>
              <p:cNvGrpSpPr>
                <a:grpSpLocks/>
              </p:cNvGrpSpPr>
              <p:nvPr/>
            </p:nvGrpSpPr>
            <p:grpSpPr bwMode="auto">
              <a:xfrm>
                <a:off x="4059" y="1480"/>
                <a:ext cx="499" cy="0"/>
                <a:chOff x="3518" y="1478"/>
                <a:chExt cx="499" cy="0"/>
              </a:xfrm>
            </p:grpSpPr>
            <p:sp>
              <p:nvSpPr>
                <p:cNvPr id="21547" name="Line 16">
                  <a:extLst>
                    <a:ext uri="{FF2B5EF4-FFF2-40B4-BE49-F238E27FC236}">
                      <a16:creationId xmlns:a16="http://schemas.microsoft.com/office/drawing/2014/main" id="{56BDA198-EEA7-4733-B1F2-90483B0AF78D}"/>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48" name="Line 17">
                  <a:extLst>
                    <a:ext uri="{FF2B5EF4-FFF2-40B4-BE49-F238E27FC236}">
                      <a16:creationId xmlns:a16="http://schemas.microsoft.com/office/drawing/2014/main" id="{2ABAC10B-2595-4794-B42B-591375E6FE5B}"/>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21515" name="Group 18">
                <a:extLst>
                  <a:ext uri="{FF2B5EF4-FFF2-40B4-BE49-F238E27FC236}">
                    <a16:creationId xmlns:a16="http://schemas.microsoft.com/office/drawing/2014/main" id="{16EAA86E-9997-4D9F-A0E1-3A1C171CEF17}"/>
                  </a:ext>
                </a:extLst>
              </p:cNvPr>
              <p:cNvGrpSpPr>
                <a:grpSpLocks/>
              </p:cNvGrpSpPr>
              <p:nvPr/>
            </p:nvGrpSpPr>
            <p:grpSpPr bwMode="auto">
              <a:xfrm rot="10878381" flipV="1">
                <a:off x="3514" y="1934"/>
                <a:ext cx="544" cy="46"/>
                <a:chOff x="3518" y="1478"/>
                <a:chExt cx="499" cy="0"/>
              </a:xfrm>
            </p:grpSpPr>
            <p:sp>
              <p:nvSpPr>
                <p:cNvPr id="21545" name="Line 19">
                  <a:extLst>
                    <a:ext uri="{FF2B5EF4-FFF2-40B4-BE49-F238E27FC236}">
                      <a16:creationId xmlns:a16="http://schemas.microsoft.com/office/drawing/2014/main" id="{0A6F1067-B0B0-453B-B5AB-588249A9DF6C}"/>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46" name="Line 20">
                  <a:extLst>
                    <a:ext uri="{FF2B5EF4-FFF2-40B4-BE49-F238E27FC236}">
                      <a16:creationId xmlns:a16="http://schemas.microsoft.com/office/drawing/2014/main" id="{EA56E9B5-C073-4BD4-9C0B-E40F23DFF180}"/>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21516" name="Group 21">
                <a:extLst>
                  <a:ext uri="{FF2B5EF4-FFF2-40B4-BE49-F238E27FC236}">
                    <a16:creationId xmlns:a16="http://schemas.microsoft.com/office/drawing/2014/main" id="{2E22BAA9-3852-4159-AF2D-0D4941380115}"/>
                  </a:ext>
                </a:extLst>
              </p:cNvPr>
              <p:cNvGrpSpPr>
                <a:grpSpLocks/>
              </p:cNvGrpSpPr>
              <p:nvPr/>
            </p:nvGrpSpPr>
            <p:grpSpPr bwMode="auto">
              <a:xfrm rot="2700000">
                <a:off x="3365" y="1697"/>
                <a:ext cx="726" cy="137"/>
                <a:chOff x="3518" y="1478"/>
                <a:chExt cx="499" cy="0"/>
              </a:xfrm>
            </p:grpSpPr>
            <p:sp>
              <p:nvSpPr>
                <p:cNvPr id="21543" name="Line 22">
                  <a:extLst>
                    <a:ext uri="{FF2B5EF4-FFF2-40B4-BE49-F238E27FC236}">
                      <a16:creationId xmlns:a16="http://schemas.microsoft.com/office/drawing/2014/main" id="{D035D991-2D04-46CF-839B-FF725BCECF44}"/>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44" name="Line 23">
                  <a:extLst>
                    <a:ext uri="{FF2B5EF4-FFF2-40B4-BE49-F238E27FC236}">
                      <a16:creationId xmlns:a16="http://schemas.microsoft.com/office/drawing/2014/main" id="{F49C5BDF-5C3B-44D7-9BC2-554F9CB04EA9}"/>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21517" name="Group 24">
                <a:extLst>
                  <a:ext uri="{FF2B5EF4-FFF2-40B4-BE49-F238E27FC236}">
                    <a16:creationId xmlns:a16="http://schemas.microsoft.com/office/drawing/2014/main" id="{F712C978-0487-4F42-8EB3-693DD6115B3D}"/>
                  </a:ext>
                </a:extLst>
              </p:cNvPr>
              <p:cNvGrpSpPr>
                <a:grpSpLocks/>
              </p:cNvGrpSpPr>
              <p:nvPr/>
            </p:nvGrpSpPr>
            <p:grpSpPr bwMode="auto">
              <a:xfrm rot="5400000">
                <a:off x="4309" y="1729"/>
                <a:ext cx="499" cy="1"/>
                <a:chOff x="3518" y="1478"/>
                <a:chExt cx="499" cy="0"/>
              </a:xfrm>
            </p:grpSpPr>
            <p:sp>
              <p:nvSpPr>
                <p:cNvPr id="21541" name="Line 25">
                  <a:extLst>
                    <a:ext uri="{FF2B5EF4-FFF2-40B4-BE49-F238E27FC236}">
                      <a16:creationId xmlns:a16="http://schemas.microsoft.com/office/drawing/2014/main" id="{E0216AD2-CD7C-42BE-96D9-0FBC2420E6D6}"/>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42" name="Line 26">
                  <a:extLst>
                    <a:ext uri="{FF2B5EF4-FFF2-40B4-BE49-F238E27FC236}">
                      <a16:creationId xmlns:a16="http://schemas.microsoft.com/office/drawing/2014/main" id="{5CFBE6B6-A0C9-4DB3-958B-44A42248E629}"/>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grpSp>
            <p:nvGrpSpPr>
              <p:cNvPr id="21518" name="Group 27">
                <a:extLst>
                  <a:ext uri="{FF2B5EF4-FFF2-40B4-BE49-F238E27FC236}">
                    <a16:creationId xmlns:a16="http://schemas.microsoft.com/office/drawing/2014/main" id="{B3706E9F-7114-4F0E-BA5B-B7755AB1B137}"/>
                  </a:ext>
                </a:extLst>
              </p:cNvPr>
              <p:cNvGrpSpPr>
                <a:grpSpLocks/>
              </p:cNvGrpSpPr>
              <p:nvPr/>
            </p:nvGrpSpPr>
            <p:grpSpPr bwMode="auto">
              <a:xfrm rot="-5400000">
                <a:off x="3810" y="1729"/>
                <a:ext cx="499" cy="1"/>
                <a:chOff x="3518" y="1478"/>
                <a:chExt cx="499" cy="0"/>
              </a:xfrm>
            </p:grpSpPr>
            <p:sp>
              <p:nvSpPr>
                <p:cNvPr id="21539" name="Line 28">
                  <a:extLst>
                    <a:ext uri="{FF2B5EF4-FFF2-40B4-BE49-F238E27FC236}">
                      <a16:creationId xmlns:a16="http://schemas.microsoft.com/office/drawing/2014/main" id="{2D20DA76-3736-49BF-A87F-6F47759365FF}"/>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40" name="Line 29">
                  <a:extLst>
                    <a:ext uri="{FF2B5EF4-FFF2-40B4-BE49-F238E27FC236}">
                      <a16:creationId xmlns:a16="http://schemas.microsoft.com/office/drawing/2014/main" id="{4BA5E2AF-C1A5-4163-97AD-CCACC6925A65}"/>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cxnSp>
            <p:nvCxnSpPr>
              <p:cNvPr id="21519" name="AutoShape 30">
                <a:extLst>
                  <a:ext uri="{FF2B5EF4-FFF2-40B4-BE49-F238E27FC236}">
                    <a16:creationId xmlns:a16="http://schemas.microsoft.com/office/drawing/2014/main" id="{2559C71A-FAE2-4A73-BE39-0CE707141FCF}"/>
                  </a:ext>
                </a:extLst>
              </p:cNvPr>
              <p:cNvCxnSpPr>
                <a:cxnSpLocks noChangeShapeType="1"/>
                <a:stCxn id="21543" idx="0"/>
                <a:endCxn id="21541" idx="0"/>
              </p:cNvCxnSpPr>
              <p:nvPr/>
            </p:nvCxnSpPr>
            <p:spPr bwMode="auto">
              <a:xfrm rot="5400000" flipV="1">
                <a:off x="4030" y="949"/>
                <a:ext cx="20" cy="1041"/>
              </a:xfrm>
              <a:prstGeom prst="curvedConnector3">
                <a:avLst>
                  <a:gd name="adj1" fmla="val -72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20" name="AutoShape 31">
                <a:extLst>
                  <a:ext uri="{FF2B5EF4-FFF2-40B4-BE49-F238E27FC236}">
                    <a16:creationId xmlns:a16="http://schemas.microsoft.com/office/drawing/2014/main" id="{F2EDC127-941B-4AE2-8DFC-DD3309F482E0}"/>
                  </a:ext>
                </a:extLst>
              </p:cNvPr>
              <p:cNvCxnSpPr>
                <a:cxnSpLocks noChangeShapeType="1"/>
                <a:stCxn id="21538" idx="1"/>
                <a:endCxn id="21537" idx="0"/>
              </p:cNvCxnSpPr>
              <p:nvPr/>
            </p:nvCxnSpPr>
            <p:spPr bwMode="auto">
              <a:xfrm rot="10800000" flipH="1" flipV="1">
                <a:off x="4013" y="1973"/>
                <a:ext cx="543" cy="11"/>
              </a:xfrm>
              <a:prstGeom prst="curvedConnector5">
                <a:avLst>
                  <a:gd name="adj1" fmla="val -26704"/>
                  <a:gd name="adj2" fmla="val 1409093"/>
                  <a:gd name="adj3" fmla="val 12651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521" name="Group 32">
                <a:extLst>
                  <a:ext uri="{FF2B5EF4-FFF2-40B4-BE49-F238E27FC236}">
                    <a16:creationId xmlns:a16="http://schemas.microsoft.com/office/drawing/2014/main" id="{583B68BE-9932-46E1-8891-8C38286C601B}"/>
                  </a:ext>
                </a:extLst>
              </p:cNvPr>
              <p:cNvGrpSpPr>
                <a:grpSpLocks/>
              </p:cNvGrpSpPr>
              <p:nvPr/>
            </p:nvGrpSpPr>
            <p:grpSpPr bwMode="auto">
              <a:xfrm rot="10878381" flipV="1">
                <a:off x="4014" y="1933"/>
                <a:ext cx="544" cy="46"/>
                <a:chOff x="3518" y="1478"/>
                <a:chExt cx="499" cy="0"/>
              </a:xfrm>
            </p:grpSpPr>
            <p:sp>
              <p:nvSpPr>
                <p:cNvPr id="21537" name="Line 33">
                  <a:extLst>
                    <a:ext uri="{FF2B5EF4-FFF2-40B4-BE49-F238E27FC236}">
                      <a16:creationId xmlns:a16="http://schemas.microsoft.com/office/drawing/2014/main" id="{DFEB5709-733C-4BC7-B359-17ABCD8EABF7}"/>
                    </a:ext>
                  </a:extLst>
                </p:cNvPr>
                <p:cNvSpPr>
                  <a:spLocks noChangeShapeType="1"/>
                </p:cNvSpPr>
                <p:nvPr/>
              </p:nvSpPr>
              <p:spPr bwMode="auto">
                <a:xfrm rot="5400000" flipV="1">
                  <a:off x="3700" y="1296"/>
                  <a:ext cx="0" cy="363"/>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sp>
              <p:nvSpPr>
                <p:cNvPr id="21538" name="Line 34">
                  <a:extLst>
                    <a:ext uri="{FF2B5EF4-FFF2-40B4-BE49-F238E27FC236}">
                      <a16:creationId xmlns:a16="http://schemas.microsoft.com/office/drawing/2014/main" id="{FDF6F9C6-B880-43FB-89FF-7C428D0FFB11}"/>
                    </a:ext>
                  </a:extLst>
                </p:cNvPr>
                <p:cNvSpPr>
                  <a:spLocks noChangeShapeType="1"/>
                </p:cNvSpPr>
                <p:nvPr/>
              </p:nvSpPr>
              <p:spPr bwMode="auto">
                <a:xfrm rot="5400000" flipV="1">
                  <a:off x="3927" y="1387"/>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lv-LV"/>
                </a:p>
              </p:txBody>
            </p:sp>
          </p:grpSp>
          <p:sp>
            <p:nvSpPr>
              <p:cNvPr id="21522" name="Text Box 35">
                <a:extLst>
                  <a:ext uri="{FF2B5EF4-FFF2-40B4-BE49-F238E27FC236}">
                    <a16:creationId xmlns:a16="http://schemas.microsoft.com/office/drawing/2014/main" id="{D0A17F22-34DA-4A9D-9613-BE6397A34D1B}"/>
                  </a:ext>
                </a:extLst>
              </p:cNvPr>
              <p:cNvSpPr txBox="1">
                <a:spLocks noChangeArrowheads="1"/>
              </p:cNvSpPr>
              <p:nvPr/>
            </p:nvSpPr>
            <p:spPr bwMode="auto">
              <a:xfrm>
                <a:off x="3334" y="138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2</a:t>
                </a:r>
                <a:endParaRPr lang="en-US" altLang="lv-LV" sz="1200" b="1">
                  <a:solidFill>
                    <a:schemeClr val="accent2"/>
                  </a:solidFill>
                </a:endParaRPr>
              </a:p>
            </p:txBody>
          </p:sp>
          <p:sp>
            <p:nvSpPr>
              <p:cNvPr id="21523" name="Text Box 36">
                <a:extLst>
                  <a:ext uri="{FF2B5EF4-FFF2-40B4-BE49-F238E27FC236}">
                    <a16:creationId xmlns:a16="http://schemas.microsoft.com/office/drawing/2014/main" id="{6F539B1A-A251-4B1A-8A6E-803D87078EBC}"/>
                  </a:ext>
                </a:extLst>
              </p:cNvPr>
              <p:cNvSpPr txBox="1">
                <a:spLocks noChangeArrowheads="1"/>
              </p:cNvSpPr>
              <p:nvPr/>
            </p:nvSpPr>
            <p:spPr bwMode="auto">
              <a:xfrm>
                <a:off x="3969" y="1298"/>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3</a:t>
                </a:r>
                <a:endParaRPr lang="en-US" altLang="lv-LV" sz="1200" b="1">
                  <a:solidFill>
                    <a:schemeClr val="accent2"/>
                  </a:solidFill>
                </a:endParaRPr>
              </a:p>
            </p:txBody>
          </p:sp>
          <p:sp>
            <p:nvSpPr>
              <p:cNvPr id="21524" name="Text Box 37">
                <a:extLst>
                  <a:ext uri="{FF2B5EF4-FFF2-40B4-BE49-F238E27FC236}">
                    <a16:creationId xmlns:a16="http://schemas.microsoft.com/office/drawing/2014/main" id="{0A708B7B-61F7-45D9-87C1-D11A69595016}"/>
                  </a:ext>
                </a:extLst>
              </p:cNvPr>
              <p:cNvSpPr txBox="1">
                <a:spLocks noChangeArrowheads="1"/>
              </p:cNvSpPr>
              <p:nvPr/>
            </p:nvSpPr>
            <p:spPr bwMode="auto">
              <a:xfrm>
                <a:off x="4014" y="1797"/>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4</a:t>
                </a:r>
                <a:endParaRPr lang="en-US" altLang="lv-LV" sz="1200" b="1">
                  <a:solidFill>
                    <a:schemeClr val="accent2"/>
                  </a:solidFill>
                </a:endParaRPr>
              </a:p>
            </p:txBody>
          </p:sp>
          <p:sp>
            <p:nvSpPr>
              <p:cNvPr id="21525" name="Text Box 38">
                <a:extLst>
                  <a:ext uri="{FF2B5EF4-FFF2-40B4-BE49-F238E27FC236}">
                    <a16:creationId xmlns:a16="http://schemas.microsoft.com/office/drawing/2014/main" id="{86A5D911-7A84-4A49-9CA0-C93744006079}"/>
                  </a:ext>
                </a:extLst>
              </p:cNvPr>
              <p:cNvSpPr txBox="1">
                <a:spLocks noChangeArrowheads="1"/>
              </p:cNvSpPr>
              <p:nvPr/>
            </p:nvSpPr>
            <p:spPr bwMode="auto">
              <a:xfrm>
                <a:off x="4558" y="1842"/>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5</a:t>
                </a:r>
                <a:endParaRPr lang="en-US" altLang="lv-LV" sz="1200" b="1">
                  <a:solidFill>
                    <a:schemeClr val="accent2"/>
                  </a:solidFill>
                </a:endParaRPr>
              </a:p>
            </p:txBody>
          </p:sp>
          <p:sp>
            <p:nvSpPr>
              <p:cNvPr id="21526" name="Text Box 39">
                <a:extLst>
                  <a:ext uri="{FF2B5EF4-FFF2-40B4-BE49-F238E27FC236}">
                    <a16:creationId xmlns:a16="http://schemas.microsoft.com/office/drawing/2014/main" id="{915BBBED-ADBC-484A-BAC7-B65B948E259F}"/>
                  </a:ext>
                </a:extLst>
              </p:cNvPr>
              <p:cNvSpPr txBox="1">
                <a:spLocks noChangeArrowheads="1"/>
              </p:cNvSpPr>
              <p:nvPr/>
            </p:nvSpPr>
            <p:spPr bwMode="auto">
              <a:xfrm>
                <a:off x="4558" y="138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solidFill>
                      <a:schemeClr val="accent2"/>
                    </a:solidFill>
                  </a:rPr>
                  <a:t>6</a:t>
                </a:r>
                <a:endParaRPr lang="en-US" altLang="lv-LV" sz="1200" b="1">
                  <a:solidFill>
                    <a:schemeClr val="accent2"/>
                  </a:solidFill>
                </a:endParaRPr>
              </a:p>
            </p:txBody>
          </p:sp>
          <p:sp>
            <p:nvSpPr>
              <p:cNvPr id="21527" name="Text Box 40">
                <a:extLst>
                  <a:ext uri="{FF2B5EF4-FFF2-40B4-BE49-F238E27FC236}">
                    <a16:creationId xmlns:a16="http://schemas.microsoft.com/office/drawing/2014/main" id="{2BB0A2D4-5E34-488F-A961-C690BED8869A}"/>
                  </a:ext>
                </a:extLst>
              </p:cNvPr>
              <p:cNvSpPr txBox="1">
                <a:spLocks noChangeArrowheads="1"/>
              </p:cNvSpPr>
              <p:nvPr/>
            </p:nvSpPr>
            <p:spPr bwMode="auto">
              <a:xfrm>
                <a:off x="3379" y="1706"/>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1</a:t>
                </a:r>
                <a:endParaRPr lang="en-US" altLang="lv-LV" sz="1200" b="1"/>
              </a:p>
            </p:txBody>
          </p:sp>
          <p:sp>
            <p:nvSpPr>
              <p:cNvPr id="21528" name="Text Box 41">
                <a:extLst>
                  <a:ext uri="{FF2B5EF4-FFF2-40B4-BE49-F238E27FC236}">
                    <a16:creationId xmlns:a16="http://schemas.microsoft.com/office/drawing/2014/main" id="{7EE7A54A-8D1E-465F-BD8B-54078B184A0F}"/>
                  </a:ext>
                </a:extLst>
              </p:cNvPr>
              <p:cNvSpPr txBox="1">
                <a:spLocks noChangeArrowheads="1"/>
              </p:cNvSpPr>
              <p:nvPr/>
            </p:nvSpPr>
            <p:spPr bwMode="auto">
              <a:xfrm>
                <a:off x="3742" y="1480"/>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5</a:t>
                </a:r>
                <a:endParaRPr lang="en-US" altLang="lv-LV" sz="1200" b="1"/>
              </a:p>
            </p:txBody>
          </p:sp>
          <p:sp>
            <p:nvSpPr>
              <p:cNvPr id="21529" name="Text Box 42">
                <a:extLst>
                  <a:ext uri="{FF2B5EF4-FFF2-40B4-BE49-F238E27FC236}">
                    <a16:creationId xmlns:a16="http://schemas.microsoft.com/office/drawing/2014/main" id="{43BD2C59-0559-44DB-9FB0-0E855847157E}"/>
                  </a:ext>
                </a:extLst>
              </p:cNvPr>
              <p:cNvSpPr txBox="1">
                <a:spLocks noChangeArrowheads="1"/>
              </p:cNvSpPr>
              <p:nvPr/>
            </p:nvSpPr>
            <p:spPr bwMode="auto">
              <a:xfrm>
                <a:off x="3651" y="1661"/>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2</a:t>
                </a:r>
                <a:endParaRPr lang="en-US" altLang="lv-LV" sz="1200" b="1"/>
              </a:p>
            </p:txBody>
          </p:sp>
          <p:sp>
            <p:nvSpPr>
              <p:cNvPr id="21530" name="Text Box 43">
                <a:extLst>
                  <a:ext uri="{FF2B5EF4-FFF2-40B4-BE49-F238E27FC236}">
                    <a16:creationId xmlns:a16="http://schemas.microsoft.com/office/drawing/2014/main" id="{38E0D098-2392-4969-822D-885ECBE1DFB4}"/>
                  </a:ext>
                </a:extLst>
              </p:cNvPr>
              <p:cNvSpPr txBox="1">
                <a:spLocks noChangeArrowheads="1"/>
              </p:cNvSpPr>
              <p:nvPr/>
            </p:nvSpPr>
            <p:spPr bwMode="auto">
              <a:xfrm>
                <a:off x="3651" y="1979"/>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2</a:t>
                </a:r>
                <a:endParaRPr lang="en-US" altLang="lv-LV" sz="1200" b="1"/>
              </a:p>
            </p:txBody>
          </p:sp>
          <p:sp>
            <p:nvSpPr>
              <p:cNvPr id="21531" name="Text Box 44">
                <a:extLst>
                  <a:ext uri="{FF2B5EF4-FFF2-40B4-BE49-F238E27FC236}">
                    <a16:creationId xmlns:a16="http://schemas.microsoft.com/office/drawing/2014/main" id="{59E38B02-4BD0-411B-9107-8B63C7A1D032}"/>
                  </a:ext>
                </a:extLst>
              </p:cNvPr>
              <p:cNvSpPr txBox="1">
                <a:spLocks noChangeArrowheads="1"/>
              </p:cNvSpPr>
              <p:nvPr/>
            </p:nvSpPr>
            <p:spPr bwMode="auto">
              <a:xfrm>
                <a:off x="4059" y="1616"/>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1</a:t>
                </a:r>
                <a:endParaRPr lang="en-US" altLang="lv-LV" sz="1200" b="1"/>
              </a:p>
            </p:txBody>
          </p:sp>
          <p:sp>
            <p:nvSpPr>
              <p:cNvPr id="21532" name="Text Box 45">
                <a:extLst>
                  <a:ext uri="{FF2B5EF4-FFF2-40B4-BE49-F238E27FC236}">
                    <a16:creationId xmlns:a16="http://schemas.microsoft.com/office/drawing/2014/main" id="{994EBDBC-977D-461D-9EB2-3891CB0BE818}"/>
                  </a:ext>
                </a:extLst>
              </p:cNvPr>
              <p:cNvSpPr txBox="1">
                <a:spLocks noChangeArrowheads="1"/>
              </p:cNvSpPr>
              <p:nvPr/>
            </p:nvSpPr>
            <p:spPr bwMode="auto">
              <a:xfrm>
                <a:off x="4241" y="2115"/>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4</a:t>
                </a:r>
                <a:endParaRPr lang="en-US" altLang="lv-LV" sz="1200" b="1"/>
              </a:p>
            </p:txBody>
          </p:sp>
          <p:sp>
            <p:nvSpPr>
              <p:cNvPr id="21533" name="Text Box 46">
                <a:extLst>
                  <a:ext uri="{FF2B5EF4-FFF2-40B4-BE49-F238E27FC236}">
                    <a16:creationId xmlns:a16="http://schemas.microsoft.com/office/drawing/2014/main" id="{8A5DC5CE-78A9-43CC-A9F8-ACF5058278EF}"/>
                  </a:ext>
                </a:extLst>
              </p:cNvPr>
              <p:cNvSpPr txBox="1">
                <a:spLocks noChangeArrowheads="1"/>
              </p:cNvSpPr>
              <p:nvPr/>
            </p:nvSpPr>
            <p:spPr bwMode="auto">
              <a:xfrm>
                <a:off x="4241" y="1842"/>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3</a:t>
                </a:r>
                <a:endParaRPr lang="en-US" altLang="lv-LV" sz="1200" b="1"/>
              </a:p>
            </p:txBody>
          </p:sp>
          <p:sp>
            <p:nvSpPr>
              <p:cNvPr id="21534" name="Text Box 47">
                <a:extLst>
                  <a:ext uri="{FF2B5EF4-FFF2-40B4-BE49-F238E27FC236}">
                    <a16:creationId xmlns:a16="http://schemas.microsoft.com/office/drawing/2014/main" id="{F5A04CAC-9D90-4F05-82BD-E81713551CB2}"/>
                  </a:ext>
                </a:extLst>
              </p:cNvPr>
              <p:cNvSpPr txBox="1">
                <a:spLocks noChangeArrowheads="1"/>
              </p:cNvSpPr>
              <p:nvPr/>
            </p:nvSpPr>
            <p:spPr bwMode="auto">
              <a:xfrm>
                <a:off x="4558" y="1616"/>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1</a:t>
                </a:r>
                <a:endParaRPr lang="en-US" altLang="lv-LV" sz="1200" b="1"/>
              </a:p>
            </p:txBody>
          </p:sp>
          <p:sp>
            <p:nvSpPr>
              <p:cNvPr id="21535" name="Text Box 48">
                <a:extLst>
                  <a:ext uri="{FF2B5EF4-FFF2-40B4-BE49-F238E27FC236}">
                    <a16:creationId xmlns:a16="http://schemas.microsoft.com/office/drawing/2014/main" id="{E5E939D1-F869-460D-A354-7BE38E45900D}"/>
                  </a:ext>
                </a:extLst>
              </p:cNvPr>
              <p:cNvSpPr txBox="1">
                <a:spLocks noChangeArrowheads="1"/>
              </p:cNvSpPr>
              <p:nvPr/>
            </p:nvSpPr>
            <p:spPr bwMode="auto">
              <a:xfrm>
                <a:off x="4241" y="1480"/>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1</a:t>
                </a:r>
                <a:endParaRPr lang="en-US" altLang="lv-LV" sz="1200" b="1"/>
              </a:p>
            </p:txBody>
          </p:sp>
          <p:sp>
            <p:nvSpPr>
              <p:cNvPr id="21536" name="Text Box 49">
                <a:extLst>
                  <a:ext uri="{FF2B5EF4-FFF2-40B4-BE49-F238E27FC236}">
                    <a16:creationId xmlns:a16="http://schemas.microsoft.com/office/drawing/2014/main" id="{D16A2F6A-F070-4022-9E93-77BF16CFDB02}"/>
                  </a:ext>
                </a:extLst>
              </p:cNvPr>
              <p:cNvSpPr txBox="1">
                <a:spLocks noChangeArrowheads="1"/>
              </p:cNvSpPr>
              <p:nvPr/>
            </p:nvSpPr>
            <p:spPr bwMode="auto">
              <a:xfrm>
                <a:off x="4105" y="1162"/>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lv-LV" altLang="lv-LV" sz="1200" b="1"/>
                  <a:t>7</a:t>
                </a:r>
                <a:endParaRPr lang="en-US" altLang="lv-LV" sz="1200" b="1"/>
              </a:p>
            </p:txBody>
          </p:sp>
        </p:grpSp>
      </p:grpSp>
      <p:pic>
        <p:nvPicPr>
          <p:cNvPr id="21509" name="Picture 50">
            <a:extLst>
              <a:ext uri="{FF2B5EF4-FFF2-40B4-BE49-F238E27FC236}">
                <a16:creationId xmlns:a16="http://schemas.microsoft.com/office/drawing/2014/main" id="{5F060364-CFBB-4EC3-8964-643E86A8B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3500438"/>
            <a:ext cx="2736850"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52">
            <a:extLst>
              <a:ext uri="{FF2B5EF4-FFF2-40B4-BE49-F238E27FC236}">
                <a16:creationId xmlns:a16="http://schemas.microsoft.com/office/drawing/2014/main" id="{0AA34E16-2648-4FA9-AEFF-E67C28AA3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5667375"/>
            <a:ext cx="31877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8965BF6-D726-494D-AB79-F269549081ED}"/>
              </a:ext>
            </a:extLst>
          </p:cNvPr>
          <p:cNvSpPr>
            <a:spLocks noGrp="1" noChangeArrowheads="1"/>
          </p:cNvSpPr>
          <p:nvPr>
            <p:ph type="title"/>
          </p:nvPr>
        </p:nvSpPr>
        <p:spPr/>
        <p:txBody>
          <a:bodyPr/>
          <a:lstStyle/>
          <a:p>
            <a:pPr eaLnBrk="1" hangingPunct="1"/>
            <a:r>
              <a:rPr lang="lv-LV" altLang="lv-LV" sz="4000"/>
              <a:t>Dijkstras un </a:t>
            </a:r>
            <a:r>
              <a:rPr lang="lv-LV" altLang="lv-LV" sz="3200"/>
              <a:t>Forda-Bellmana algoritmu salīdzinājums</a:t>
            </a:r>
            <a:endParaRPr lang="en-US" altLang="lv-LV" sz="3200"/>
          </a:p>
        </p:txBody>
      </p:sp>
      <p:sp>
        <p:nvSpPr>
          <p:cNvPr id="22531" name="Rectangle 3">
            <a:extLst>
              <a:ext uri="{FF2B5EF4-FFF2-40B4-BE49-F238E27FC236}">
                <a16:creationId xmlns:a16="http://schemas.microsoft.com/office/drawing/2014/main" id="{730955BB-4E0A-4CF5-8C7B-03EC71248E64}"/>
              </a:ext>
            </a:extLst>
          </p:cNvPr>
          <p:cNvSpPr>
            <a:spLocks noGrp="1" noChangeArrowheads="1"/>
          </p:cNvSpPr>
          <p:nvPr>
            <p:ph type="body" idx="1"/>
          </p:nvPr>
        </p:nvSpPr>
        <p:spPr/>
        <p:txBody>
          <a:bodyPr/>
          <a:lstStyle/>
          <a:p>
            <a:pPr eaLnBrk="1" hangingPunct="1"/>
            <a:r>
              <a:rPr lang="lv-LV" altLang="lv-LV" sz="2400"/>
              <a:t>Forda-Bellmana ātrdarbība O(n</a:t>
            </a:r>
            <a:r>
              <a:rPr lang="lv-LV" altLang="lv-LV" sz="2400" baseline="30000"/>
              <a:t>3</a:t>
            </a:r>
            <a:r>
              <a:rPr lang="lv-LV" altLang="lv-LV" sz="2400"/>
              <a:t>), bet der arī grafiem ar negatīviem svariem</a:t>
            </a:r>
          </a:p>
          <a:p>
            <a:pPr eaLnBrk="1" hangingPunct="1"/>
            <a:r>
              <a:rPr lang="lv-LV" altLang="lv-LV" sz="2400"/>
              <a:t>Dijkstras ātrdarbība atkarīga no tā, kā realizē virsotņu kopu T</a:t>
            </a:r>
          </a:p>
          <a:p>
            <a:pPr lvl="1" eaLnBrk="1" hangingPunct="1"/>
            <a:r>
              <a:rPr lang="lv-LV" altLang="lv-LV" sz="2000"/>
              <a:t>Masīvā O(n</a:t>
            </a:r>
            <a:r>
              <a:rPr lang="lv-LV" altLang="lv-LV" sz="2000" baseline="30000"/>
              <a:t>2</a:t>
            </a:r>
            <a:r>
              <a:rPr lang="lv-LV" altLang="lv-LV" sz="2000"/>
              <a:t>)</a:t>
            </a:r>
          </a:p>
          <a:p>
            <a:pPr lvl="1" eaLnBrk="1" hangingPunct="1"/>
            <a:r>
              <a:rPr lang="lv-LV" altLang="lv-LV" sz="2000"/>
              <a:t>Kokā O(m*log(n))</a:t>
            </a:r>
          </a:p>
          <a:p>
            <a:pPr eaLnBrk="1" hangingPunct="1"/>
            <a:endParaRPr lang="en-US" altLang="lv-LV"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8258400-4D20-466B-9110-BD294DC2A1D3}"/>
              </a:ext>
            </a:extLst>
          </p:cNvPr>
          <p:cNvSpPr>
            <a:spLocks noGrp="1" noChangeArrowheads="1"/>
          </p:cNvSpPr>
          <p:nvPr>
            <p:ph type="title"/>
          </p:nvPr>
        </p:nvSpPr>
        <p:spPr/>
        <p:txBody>
          <a:bodyPr/>
          <a:lstStyle/>
          <a:p>
            <a:pPr eaLnBrk="1" hangingPunct="1"/>
            <a:r>
              <a:rPr lang="lv-LV" altLang="lv-LV"/>
              <a:t>Saites</a:t>
            </a:r>
            <a:endParaRPr lang="en-US" altLang="lv-LV"/>
          </a:p>
        </p:txBody>
      </p:sp>
      <p:sp>
        <p:nvSpPr>
          <p:cNvPr id="23555" name="Rectangle 3">
            <a:extLst>
              <a:ext uri="{FF2B5EF4-FFF2-40B4-BE49-F238E27FC236}">
                <a16:creationId xmlns:a16="http://schemas.microsoft.com/office/drawing/2014/main" id="{07258235-BCFC-4FCC-99CD-4CD50B103870}"/>
              </a:ext>
            </a:extLst>
          </p:cNvPr>
          <p:cNvSpPr>
            <a:spLocks noGrp="1" noChangeArrowheads="1"/>
          </p:cNvSpPr>
          <p:nvPr>
            <p:ph type="body" idx="1"/>
          </p:nvPr>
        </p:nvSpPr>
        <p:spPr/>
        <p:txBody>
          <a:bodyPr/>
          <a:lstStyle/>
          <a:p>
            <a:pPr eaLnBrk="1" hangingPunct="1"/>
            <a:r>
              <a:rPr lang="en-US" altLang="lv-LV">
                <a:hlinkClick r:id="rId2"/>
              </a:rPr>
              <a:t>http://www.de.dau.lv/matematika/daugulis/du_13_2005.pdf</a:t>
            </a:r>
            <a:endParaRPr lang="lv-LV" altLang="lv-LV"/>
          </a:p>
          <a:p>
            <a:pPr eaLnBrk="1" hangingPunct="1"/>
            <a:r>
              <a:rPr lang="en-US" altLang="lv-LV">
                <a:hlinkClick r:id="rId3"/>
              </a:rPr>
              <a:t>http://en.wikipedia.org/wiki/Dijkstra's_algorithm</a:t>
            </a:r>
            <a:endParaRPr lang="lv-LV" altLang="lv-LV"/>
          </a:p>
          <a:p>
            <a:pPr eaLnBrk="1" hangingPunct="1"/>
            <a:endParaRPr lang="en-US" altLang="lv-LV"/>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s" ma:contentTypeID="0x010100AB94DD966335104E85DDD614245D9BDE" ma:contentTypeVersion="4" ma:contentTypeDescription="Izveidot jaunu dokumentu." ma:contentTypeScope="" ma:versionID="a82a5c3d5f7229bc0f53284f652138a5">
  <xsd:schema xmlns:xsd="http://www.w3.org/2001/XMLSchema" xmlns:xs="http://www.w3.org/2001/XMLSchema" xmlns:p="http://schemas.microsoft.com/office/2006/metadata/properties" xmlns:ns2="c6bf8b7d-d664-4f50-9265-160caa87a073" targetNamespace="http://schemas.microsoft.com/office/2006/metadata/properties" ma:root="true" ma:fieldsID="68dbfc42020743a06fe541ea2a3ad740" ns2:_="">
    <xsd:import namespace="c6bf8b7d-d664-4f50-9265-160caa87a07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bf8b7d-d664-4f50-9265-160caa87a0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atura tips"/>
        <xsd:element ref="dc:title" minOccurs="0" maxOccurs="1" ma:index="4" ma:displayName="Virsrakst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1AA96C-AE0F-4C51-A570-659C2E5DBC89}">
  <ds:schemaRefs>
    <ds:schemaRef ds:uri="http://schemas.microsoft.com/office/2006/metadata/properties"/>
    <ds:schemaRef ds:uri="http://schemas.microsoft.com/office/infopath/2007/PartnerControls"/>
    <ds:schemaRef ds:uri="90bf5766-b96a-4049-9c16-f7558f9671cb"/>
    <ds:schemaRef ds:uri="e506e0b3-2c28-4f52-bf66-8c6be51b0d1d"/>
  </ds:schemaRefs>
</ds:datastoreItem>
</file>

<file path=customXml/itemProps2.xml><?xml version="1.0" encoding="utf-8"?>
<ds:datastoreItem xmlns:ds="http://schemas.openxmlformats.org/officeDocument/2006/customXml" ds:itemID="{41F935A9-2014-4D17-8D10-A22E98F93919}">
  <ds:schemaRefs>
    <ds:schemaRef ds:uri="http://schemas.microsoft.com/sharepoint/v3/contenttype/forms"/>
  </ds:schemaRefs>
</ds:datastoreItem>
</file>

<file path=customXml/itemProps3.xml><?xml version="1.0" encoding="utf-8"?>
<ds:datastoreItem xmlns:ds="http://schemas.openxmlformats.org/officeDocument/2006/customXml" ds:itemID="{490944C8-F484-4952-9CC6-E75F7DD2E7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bf8b7d-d664-4f50-9265-160caa87a0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1411</TotalTime>
  <Words>2322</Words>
  <Application>Microsoft Office PowerPoint</Application>
  <PresentationFormat>On-screen Show (4:3)</PresentationFormat>
  <Paragraphs>323</Paragraphs>
  <Slides>28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Consolas</vt:lpstr>
      <vt:lpstr>Tahoma</vt:lpstr>
      <vt:lpstr>Default Design</vt:lpstr>
      <vt:lpstr>Sasniedzamie rezultāti</vt:lpstr>
      <vt:lpstr>Grafs un tā elementi</vt:lpstr>
      <vt:lpstr>Grafu veidi</vt:lpstr>
      <vt:lpstr>Grafu pielietojums</vt:lpstr>
      <vt:lpstr>Grafa uzdošana (datu struktūras)</vt:lpstr>
      <vt:lpstr>Projekts Labirints – 1. uzdevums</vt:lpstr>
      <vt:lpstr>Labirinta apraksts labirints.txt</vt:lpstr>
      <vt:lpstr>Kā noteikt rūtiņas rindu un kolonnu?</vt:lpstr>
      <vt:lpstr>Kā noteikt kuru līniju dzēst?</vt:lpstr>
      <vt:lpstr>Kaimiņu saraksts labirintam</vt:lpstr>
      <vt:lpstr>Labirinta kaimiņu saraksta izdruka 2 veidos – izmēģināt to metodi, kas labāk patīk</vt:lpstr>
      <vt:lpstr>Grafa visu virsotņu apmeklēšana jeb traversēšana</vt:lpstr>
      <vt:lpstr>DFS algoritms (ar rekursiju)</vt:lpstr>
      <vt:lpstr>DFS algoritms (ar steku)</vt:lpstr>
      <vt:lpstr>BFS algoritms</vt:lpstr>
      <vt:lpstr>DFS un BFS salīdzinājums</vt:lpstr>
      <vt:lpstr>Vingrinājums</vt:lpstr>
      <vt:lpstr>Ceļa atrašana grafā no vs uz ve</vt:lpstr>
      <vt:lpstr>Piemērs - ceļa meklēšana no 3(2). uz 4(3). rūtiņu</vt:lpstr>
      <vt:lpstr>Vingrinājums</vt:lpstr>
      <vt:lpstr>Projekts Labirints – 2. uzdevums</vt:lpstr>
      <vt:lpstr>Izejama labirinta ģenerēšana - Kraskāla algoritms.</vt:lpstr>
      <vt:lpstr>Kā izvēlēties gadījuma sienu</vt:lpstr>
      <vt:lpstr>Īsākā ceļa atrašana svērtā grafā </vt:lpstr>
      <vt:lpstr>Īsākā ceļa atrašana grafā no virsotnes s - Forda-Bellmana algoritms</vt:lpstr>
      <vt:lpstr>Īsākā ceļa atrašana grafā no virsotnes s – Dijkstras algoritms</vt:lpstr>
      <vt:lpstr>Dijkstras un Forda-Bellmana algoritmu salīdzinājums</vt:lpstr>
      <vt:lpstr>Saites</vt:lpstr>
    </vt:vector>
  </TitlesOfParts>
  <Company>maja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Grafu teorijas algoritmi</dc:title>
  <dc:creator>aija</dc:creator>
  <cp:lastModifiedBy>Aija Lūse</cp:lastModifiedBy>
  <cp:revision>81</cp:revision>
  <dcterms:created xsi:type="dcterms:W3CDTF">2010-12-13T08:09:06Z</dcterms:created>
  <dcterms:modified xsi:type="dcterms:W3CDTF">2026-02-10T09:01:31Z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0x010100AB94DD966335104E85DDD614245D9BDE</vt:lpwstr>
  </property>
</Properties>
</file>